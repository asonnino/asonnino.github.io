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3" r:id="rId5"/>
  </p:sldMasterIdLst>
  <p:notesMasterIdLst>
    <p:notesMasterId r:id="rId30"/>
  </p:notesMasterIdLst>
  <p:sldIdLst>
    <p:sldId id="298" r:id="rId6"/>
    <p:sldId id="299" r:id="rId7"/>
    <p:sldId id="263" r:id="rId8"/>
    <p:sldId id="265" r:id="rId9"/>
    <p:sldId id="271" r:id="rId10"/>
    <p:sldId id="266" r:id="rId11"/>
    <p:sldId id="268" r:id="rId12"/>
    <p:sldId id="297" r:id="rId13"/>
    <p:sldId id="284" r:id="rId14"/>
    <p:sldId id="285" r:id="rId15"/>
    <p:sldId id="286" r:id="rId16"/>
    <p:sldId id="287" r:id="rId17"/>
    <p:sldId id="288" r:id="rId18"/>
    <p:sldId id="289" r:id="rId19"/>
    <p:sldId id="290" r:id="rId20"/>
    <p:sldId id="260" r:id="rId21"/>
    <p:sldId id="291" r:id="rId22"/>
    <p:sldId id="292" r:id="rId23"/>
    <p:sldId id="293" r:id="rId24"/>
    <p:sldId id="276" r:id="rId25"/>
    <p:sldId id="282" r:id="rId26"/>
    <p:sldId id="283" r:id="rId27"/>
    <p:sldId id="295" r:id="rId28"/>
    <p:sldId id="296" r:id="rId29"/>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1FA"/>
    <a:srgbClr val="1E3A5F"/>
    <a:srgbClr val="0369A1"/>
    <a:srgbClr val="0EA5E9"/>
    <a:srgbClr val="22D3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A38A74-73A8-4D01-ABD8-662A49F3CBE3}" v="63" dt="2026-06-16T07:12:19.1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631" autoAdjust="0"/>
    <p:restoredTop sz="95428" autoAdjust="0"/>
  </p:normalViewPr>
  <p:slideViewPr>
    <p:cSldViewPr snapToGrid="0">
      <p:cViewPr varScale="1">
        <p:scale>
          <a:sx n="78" d="100"/>
          <a:sy n="78" d="100"/>
        </p:scale>
        <p:origin x="45" y="24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16 B</c:v>
                </c:pt>
              </c:strCache>
            </c:strRef>
          </c:tx>
          <c:spPr>
            <a:solidFill>
              <a:srgbClr val="22D3EE"/>
            </a:solidFill>
            <a:effectLst/>
          </c:spPr>
          <c:invertIfNegative val="0"/>
          <c:cat>
            <c:strRef>
              <c:f>Sheet1!$A$2:$A$6</c:f>
              <c:strCache>
                <c:ptCount val="5"/>
                <c:pt idx="0">
                  <c:v>1 core</c:v>
                </c:pt>
                <c:pt idx="1">
                  <c:v>2 cores</c:v>
                </c:pt>
                <c:pt idx="2">
                  <c:v>4 cores</c:v>
                </c:pt>
                <c:pt idx="3">
                  <c:v>8 cores</c:v>
                </c:pt>
                <c:pt idx="4">
                  <c:v>16 cores</c:v>
                </c:pt>
              </c:strCache>
            </c:strRef>
          </c:cat>
          <c:val>
            <c:numRef>
              <c:f>Sheet1!$B$2:$B$6</c:f>
              <c:numCache>
                <c:formatCode>General</c:formatCode>
                <c:ptCount val="5"/>
                <c:pt idx="0">
                  <c:v>1.6140000000000001</c:v>
                </c:pt>
                <c:pt idx="1">
                  <c:v>3.0720000000000001</c:v>
                </c:pt>
                <c:pt idx="2">
                  <c:v>5.66</c:v>
                </c:pt>
                <c:pt idx="3">
                  <c:v>9.9350000000000005</c:v>
                </c:pt>
                <c:pt idx="4">
                  <c:v>17.446000000000002</c:v>
                </c:pt>
              </c:numCache>
            </c:numRef>
          </c:val>
          <c:extLst>
            <c:ext xmlns:c16="http://schemas.microsoft.com/office/drawing/2014/chart" uri="{C3380CC4-5D6E-409C-BE32-E72D297353CC}">
              <c16:uniqueId val="{00000000-6F57-4185-9BC4-53425177E869}"/>
            </c:ext>
          </c:extLst>
        </c:ser>
        <c:ser>
          <c:idx val="1"/>
          <c:order val="1"/>
          <c:tx>
            <c:strRef>
              <c:f>Sheet1!$C$1</c:f>
              <c:strCache>
                <c:ptCount val="1"/>
                <c:pt idx="0">
                  <c:v>100 B</c:v>
                </c:pt>
              </c:strCache>
            </c:strRef>
          </c:tx>
          <c:spPr>
            <a:solidFill>
              <a:srgbClr val="0EA5E9"/>
            </a:solidFill>
            <a:effectLst/>
          </c:spPr>
          <c:invertIfNegative val="0"/>
          <c:cat>
            <c:strRef>
              <c:f>Sheet1!$A$2:$A$6</c:f>
              <c:strCache>
                <c:ptCount val="5"/>
                <c:pt idx="0">
                  <c:v>1 core</c:v>
                </c:pt>
                <c:pt idx="1">
                  <c:v>2 cores</c:v>
                </c:pt>
                <c:pt idx="2">
                  <c:v>4 cores</c:v>
                </c:pt>
                <c:pt idx="3">
                  <c:v>8 cores</c:v>
                </c:pt>
                <c:pt idx="4">
                  <c:v>16 cores</c:v>
                </c:pt>
              </c:strCache>
            </c:strRef>
          </c:cat>
          <c:val>
            <c:numRef>
              <c:f>Sheet1!$C$2:$C$6</c:f>
              <c:numCache>
                <c:formatCode>General</c:formatCode>
                <c:ptCount val="5"/>
                <c:pt idx="0">
                  <c:v>1.048</c:v>
                </c:pt>
                <c:pt idx="1">
                  <c:v>1.992</c:v>
                </c:pt>
                <c:pt idx="2">
                  <c:v>3.6739999999999999</c:v>
                </c:pt>
                <c:pt idx="3">
                  <c:v>6.5119999999999996</c:v>
                </c:pt>
                <c:pt idx="4">
                  <c:v>12.257999999999999</c:v>
                </c:pt>
              </c:numCache>
            </c:numRef>
          </c:val>
          <c:extLst>
            <c:ext xmlns:c16="http://schemas.microsoft.com/office/drawing/2014/chart" uri="{C3380CC4-5D6E-409C-BE32-E72D297353CC}">
              <c16:uniqueId val="{00000001-6F57-4185-9BC4-53425177E869}"/>
            </c:ext>
          </c:extLst>
        </c:ser>
        <c:ser>
          <c:idx val="2"/>
          <c:order val="2"/>
          <c:tx>
            <c:strRef>
              <c:f>Sheet1!$D$1</c:f>
              <c:strCache>
                <c:ptCount val="1"/>
                <c:pt idx="0">
                  <c:v>200 B</c:v>
                </c:pt>
              </c:strCache>
            </c:strRef>
          </c:tx>
          <c:spPr>
            <a:solidFill>
              <a:srgbClr val="0369A1"/>
            </a:solidFill>
            <a:effectLst/>
          </c:spPr>
          <c:invertIfNegative val="0"/>
          <c:cat>
            <c:strRef>
              <c:f>Sheet1!$A$2:$A$6</c:f>
              <c:strCache>
                <c:ptCount val="5"/>
                <c:pt idx="0">
                  <c:v>1 core</c:v>
                </c:pt>
                <c:pt idx="1">
                  <c:v>2 cores</c:v>
                </c:pt>
                <c:pt idx="2">
                  <c:v>4 cores</c:v>
                </c:pt>
                <c:pt idx="3">
                  <c:v>8 cores</c:v>
                </c:pt>
                <c:pt idx="4">
                  <c:v>16 cores</c:v>
                </c:pt>
              </c:strCache>
            </c:strRef>
          </c:cat>
          <c:val>
            <c:numRef>
              <c:f>Sheet1!$D$2:$D$6</c:f>
              <c:numCache>
                <c:formatCode>General</c:formatCode>
                <c:ptCount val="5"/>
                <c:pt idx="0">
                  <c:v>0.88800000000000001</c:v>
                </c:pt>
                <c:pt idx="1">
                  <c:v>1.6930000000000001</c:v>
                </c:pt>
                <c:pt idx="2">
                  <c:v>3.117</c:v>
                </c:pt>
                <c:pt idx="3">
                  <c:v>5.6710000000000003</c:v>
                </c:pt>
                <c:pt idx="4">
                  <c:v>10.654999999999999</c:v>
                </c:pt>
              </c:numCache>
            </c:numRef>
          </c:val>
          <c:extLst>
            <c:ext xmlns:c16="http://schemas.microsoft.com/office/drawing/2014/chart" uri="{C3380CC4-5D6E-409C-BE32-E72D297353CC}">
              <c16:uniqueId val="{00000002-6F57-4185-9BC4-53425177E869}"/>
            </c:ext>
          </c:extLst>
        </c:ser>
        <c:ser>
          <c:idx val="3"/>
          <c:order val="3"/>
          <c:tx>
            <c:strRef>
              <c:f>Sheet1!$E$1</c:f>
              <c:strCache>
                <c:ptCount val="1"/>
                <c:pt idx="0">
                  <c:v>300 B</c:v>
                </c:pt>
              </c:strCache>
            </c:strRef>
          </c:tx>
          <c:spPr>
            <a:solidFill>
              <a:srgbClr val="1E3A5F"/>
            </a:solidFill>
            <a:effectLst/>
          </c:spPr>
          <c:invertIfNegative val="0"/>
          <c:cat>
            <c:strRef>
              <c:f>Sheet1!$A$2:$A$6</c:f>
              <c:strCache>
                <c:ptCount val="5"/>
                <c:pt idx="0">
                  <c:v>1 core</c:v>
                </c:pt>
                <c:pt idx="1">
                  <c:v>2 cores</c:v>
                </c:pt>
                <c:pt idx="2">
                  <c:v>4 cores</c:v>
                </c:pt>
                <c:pt idx="3">
                  <c:v>8 cores</c:v>
                </c:pt>
                <c:pt idx="4">
                  <c:v>16 cores</c:v>
                </c:pt>
              </c:strCache>
            </c:strRef>
          </c:cat>
          <c:val>
            <c:numRef>
              <c:f>Sheet1!$E$2:$E$6</c:f>
              <c:numCache>
                <c:formatCode>General</c:formatCode>
                <c:ptCount val="5"/>
                <c:pt idx="0">
                  <c:v>0.69499999999999995</c:v>
                </c:pt>
                <c:pt idx="1">
                  <c:v>1.32</c:v>
                </c:pt>
                <c:pt idx="2">
                  <c:v>2.4220000000000002</c:v>
                </c:pt>
                <c:pt idx="3">
                  <c:v>4.4269999999999996</c:v>
                </c:pt>
                <c:pt idx="4">
                  <c:v>8.4670000000000005</c:v>
                </c:pt>
              </c:numCache>
            </c:numRef>
          </c:val>
          <c:extLst>
            <c:ext xmlns:c16="http://schemas.microsoft.com/office/drawing/2014/chart" uri="{C3380CC4-5D6E-409C-BE32-E72D297353CC}">
              <c16:uniqueId val="{00000003-6F57-4185-9BC4-53425177E869}"/>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Calibri"/>
              </a:defRPr>
            </a:pPr>
            <a:endParaRPr lang="en-US"/>
          </a:p>
        </c:txPr>
        <c:crossAx val="2094734552"/>
        <c:crosses val="autoZero"/>
        <c:auto val="1"/>
        <c:lblAlgn val="ctr"/>
        <c:lblOffset val="100"/>
        <c:noMultiLvlLbl val="1"/>
      </c:catAx>
      <c:valAx>
        <c:axId val="2094734552"/>
        <c:scaling>
          <c:orientation val="minMax"/>
          <c:max val="20"/>
          <c:min val="0"/>
        </c:scaling>
        <c:delete val="0"/>
        <c:axPos val="l"/>
        <c:majorGridlines>
          <c:spPr>
            <a:ln w="9525" cap="flat">
              <a:solidFill>
                <a:srgbClr val="E2E8F0"/>
              </a:solidFill>
              <a:prstDash val="solid"/>
              <a:round/>
            </a:ln>
          </c:spPr>
        </c:majorGridlines>
        <c:title>
          <c:tx>
            <c:rich>
              <a:bodyPr/>
              <a:lstStyle/>
              <a:p>
                <a:pPr>
                  <a:defRPr sz="1200" b="0" i="0" u="none" strike="noStrike">
                    <a:solidFill>
                      <a:srgbClr val="334155"/>
                    </a:solidFill>
                    <a:latin typeface="Calibri"/>
                  </a:defRPr>
                </a:pPr>
                <a:r>
                  <a:rPr lang="en-US" sz="1200" b="0" i="0" u="none" strike="noStrike">
                    <a:solidFill>
                      <a:srgbClr val="334155"/>
                    </a:solidFill>
                    <a:latin typeface="Calibri"/>
                  </a:rPr>
                  <a:t>Performance [Mpps]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Calibri"/>
              </a:defRPr>
            </a:pPr>
            <a:endParaRPr lang="en-US"/>
          </a:p>
        </c:txPr>
        <c:crossAx val="2094734554"/>
        <c:crosses val="autoZero"/>
        <c:crossBetween val="between"/>
        <c:majorUnit val="5"/>
      </c:valAx>
      <c:spPr>
        <a:solidFill>
          <a:srgbClr val="FFFFFF"/>
        </a:solidFill>
        <a:ln>
          <a:noFill/>
        </a:ln>
        <a:effectLst/>
      </c:spPr>
    </c:plotArea>
    <c:legend>
      <c:legendPos val="b"/>
      <c:overlay val="0"/>
      <c:txPr>
        <a:bodyPr/>
        <a:lstStyle/>
        <a:p>
          <a:pPr>
            <a:defRPr sz="1100">
              <a:solidFill>
                <a:srgbClr val="334155"/>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EBBB57-1929-441D-93AF-276DE59E1D4A}" type="datetimeFigureOut">
              <a:rPr lang="en-US" smtClean="0"/>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B17342-D7EB-4876-B689-8A8213B33387}" type="slidenum">
              <a:rPr lang="en-US" smtClean="0"/>
              <a:t>‹#›</a:t>
            </a:fld>
            <a:endParaRPr lang="en-US"/>
          </a:p>
        </p:txBody>
      </p:sp>
    </p:spTree>
    <p:extLst>
      <p:ext uri="{BB962C8B-B14F-4D97-AF65-F5344CB8AC3E}">
        <p14:creationId xmlns:p14="http://schemas.microsoft.com/office/powerpoint/2010/main" val="1094020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My name is Elham Ehsani.</a:t>
            </a:r>
          </a:p>
          <a:p>
            <a:r>
              <a:rPr lang="en-US" sz="1200" b="0" i="0" u="none" strike="noStrike" kern="1200" dirty="0">
                <a:solidFill>
                  <a:schemeClr val="tx1"/>
                </a:solidFill>
                <a:effectLst/>
                <a:latin typeface="+mn-lt"/>
                <a:ea typeface="+mn-ea"/>
                <a:cs typeface="+mn-cs"/>
              </a:rPr>
              <a:t>I will present my paper titled “”. It is a work together with ….</a:t>
            </a:r>
            <a:endParaRPr lang="en-US" dirty="0"/>
          </a:p>
        </p:txBody>
      </p:sp>
      <p:sp>
        <p:nvSpPr>
          <p:cNvPr id="4" name="Slide Number Placeholder 3"/>
          <p:cNvSpPr>
            <a:spLocks noGrp="1"/>
          </p:cNvSpPr>
          <p:nvPr>
            <p:ph type="sldNum" sz="quarter" idx="5"/>
          </p:nvPr>
        </p:nvSpPr>
        <p:spPr/>
        <p:txBody>
          <a:bodyPr/>
          <a:lstStyle/>
          <a:p>
            <a:fld id="{F1B17342-D7EB-4876-B689-8A8213B33387}" type="slidenum">
              <a:rPr lang="en-US" smtClean="0"/>
              <a:t>1</a:t>
            </a:fld>
            <a:endParaRPr lang="en-US"/>
          </a:p>
        </p:txBody>
      </p:sp>
    </p:spTree>
    <p:extLst>
      <p:ext uri="{BB962C8B-B14F-4D97-AF65-F5344CB8AC3E}">
        <p14:creationId xmlns:p14="http://schemas.microsoft.com/office/powerpoint/2010/main" val="2696771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Let’s start with our motivation for designing Signet.</a:t>
            </a:r>
          </a:p>
          <a:p>
            <a:r>
              <a:rPr lang="en-US" dirty="0"/>
              <a:t>In Blockchain Notification Ecosystem, the traditional way of light clients getting notified about on-chain events is that they repeatedly query full nodes. Either do it not frequently, then miss events between polls, or the more frequent they do it </a:t>
            </a:r>
            <a:r>
              <a:rPr lang="en-US" dirty="0" err="1"/>
              <a:t>it</a:t>
            </a:r>
            <a:r>
              <a:rPr lang="en-US" dirty="0"/>
              <a:t> will burden full nodes … while they do not get compensated for that.</a:t>
            </a:r>
          </a:p>
          <a:p>
            <a:r>
              <a:rPr lang="en-US" dirty="0"/>
              <a:t>However, the target notification approach for signet is a push-based notification system, where full nodes ..</a:t>
            </a:r>
          </a:p>
          <a:p>
            <a:r>
              <a:rPr lang="en-US" dirty="0"/>
              <a:t>It is timely as the result, critical for a certain type of applications. Enabling full nodes to get paid for it, it requires verifiable proof of notification.</a:t>
            </a:r>
          </a:p>
          <a:p>
            <a:r>
              <a:rPr lang="en-US" dirty="0"/>
              <a:t>Before getting into details, lets introduce two terms, generally for a notification system: Notifier and Recipient.</a:t>
            </a:r>
            <a:br>
              <a:rPr lang="en-US" dirty="0"/>
            </a:br>
            <a:r>
              <a:rPr lang="en-US" dirty="0"/>
              <a:t>In Blockchains systems, a notifier can be a full node, while a recipient is for example a light client or a wallet.</a:t>
            </a:r>
          </a:p>
        </p:txBody>
      </p:sp>
      <p:sp>
        <p:nvSpPr>
          <p:cNvPr id="4" name="Slide Number Placeholder 3"/>
          <p:cNvSpPr>
            <a:spLocks noGrp="1"/>
          </p:cNvSpPr>
          <p:nvPr>
            <p:ph type="sldNum" sz="quarter" idx="5"/>
          </p:nvPr>
        </p:nvSpPr>
        <p:spPr/>
        <p:txBody>
          <a:bodyPr/>
          <a:lstStyle/>
          <a:p>
            <a:fld id="{F1B17342-D7EB-4876-B689-8A8213B33387}" type="slidenum">
              <a:rPr lang="en-US" smtClean="0"/>
              <a:t>2</a:t>
            </a:fld>
            <a:endParaRPr lang="en-US"/>
          </a:p>
        </p:txBody>
      </p:sp>
    </p:spTree>
    <p:extLst>
      <p:ext uri="{BB962C8B-B14F-4D97-AF65-F5344CB8AC3E}">
        <p14:creationId xmlns:p14="http://schemas.microsoft.com/office/powerpoint/2010/main" val="2251721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Blockchain apps that need notifications are on a spectrum.</a:t>
            </a:r>
            <a:endParaRPr lang="en-US" dirty="0"/>
          </a:p>
          <a:p>
            <a:r>
              <a:rPr lang="en-US" dirty="0"/>
              <a:t>one extreme is</a:t>
            </a:r>
            <a:r>
              <a:rPr lang="en-US" b="0" dirty="0"/>
              <a:t> </a:t>
            </a:r>
            <a:r>
              <a:rPr lang="en-US" b="1" dirty="0"/>
              <a:t>High-stakes, ultra-low-latency</a:t>
            </a:r>
            <a:r>
              <a:rPr lang="en-US" dirty="0"/>
              <a:t> (e.g., arbitrage scenarios) that operate a dedicated full node, regardless of cost. </a:t>
            </a:r>
          </a:p>
          <a:p>
            <a:r>
              <a:rPr lang="en-US" b="0" dirty="0"/>
              <a:t>The other end is </a:t>
            </a:r>
            <a:r>
              <a:rPr lang="en-US" b="1" dirty="0"/>
              <a:t>Low-value, less latency-sensitive</a:t>
            </a:r>
            <a:r>
              <a:rPr lang="en-US" dirty="0"/>
              <a:t> (e.g., retail investors monitoring their wallet balances or users awaiting confirmation of non-urgent transactions) might be content to occasionally poll public RPC (</a:t>
            </a:r>
            <a:r>
              <a:rPr lang="" dirty="0"/>
              <a:t>Remote Procedure Call</a:t>
            </a:r>
            <a:r>
              <a:rPr lang="en-US" dirty="0"/>
              <a:t>) endpoints tolerating delays or occasional missed events.</a:t>
            </a:r>
          </a:p>
          <a:p>
            <a:r>
              <a:rPr lang="en-US" dirty="0"/>
              <a:t>However, many practical users fall between these extremes.</a:t>
            </a:r>
            <a:br>
              <a:rPr lang="en-US" dirty="0"/>
            </a:br>
            <a:r>
              <a:rPr lang="en-US" sz="1200" b="0" i="0" u="none" strike="noStrike" kern="1200" baseline="0" dirty="0">
                <a:solidFill>
                  <a:schemeClr val="tx1"/>
                </a:solidFill>
                <a:latin typeface="+mn-lt"/>
                <a:ea typeface="+mn-ea"/>
                <a:cs typeface="+mn-cs"/>
              </a:rPr>
              <a:t>Examples of such scenarios include delayed order execution on a decentralized exchange, missing the settlement of an NFT auction, submitting collateral deposits too late to avoid liquidation, or failing to promptly confirm business payments conducted in cryptocurrency.</a:t>
            </a:r>
            <a:endParaRPr lang="en-US" dirty="0"/>
          </a:p>
          <a:p>
            <a:br>
              <a:rPr lang="en-US" sz="1200" b="0" i="0" u="none" strike="noStrike" kern="1200" baseline="0" dirty="0">
                <a:solidFill>
                  <a:schemeClr val="tx1"/>
                </a:solidFill>
                <a:latin typeface="+mn-lt"/>
                <a:ea typeface="+mn-ea"/>
                <a:cs typeface="+mn-cs"/>
              </a:rPr>
            </a:br>
            <a:r>
              <a:rPr lang="en-US" sz="1200" b="0" i="0" u="none" strike="noStrike" kern="1200" baseline="0" dirty="0">
                <a:solidFill>
                  <a:schemeClr val="tx1"/>
                </a:solidFill>
                <a:latin typeface="+mn-lt"/>
                <a:ea typeface="+mn-ea"/>
                <a:cs typeface="+mn-cs"/>
              </a:rPr>
              <a:t>For example, consider Alice, a blockchain light client user who operates an automated trading bot on a decentralized exchange.</a:t>
            </a:r>
          </a:p>
          <a:p>
            <a:r>
              <a:rPr lang="en-US" sz="1200" b="0" i="0" u="none" strike="noStrike" kern="1200" baseline="0" dirty="0">
                <a:solidFill>
                  <a:schemeClr val="tx1"/>
                </a:solidFill>
                <a:latin typeface="+mn-lt"/>
                <a:ea typeface="+mn-ea"/>
                <a:cs typeface="+mn-cs"/>
              </a:rPr>
              <a:t>Alice relies on timely notifications about asset price changes and transaction finalizations to execute profitable trades and protect her positions from potential liquidation events.</a:t>
            </a:r>
            <a:endParaRPr lang="en-US" dirty="0">
              <a:solidFill>
                <a:schemeClr val="tx2">
                  <a:lumMod val="90000"/>
                  <a:lumOff val="10000"/>
                </a:schemeClr>
              </a:solidFill>
              <a:latin typeface="Calibri" pitchFamily="34" charset="0"/>
              <a:ea typeface="Calibri" pitchFamily="34" charset="-122"/>
              <a:cs typeface="Calibri" pitchFamily="34" charset="-120"/>
            </a:endParaRPr>
          </a:p>
          <a:p>
            <a:endParaRPr lang="en-US" dirty="0"/>
          </a:p>
        </p:txBody>
      </p:sp>
      <p:sp>
        <p:nvSpPr>
          <p:cNvPr id="4" name="Slide Number Placeholder 3"/>
          <p:cNvSpPr>
            <a:spLocks noGrp="1"/>
          </p:cNvSpPr>
          <p:nvPr>
            <p:ph type="sldNum" sz="quarter" idx="5"/>
          </p:nvPr>
        </p:nvSpPr>
        <p:spPr/>
        <p:txBody>
          <a:bodyPr/>
          <a:lstStyle/>
          <a:p>
            <a:fld id="{F1B17342-D7EB-4876-B689-8A8213B33387}" type="slidenum">
              <a:rPr lang="en-US" smtClean="0"/>
              <a:t>3</a:t>
            </a:fld>
            <a:endParaRPr lang="en-US"/>
          </a:p>
        </p:txBody>
      </p:sp>
    </p:spTree>
    <p:extLst>
      <p:ext uri="{BB962C8B-B14F-4D97-AF65-F5344CB8AC3E}">
        <p14:creationId xmlns:p14="http://schemas.microsoft.com/office/powerpoint/2010/main" val="2483293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lumMod val="90000"/>
                    <a:lumOff val="10000"/>
                  </a:schemeClr>
                </a:solidFill>
                <a:latin typeface="Calibri" pitchFamily="34" charset="0"/>
                <a:ea typeface="Calibri" pitchFamily="34" charset="-122"/>
                <a:cs typeface="Calibri" pitchFamily="34" charset="-120"/>
              </a:rPr>
              <a:t>Design goals for a practical proof-of-notification system includes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lumMod val="90000"/>
                    <a:lumOff val="10000"/>
                  </a:schemeClr>
                </a:solidFill>
                <a:latin typeface="Calibri" pitchFamily="34" charset="0"/>
                <a:ea typeface="Calibri" pitchFamily="34" charset="-122"/>
                <a:cs typeface="Calibri" pitchFamily="34" charset="-120"/>
              </a:rPr>
              <a:t>Accountability …, while preserving high throughput on routers.</a:t>
            </a:r>
            <a:br>
              <a:rPr lang="en-US" sz="1200" dirty="0">
                <a:solidFill>
                  <a:schemeClr val="tx2">
                    <a:lumMod val="90000"/>
                    <a:lumOff val="10000"/>
                  </a:schemeClr>
                </a:solidFill>
                <a:latin typeface="Calibri" pitchFamily="34" charset="0"/>
                <a:ea typeface="Calibri" pitchFamily="34" charset="-122"/>
                <a:cs typeface="Calibri" pitchFamily="34" charset="-120"/>
              </a:rPr>
            </a:br>
            <a:r>
              <a:rPr lang="en-US" sz="1200" dirty="0">
                <a:solidFill>
                  <a:schemeClr val="tx2">
                    <a:lumMod val="90000"/>
                    <a:lumOff val="10000"/>
                  </a:schemeClr>
                </a:solidFill>
                <a:latin typeface="Calibri" pitchFamily="34" charset="0"/>
                <a:ea typeface="Calibri" pitchFamily="34" charset="-122"/>
                <a:cs typeface="Calibri" pitchFamily="34" charset="-120"/>
              </a:rPr>
              <a:t>introducing negligible latency to the critical path of message delivery.</a:t>
            </a:r>
            <a:br>
              <a:rPr lang="en-US" sz="1200" dirty="0">
                <a:solidFill>
                  <a:schemeClr val="tx2">
                    <a:lumMod val="90000"/>
                    <a:lumOff val="10000"/>
                  </a:schemeClr>
                </a:solidFill>
                <a:latin typeface="Calibri" pitchFamily="34" charset="0"/>
                <a:ea typeface="Calibri" pitchFamily="34" charset="-122"/>
                <a:cs typeface="Calibri" pitchFamily="34" charset="-120"/>
              </a:rPr>
            </a:br>
            <a:r>
              <a:rPr lang="en-US" sz="1200" dirty="0">
                <a:solidFill>
                  <a:schemeClr val="tx2">
                    <a:lumMod val="90000"/>
                    <a:lumOff val="10000"/>
                  </a:schemeClr>
                </a:solidFill>
                <a:latin typeface="Calibri" pitchFamily="34" charset="0"/>
                <a:ea typeface="Calibri" pitchFamily="34" charset="-122"/>
                <a:cs typeface="Calibri" pitchFamily="34" charset="-120"/>
              </a:rPr>
              <a:t>High scalability, such as the witness handling on the order of≈ 100M packets per second. </a:t>
            </a:r>
            <a:br>
              <a:rPr lang="en-US" sz="1200" dirty="0">
                <a:solidFill>
                  <a:schemeClr val="tx2">
                    <a:lumMod val="90000"/>
                    <a:lumOff val="10000"/>
                  </a:schemeClr>
                </a:solidFill>
                <a:latin typeface="Calibri" pitchFamily="34" charset="0"/>
                <a:ea typeface="Calibri" pitchFamily="34" charset="-122"/>
                <a:cs typeface="Calibri" pitchFamily="34" charset="-120"/>
              </a:rPr>
            </a:br>
            <a:r>
              <a:rPr lang="LID4096" altLang="LID4096" sz="1200" dirty="0">
                <a:latin typeface="Calibri" panose="020F0502020204030204" pitchFamily="34" charset="0"/>
                <a:ea typeface="Calibri" panose="020F0502020204030204" pitchFamily="34" charset="0"/>
                <a:cs typeface="Calibri" panose="020F0502020204030204" pitchFamily="34" charset="0"/>
              </a:rPr>
              <a:t>Alignment with the trust assumptions of modern blockchain systems</a:t>
            </a:r>
            <a:r>
              <a:rPr lang="en-US" altLang="LID4096" sz="1200" dirty="0">
                <a:latin typeface="Calibri" panose="020F0502020204030204" pitchFamily="34" charset="0"/>
                <a:ea typeface="Calibri" panose="020F0502020204030204" pitchFamily="34" charset="0"/>
                <a:cs typeface="Calibri" panose="020F0502020204030204" pitchFamily="34" charset="0"/>
              </a:rPr>
              <a:t>.</a:t>
            </a:r>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F1B17342-D7EB-4876-B689-8A8213B33387}" type="slidenum">
              <a:rPr lang="en-US" smtClean="0"/>
              <a:t>4</a:t>
            </a:fld>
            <a:endParaRPr lang="en-US"/>
          </a:p>
        </p:txBody>
      </p:sp>
    </p:spTree>
    <p:extLst>
      <p:ext uri="{BB962C8B-B14F-4D97-AF65-F5344CB8AC3E}">
        <p14:creationId xmlns:p14="http://schemas.microsoft.com/office/powerpoint/2010/main" val="1282492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in designing Signet is to use the network as the witness.</a:t>
            </a:r>
          </a:p>
        </p:txBody>
      </p:sp>
      <p:sp>
        <p:nvSpPr>
          <p:cNvPr id="4" name="Slide Number Placeholder 3"/>
          <p:cNvSpPr>
            <a:spLocks noGrp="1"/>
          </p:cNvSpPr>
          <p:nvPr>
            <p:ph type="sldNum" sz="quarter" idx="5"/>
          </p:nvPr>
        </p:nvSpPr>
        <p:spPr/>
        <p:txBody>
          <a:bodyPr/>
          <a:lstStyle/>
          <a:p>
            <a:fld id="{F1B17342-D7EB-4876-B689-8A8213B33387}" type="slidenum">
              <a:rPr lang="en-US" smtClean="0"/>
              <a:t>5</a:t>
            </a:fld>
            <a:endParaRPr lang="en-US"/>
          </a:p>
        </p:txBody>
      </p:sp>
    </p:spTree>
    <p:extLst>
      <p:ext uri="{BB962C8B-B14F-4D97-AF65-F5344CB8AC3E}">
        <p14:creationId xmlns:p14="http://schemas.microsoft.com/office/powerpoint/2010/main" val="3905129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 dirty="0"/>
              <a:t>The key buliding blocks include PANs, …</a:t>
            </a:r>
          </a:p>
          <a:p>
            <a:endParaRPr lang="" dirty="0"/>
          </a:p>
          <a:p>
            <a:r>
              <a:rPr lang="" dirty="0"/>
              <a:t>Also, the TESLA Broadcast Authentication Protocol</a:t>
            </a:r>
            <a:r>
              <a:rPr lang="en-US" sz="1200" dirty="0">
                <a:solidFill>
                  <a:schemeClr val="bg2">
                    <a:lumMod val="25000"/>
                  </a:schemeClr>
                </a:solidFill>
                <a:latin typeface="Calibri" pitchFamily="34" charset="0"/>
                <a:ea typeface="Calibri" pitchFamily="34" charset="-122"/>
                <a:cs typeface="Calibri" pitchFamily="34" charset="-120"/>
              </a:rPr>
              <a:t>. TESLA stands for </a:t>
            </a:r>
            <a:r>
              <a:rPr lang="" dirty="0"/>
              <a:t>Timed Efficient Stream Loss-tolerant Authentication, used for generating notification proofs.</a:t>
            </a:r>
          </a:p>
          <a:p>
            <a:r>
              <a:rPr lang="" dirty="0"/>
              <a:t>And, on-chain anchotring of these proofs.</a:t>
            </a:r>
          </a:p>
          <a:p>
            <a:pPr marL="0" marR="0" lvl="0" indent="0" algn="l" defTabSz="914400" rtl="0" eaLnBrk="1" fontAlgn="auto" latinLnBrk="0" hangingPunct="1">
              <a:lnSpc>
                <a:spcPct val="100000"/>
              </a:lnSpc>
              <a:spcBef>
                <a:spcPts val="0"/>
              </a:spcBef>
              <a:spcAft>
                <a:spcPts val="0"/>
              </a:spcAft>
              <a:buClrTx/>
              <a:buSzTx/>
              <a:buFontTx/>
              <a:buNone/>
              <a:tabLst/>
              <a:defRPr/>
            </a:pPr>
            <a:r>
              <a:rPr lang="" dirty="0"/>
              <a:t>While TESLA provides delayed authentication, </a:t>
            </a:r>
            <a:r>
              <a:rPr lang="" sz="1200" dirty="0">
                <a:solidFill>
                  <a:schemeClr val="bg2">
                    <a:lumMod val="25000"/>
                  </a:schemeClr>
                </a:solidFill>
                <a:latin typeface="Calibri" pitchFamily="34" charset="0"/>
                <a:ea typeface="Calibri" pitchFamily="34" charset="-122"/>
                <a:cs typeface="Calibri" pitchFamily="34" charset="-120"/>
              </a:rPr>
              <a:t>we combine it with on-chain submission of the proofs to provide the required level of accountability.</a:t>
            </a:r>
            <a:endParaRPr lang="en-US" sz="1200" dirty="0">
              <a:solidFill>
                <a:schemeClr val="bg2">
                  <a:lumMod val="25000"/>
                </a:schemeClr>
              </a:solidFill>
              <a:latin typeface="Calibri" pitchFamily="34" charset="0"/>
              <a:ea typeface="Calibri" pitchFamily="34" charset="-122"/>
              <a:cs typeface="Calibri" pitchFamily="34" charset="-120"/>
            </a:endParaRPr>
          </a:p>
        </p:txBody>
      </p:sp>
      <p:sp>
        <p:nvSpPr>
          <p:cNvPr id="4" name="Slide Number Placeholder 3"/>
          <p:cNvSpPr>
            <a:spLocks noGrp="1"/>
          </p:cNvSpPr>
          <p:nvPr>
            <p:ph type="sldNum" sz="quarter" idx="5"/>
          </p:nvPr>
        </p:nvSpPr>
        <p:spPr/>
        <p:txBody>
          <a:bodyPr/>
          <a:lstStyle/>
          <a:p>
            <a:fld id="{F1B17342-D7EB-4876-B689-8A8213B33387}" type="slidenum">
              <a:rPr lang="en-US" smtClean="0"/>
              <a:t>6</a:t>
            </a:fld>
            <a:endParaRPr lang="en-US"/>
          </a:p>
        </p:txBody>
      </p:sp>
    </p:spTree>
    <p:extLst>
      <p:ext uri="{BB962C8B-B14F-4D97-AF65-F5344CB8AC3E}">
        <p14:creationId xmlns:p14="http://schemas.microsoft.com/office/powerpoint/2010/main" val="1503304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33D0A-2DB8-6B8B-8EF9-568D28A4B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D94E5-B592-8014-D3D7-26A71564A5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35D6230-9816-8B54-8AB4-01EF6646B4EF}"/>
              </a:ext>
            </a:extLst>
          </p:cNvPr>
          <p:cNvSpPr>
            <a:spLocks noGrp="1"/>
          </p:cNvSpPr>
          <p:nvPr>
            <p:ph type="body" idx="1"/>
          </p:nvPr>
        </p:nvSpPr>
        <p:spPr/>
        <p:txBody>
          <a:bodyPr/>
          <a:lstStyle/>
          <a:p>
            <a:r>
              <a:rPr lang="en-US" dirty="0"/>
              <a:t>Signet includes four main components. The notifier and recipient as any notification system. ASes with their border routers as witnesses. And signet smart contract for dispute resolution.</a:t>
            </a:r>
          </a:p>
        </p:txBody>
      </p:sp>
      <p:sp>
        <p:nvSpPr>
          <p:cNvPr id="4" name="Slide Number Placeholder 3">
            <a:extLst>
              <a:ext uri="{FF2B5EF4-FFF2-40B4-BE49-F238E27FC236}">
                <a16:creationId xmlns:a16="http://schemas.microsoft.com/office/drawing/2014/main" id="{C898DF9C-FC96-6802-89B2-C87C59AC968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780612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background, I give a brief description of how TESLA works.</a:t>
            </a:r>
          </a:p>
          <a:p>
            <a:r>
              <a:rPr lang="" dirty="0"/>
              <a:t>The TESLA protocol is an authentication scheme designed for environments where computational and bandwidth efficiency are critical. Instead of relying on expensive public-key operations, TESLA uses symmetric message authentication codes (MACs). </a:t>
            </a:r>
            <a:endParaRPr lang="en-US" dirty="0"/>
          </a:p>
        </p:txBody>
      </p:sp>
      <p:sp>
        <p:nvSpPr>
          <p:cNvPr id="4" name="Slide Number Placeholder 3"/>
          <p:cNvSpPr>
            <a:spLocks noGrp="1"/>
          </p:cNvSpPr>
          <p:nvPr>
            <p:ph type="sldNum" sz="quarter" idx="5"/>
          </p:nvPr>
        </p:nvSpPr>
        <p:spPr/>
        <p:txBody>
          <a:bodyPr/>
          <a:lstStyle/>
          <a:p>
            <a:fld id="{F1B17342-D7EB-4876-B689-8A8213B33387}" type="slidenum">
              <a:rPr lang="en-US" smtClean="0"/>
              <a:t>8</a:t>
            </a:fld>
            <a:endParaRPr lang="en-US"/>
          </a:p>
        </p:txBody>
      </p:sp>
    </p:spTree>
    <p:extLst>
      <p:ext uri="{BB962C8B-B14F-4D97-AF65-F5344CB8AC3E}">
        <p14:creationId xmlns:p14="http://schemas.microsoft.com/office/powerpoint/2010/main" val="2738400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explain Signet’s protocol flow.</a:t>
            </a:r>
          </a:p>
          <a:p>
            <a:r>
              <a:rPr lang="en-US" dirty="0"/>
              <a:t>There are ASes constituting the network between the Notifier and the recipient. Note that there can be multiple recipients for one notifier and multiple notifiers for one recipient. Here, for simplicity and without loss of generality, we explain by one notifier and one recipient.</a:t>
            </a:r>
          </a:p>
          <a:p>
            <a:r>
              <a:rPr lang="en-US" dirty="0"/>
              <a:t>And there is a Signet smart contract on-chain.</a:t>
            </a:r>
          </a:p>
        </p:txBody>
      </p:sp>
      <p:sp>
        <p:nvSpPr>
          <p:cNvPr id="4" name="Slide Number Placeholder 3"/>
          <p:cNvSpPr>
            <a:spLocks noGrp="1"/>
          </p:cNvSpPr>
          <p:nvPr>
            <p:ph type="sldNum" sz="quarter" idx="5"/>
          </p:nvPr>
        </p:nvSpPr>
        <p:spPr/>
        <p:txBody>
          <a:bodyPr/>
          <a:lstStyle/>
          <a:p>
            <a:fld id="{F1B17342-D7EB-4876-B689-8A8213B33387}" type="slidenum">
              <a:rPr lang="en-US" smtClean="0"/>
              <a:t>9</a:t>
            </a:fld>
            <a:endParaRPr lang="en-US"/>
          </a:p>
        </p:txBody>
      </p:sp>
    </p:spTree>
    <p:extLst>
      <p:ext uri="{BB962C8B-B14F-4D97-AF65-F5344CB8AC3E}">
        <p14:creationId xmlns:p14="http://schemas.microsoft.com/office/powerpoint/2010/main" val="3584751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Witness ASes register on-chain with the Signet smart contract, and, at each key-release interval, append their current released key.</a:t>
            </a:r>
          </a:p>
        </p:txBody>
      </p:sp>
      <p:sp>
        <p:nvSpPr>
          <p:cNvPr id="4" name="Slide Number Placeholder 3"/>
          <p:cNvSpPr>
            <a:spLocks noGrp="1"/>
          </p:cNvSpPr>
          <p:nvPr>
            <p:ph type="sldNum" sz="quarter" idx="5"/>
          </p:nvPr>
        </p:nvSpPr>
        <p:spPr/>
        <p:txBody>
          <a:bodyPr/>
          <a:lstStyle/>
          <a:p>
            <a:fld id="{F1B17342-D7EB-4876-B689-8A8213B33387}" type="slidenum">
              <a:rPr lang="en-US" smtClean="0"/>
              <a:t>10</a:t>
            </a:fld>
            <a:endParaRPr lang="en-US"/>
          </a:p>
        </p:txBody>
      </p:sp>
    </p:spTree>
    <p:extLst>
      <p:ext uri="{BB962C8B-B14F-4D97-AF65-F5344CB8AC3E}">
        <p14:creationId xmlns:p14="http://schemas.microsoft.com/office/powerpoint/2010/main" val="3617613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A notifier creates an on-chain profile that records its SLA, trusted witnesses, and the deposit.</a:t>
            </a:r>
          </a:p>
        </p:txBody>
      </p:sp>
      <p:sp>
        <p:nvSpPr>
          <p:cNvPr id="4" name="Slide Number Placeholder 3"/>
          <p:cNvSpPr>
            <a:spLocks noGrp="1"/>
          </p:cNvSpPr>
          <p:nvPr>
            <p:ph type="sldNum" sz="quarter" idx="5"/>
          </p:nvPr>
        </p:nvSpPr>
        <p:spPr/>
        <p:txBody>
          <a:bodyPr/>
          <a:lstStyle/>
          <a:p>
            <a:fld id="{F1B17342-D7EB-4876-B689-8A8213B33387}" type="slidenum">
              <a:rPr lang="en-US" smtClean="0"/>
              <a:t>11</a:t>
            </a:fld>
            <a:endParaRPr lang="en-US"/>
          </a:p>
        </p:txBody>
      </p:sp>
    </p:spTree>
    <p:extLst>
      <p:ext uri="{BB962C8B-B14F-4D97-AF65-F5344CB8AC3E}">
        <p14:creationId xmlns:p14="http://schemas.microsoft.com/office/powerpoint/2010/main" val="2934077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A recipient subscribes to that profile, specifying its address, events of interest, and its trusted subset of the profile witnesses. </a:t>
            </a:r>
          </a:p>
        </p:txBody>
      </p:sp>
      <p:sp>
        <p:nvSpPr>
          <p:cNvPr id="4" name="Slide Number Placeholder 3"/>
          <p:cNvSpPr>
            <a:spLocks noGrp="1"/>
          </p:cNvSpPr>
          <p:nvPr>
            <p:ph type="sldNum" sz="quarter" idx="5"/>
          </p:nvPr>
        </p:nvSpPr>
        <p:spPr/>
        <p:txBody>
          <a:bodyPr/>
          <a:lstStyle/>
          <a:p>
            <a:fld id="{F1B17342-D7EB-4876-B689-8A8213B33387}" type="slidenum">
              <a:rPr lang="en-US" smtClean="0"/>
              <a:t>12</a:t>
            </a:fld>
            <a:endParaRPr lang="en-US"/>
          </a:p>
        </p:txBody>
      </p:sp>
    </p:spTree>
    <p:extLst>
      <p:ext uri="{BB962C8B-B14F-4D97-AF65-F5344CB8AC3E}">
        <p14:creationId xmlns:p14="http://schemas.microsoft.com/office/powerpoint/2010/main" val="259892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When a subscribed event occurs, the notifier emits a notification packet along a</a:t>
            </a:r>
          </a:p>
          <a:p>
            <a:r>
              <a:rPr lang="en-US" dirty="0"/>
              <a:t>path that traverses at least one of the mutually trusted witness ASes, leveraging the path control of PANs.</a:t>
            </a:r>
          </a:p>
        </p:txBody>
      </p:sp>
      <p:sp>
        <p:nvSpPr>
          <p:cNvPr id="4" name="Slide Number Placeholder 3"/>
          <p:cNvSpPr>
            <a:spLocks noGrp="1"/>
          </p:cNvSpPr>
          <p:nvPr>
            <p:ph type="sldNum" sz="quarter" idx="5"/>
          </p:nvPr>
        </p:nvSpPr>
        <p:spPr/>
        <p:txBody>
          <a:bodyPr/>
          <a:lstStyle/>
          <a:p>
            <a:fld id="{F1B17342-D7EB-4876-B689-8A8213B33387}" type="slidenum">
              <a:rPr lang="en-US" smtClean="0"/>
              <a:t>13</a:t>
            </a:fld>
            <a:endParaRPr lang="en-US"/>
          </a:p>
        </p:txBody>
      </p:sp>
    </p:spTree>
    <p:extLst>
      <p:ext uri="{BB962C8B-B14F-4D97-AF65-F5344CB8AC3E}">
        <p14:creationId xmlns:p14="http://schemas.microsoft.com/office/powerpoint/2010/main" val="2577416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 router in a witness AS observes the packet, timestamps it, computes a MAC using its current TESLA key, and returns that proof to the notifier.</a:t>
            </a:r>
          </a:p>
          <a:p>
            <a:endParaRPr lang="en-US" dirty="0"/>
          </a:p>
        </p:txBody>
      </p:sp>
      <p:sp>
        <p:nvSpPr>
          <p:cNvPr id="4" name="Slide Number Placeholder 3"/>
          <p:cNvSpPr>
            <a:spLocks noGrp="1"/>
          </p:cNvSpPr>
          <p:nvPr>
            <p:ph type="sldNum" sz="quarter" idx="5"/>
          </p:nvPr>
        </p:nvSpPr>
        <p:spPr/>
        <p:txBody>
          <a:bodyPr/>
          <a:lstStyle/>
          <a:p>
            <a:fld id="{F1B17342-D7EB-4876-B689-8A8213B33387}" type="slidenum">
              <a:rPr lang="en-US" smtClean="0"/>
              <a:t>14</a:t>
            </a:fld>
            <a:endParaRPr lang="en-US"/>
          </a:p>
        </p:txBody>
      </p:sp>
    </p:spTree>
    <p:extLst>
      <p:ext uri="{BB962C8B-B14F-4D97-AF65-F5344CB8AC3E}">
        <p14:creationId xmlns:p14="http://schemas.microsoft.com/office/powerpoint/2010/main" val="19426305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The notifier aggregates proofs from each AS within a batching window, computes each batch’s Merkle root, and commits the roots on-chain before the corresponding keys are disclosed.</a:t>
            </a:r>
          </a:p>
          <a:p>
            <a:endParaRPr lang="en-US" dirty="0"/>
          </a:p>
        </p:txBody>
      </p:sp>
      <p:sp>
        <p:nvSpPr>
          <p:cNvPr id="4" name="Slide Number Placeholder 3"/>
          <p:cNvSpPr>
            <a:spLocks noGrp="1"/>
          </p:cNvSpPr>
          <p:nvPr>
            <p:ph type="sldNum" sz="quarter" idx="5"/>
          </p:nvPr>
        </p:nvSpPr>
        <p:spPr/>
        <p:txBody>
          <a:bodyPr/>
          <a:lstStyle/>
          <a:p>
            <a:fld id="{F1B17342-D7EB-4876-B689-8A8213B33387}" type="slidenum">
              <a:rPr lang="en-US" smtClean="0"/>
              <a:t>15</a:t>
            </a:fld>
            <a:endParaRPr lang="en-US"/>
          </a:p>
        </p:txBody>
      </p:sp>
    </p:spTree>
    <p:extLst>
      <p:ext uri="{BB962C8B-B14F-4D97-AF65-F5344CB8AC3E}">
        <p14:creationId xmlns:p14="http://schemas.microsoft.com/office/powerpoint/2010/main" val="4303615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 dirty="0"/>
              <a:t>Upon observing the notification packet, a</a:t>
            </a:r>
            <a:r>
              <a:rPr lang="en-US" dirty="0"/>
              <a:t> border</a:t>
            </a:r>
            <a:r>
              <a:rPr lang="" dirty="0"/>
              <a:t> router in a designated witness AS records the current time as the observation timestamp.</a:t>
            </a:r>
          </a:p>
          <a:p>
            <a:r>
              <a:rPr lang="en-US" dirty="0"/>
              <a:t>It then calculates the MAC, with its current TESLA key and sends it back to the notifier.</a:t>
            </a:r>
          </a:p>
          <a:p>
            <a:r>
              <a:rPr lang="en-US" dirty="0"/>
              <a:t>The notifier …</a:t>
            </a:r>
          </a:p>
          <a:p>
            <a:r>
              <a:rPr lang="en-US" dirty="0"/>
              <a:t>After key …</a:t>
            </a:r>
          </a:p>
          <a:p>
            <a:r>
              <a:rPr lang="en-US" dirty="0"/>
              <a:t>The on-chain anchoring allows everyone to verify that proofs were generated before key release.</a:t>
            </a:r>
          </a:p>
          <a:p>
            <a:r>
              <a:rPr lang="en-US" dirty="0"/>
              <a:t>The timestamp on the proof is to verify the freshness of the notification (the time that the notification was observed). When submitting on-chain the time is also recorded to verify the key validity in the future.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If the recipient detects a missed or delayed notification, it can create a challenge to claim the notifier’s deposit.</a:t>
            </a:r>
          </a:p>
          <a:p>
            <a:endParaRPr lang="en-US" dirty="0"/>
          </a:p>
        </p:txBody>
      </p:sp>
      <p:sp>
        <p:nvSpPr>
          <p:cNvPr id="4" name="Slide Number Placeholder 3"/>
          <p:cNvSpPr>
            <a:spLocks noGrp="1"/>
          </p:cNvSpPr>
          <p:nvPr>
            <p:ph type="sldNum" sz="quarter" idx="5"/>
          </p:nvPr>
        </p:nvSpPr>
        <p:spPr/>
        <p:txBody>
          <a:bodyPr/>
          <a:lstStyle/>
          <a:p>
            <a:fld id="{F1B17342-D7EB-4876-B689-8A8213B33387}" type="slidenum">
              <a:rPr lang="en-US" smtClean="0"/>
              <a:t>17</a:t>
            </a:fld>
            <a:endParaRPr lang="en-US"/>
          </a:p>
        </p:txBody>
      </p:sp>
    </p:spTree>
    <p:extLst>
      <p:ext uri="{BB962C8B-B14F-4D97-AF65-F5344CB8AC3E}">
        <p14:creationId xmlns:p14="http://schemas.microsoft.com/office/powerpoint/2010/main" val="31867149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8. The notifier has a limited time window to dispute by</a:t>
            </a:r>
          </a:p>
          <a:p>
            <a:r>
              <a:rPr lang="en-US" dirty="0"/>
              <a:t>presenting the proof and the Merkle path.</a:t>
            </a:r>
          </a:p>
          <a:p>
            <a:endParaRPr lang="en-US" dirty="0"/>
          </a:p>
        </p:txBody>
      </p:sp>
      <p:sp>
        <p:nvSpPr>
          <p:cNvPr id="4" name="Slide Number Placeholder 3"/>
          <p:cNvSpPr>
            <a:spLocks noGrp="1"/>
          </p:cNvSpPr>
          <p:nvPr>
            <p:ph type="sldNum" sz="quarter" idx="5"/>
          </p:nvPr>
        </p:nvSpPr>
        <p:spPr/>
        <p:txBody>
          <a:bodyPr/>
          <a:lstStyle/>
          <a:p>
            <a:fld id="{F1B17342-D7EB-4876-B689-8A8213B33387}" type="slidenum">
              <a:rPr lang="en-US" smtClean="0"/>
              <a:t>18</a:t>
            </a:fld>
            <a:endParaRPr lang="en-US"/>
          </a:p>
        </p:txBody>
      </p:sp>
    </p:spTree>
    <p:extLst>
      <p:ext uri="{BB962C8B-B14F-4D97-AF65-F5344CB8AC3E}">
        <p14:creationId xmlns:p14="http://schemas.microsoft.com/office/powerpoint/2010/main" val="25462083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 The smart contract verifies the proof against its stored states. The challenge will be either rejected (if the dispute is valid) or the deposit will be claimed and collected by the recipient.</a:t>
            </a:r>
          </a:p>
          <a:p>
            <a:endParaRPr lang="en-US" dirty="0"/>
          </a:p>
        </p:txBody>
      </p:sp>
      <p:sp>
        <p:nvSpPr>
          <p:cNvPr id="4" name="Slide Number Placeholder 3"/>
          <p:cNvSpPr>
            <a:spLocks noGrp="1"/>
          </p:cNvSpPr>
          <p:nvPr>
            <p:ph type="sldNum" sz="quarter" idx="5"/>
          </p:nvPr>
        </p:nvSpPr>
        <p:spPr/>
        <p:txBody>
          <a:bodyPr/>
          <a:lstStyle/>
          <a:p>
            <a:fld id="{F1B17342-D7EB-4876-B689-8A8213B33387}" type="slidenum">
              <a:rPr lang="en-US" smtClean="0"/>
              <a:t>19</a:t>
            </a:fld>
            <a:endParaRPr lang="en-US"/>
          </a:p>
        </p:txBody>
      </p:sp>
    </p:spTree>
    <p:extLst>
      <p:ext uri="{BB962C8B-B14F-4D97-AF65-F5344CB8AC3E}">
        <p14:creationId xmlns:p14="http://schemas.microsoft.com/office/powerpoint/2010/main" val="2306815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 dirty="0"/>
              <a:t>Signet ensures the following security properties in the presence of arbitrarily Byzantine notifiers and recipients.</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Among, PANs, we selected SCION for the implementation. </a:t>
            </a:r>
            <a:r>
              <a:rPr lang="" dirty="0"/>
              <a:t>SCION has the advantage of being already deployed and operational in real-world production networks, with a mature implementation</a:t>
            </a:r>
            <a:br>
              <a:rPr lang="en-US" dirty="0"/>
            </a:br>
            <a:r>
              <a:rPr lang="en-US" dirty="0"/>
              <a:t>We evaluated Signet with DPDK implementation of a SCION router conducting Signet proof generation including hashing and timestamping.</a:t>
            </a:r>
          </a:p>
          <a:p>
            <a:r>
              <a:rPr lang="en-US" dirty="0"/>
              <a:t>The results highlight the high throughput and scalability of the design: 1.6 Mpps for 16B packets per single core and 17.4 M  per 16 cores. With microsecond latency linear scaling with the number of cores.</a:t>
            </a:r>
          </a:p>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dirty="0"/>
              <a:t>We also evaluated the Signet smart contract by implementing it on Sui blockchain’s </a:t>
            </a:r>
            <a:r>
              <a:rPr lang="en-US" sz="1200" dirty="0" err="1"/>
              <a:t>testnet</a:t>
            </a:r>
            <a:r>
              <a:rPr lang="en-US"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Each contract call costs less than 0.007 SUI (costs less than $0.03 in 2025).</a:t>
            </a:r>
          </a:p>
          <a:p>
            <a:r>
              <a:rPr lang="en-US" sz="1200" dirty="0"/>
              <a:t>Signet smart contract enables high scalability, as the operations are parallelized across notifiers, recipients, and witnesses.</a:t>
            </a:r>
          </a:p>
          <a:p>
            <a:r>
              <a:rPr lang="en-US" sz="1200" dirty="0"/>
              <a:t>The regular operations, such as proof (Merkle root) submission and key updates, are lightweight, and other operations, such as challenge or dispute, are infrequent.</a:t>
            </a:r>
          </a:p>
          <a:p>
            <a:endParaRPr lang="en-US" dirty="0"/>
          </a:p>
        </p:txBody>
      </p:sp>
      <p:sp>
        <p:nvSpPr>
          <p:cNvPr id="4" name="Slide Number Placeholder 3"/>
          <p:cNvSpPr>
            <a:spLocks noGrp="1"/>
          </p:cNvSpPr>
          <p:nvPr>
            <p:ph type="sldNum" sz="quarter" idx="5"/>
          </p:nvPr>
        </p:nvSpPr>
        <p:spPr/>
        <p:txBody>
          <a:bodyPr/>
          <a:lstStyle/>
          <a:p>
            <a:fld id="{F1B17342-D7EB-4876-B689-8A8213B33387}" type="slidenum">
              <a:rPr lang="en-US" smtClean="0"/>
              <a:t>22</a:t>
            </a:fld>
            <a:endParaRPr lang="en-US"/>
          </a:p>
        </p:txBody>
      </p:sp>
    </p:spTree>
    <p:extLst>
      <p:ext uri="{BB962C8B-B14F-4D97-AF65-F5344CB8AC3E}">
        <p14:creationId xmlns:p14="http://schemas.microsoft.com/office/powerpoint/2010/main" val="33995009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come to conclusion:</a:t>
            </a:r>
          </a:p>
          <a:p>
            <a:r>
              <a:rPr lang="en-US" dirty="0"/>
              <a:t>Is a …</a:t>
            </a:r>
          </a:p>
          <a:p>
            <a:r>
              <a:rPr lang="en-US" dirty="0"/>
              <a:t>Uses …</a:t>
            </a:r>
          </a:p>
          <a:p>
            <a:endParaRPr lang="en-US" dirty="0"/>
          </a:p>
        </p:txBody>
      </p:sp>
      <p:sp>
        <p:nvSpPr>
          <p:cNvPr id="4" name="Slide Number Placeholder 3"/>
          <p:cNvSpPr>
            <a:spLocks noGrp="1"/>
          </p:cNvSpPr>
          <p:nvPr>
            <p:ph type="sldNum" sz="quarter" idx="5"/>
          </p:nvPr>
        </p:nvSpPr>
        <p:spPr/>
        <p:txBody>
          <a:bodyPr/>
          <a:lstStyle/>
          <a:p>
            <a:fld id="{F1B17342-D7EB-4876-B689-8A8213B33387}" type="slidenum">
              <a:rPr lang="en-US" smtClean="0"/>
              <a:t>23</a:t>
            </a:fld>
            <a:endParaRPr lang="en-US"/>
          </a:p>
        </p:txBody>
      </p:sp>
    </p:spTree>
    <p:extLst>
      <p:ext uri="{BB962C8B-B14F-4D97-AF65-F5344CB8AC3E}">
        <p14:creationId xmlns:p14="http://schemas.microsoft.com/office/powerpoint/2010/main" val="69740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1487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9DA13-B36D-FC18-E48B-5F0D5D4B12D7}"/>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B71934FA-8A8D-AAB4-DBB5-E34A6C2675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B1189E-FF16-C4B2-A43A-3E90FD7E2E52}"/>
              </a:ext>
            </a:extLst>
          </p:cNvPr>
          <p:cNvSpPr>
            <a:spLocks noGrp="1"/>
          </p:cNvSpPr>
          <p:nvPr>
            <p:ph type="dt" sz="half" idx="10"/>
          </p:nvPr>
        </p:nvSpPr>
        <p:spPr/>
        <p:txBody>
          <a:bodyPr/>
          <a:lstStyle/>
          <a:p>
            <a:fld id="{22B5E01D-131E-4A29-9A23-962E3E67453C}" type="datetimeFigureOut">
              <a:rPr lang="en-US" smtClean="0"/>
              <a:t>6/17/2026</a:t>
            </a:fld>
            <a:endParaRPr lang="en-US"/>
          </a:p>
        </p:txBody>
      </p:sp>
    </p:spTree>
    <p:extLst>
      <p:ext uri="{BB962C8B-B14F-4D97-AF65-F5344CB8AC3E}">
        <p14:creationId xmlns:p14="http://schemas.microsoft.com/office/powerpoint/2010/main" val="137044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A9264-9290-05F9-4478-E880D901C6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41B6E3-F8D4-1055-8C74-13C823624E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480B1A-403E-4F0D-7F4D-A5CB9E429C41}"/>
              </a:ext>
            </a:extLst>
          </p:cNvPr>
          <p:cNvSpPr>
            <a:spLocks noGrp="1"/>
          </p:cNvSpPr>
          <p:nvPr>
            <p:ph type="dt" sz="half" idx="10"/>
          </p:nvPr>
        </p:nvSpPr>
        <p:spPr/>
        <p:txBody>
          <a:bodyPr/>
          <a:lstStyle/>
          <a:p>
            <a:fld id="{22B5E01D-131E-4A29-9A23-962E3E67453C}" type="datetimeFigureOut">
              <a:rPr lang="en-US" smtClean="0"/>
              <a:t>6/17/2026</a:t>
            </a:fld>
            <a:endParaRPr lang="en-US"/>
          </a:p>
        </p:txBody>
      </p:sp>
      <p:sp>
        <p:nvSpPr>
          <p:cNvPr id="5" name="Footer Placeholder 4">
            <a:extLst>
              <a:ext uri="{FF2B5EF4-FFF2-40B4-BE49-F238E27FC236}">
                <a16:creationId xmlns:a16="http://schemas.microsoft.com/office/drawing/2014/main" id="{378F54CF-DC07-5AF4-10CA-50A481BEEBC6}"/>
              </a:ext>
            </a:extLst>
          </p:cNvPr>
          <p:cNvSpPr>
            <a:spLocks noGrp="1"/>
          </p:cNvSpPr>
          <p:nvPr>
            <p:ph type="ftr" sz="quarter" idx="11"/>
          </p:nvPr>
        </p:nvSpPr>
        <p:spPr>
          <a:xfrm>
            <a:off x="4038600" y="5540141"/>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9DBD63E-98D8-85FB-7D88-55AD1C06729E}"/>
              </a:ext>
            </a:extLst>
          </p:cNvPr>
          <p:cNvSpPr>
            <a:spLocks noGrp="1"/>
          </p:cNvSpPr>
          <p:nvPr>
            <p:ph type="sldNum" sz="quarter" idx="12"/>
          </p:nvPr>
        </p:nvSpPr>
        <p:spPr>
          <a:xfrm>
            <a:off x="8610600" y="6190651"/>
            <a:ext cx="2743200" cy="365125"/>
          </a:xfrm>
          <a:prstGeom prst="rect">
            <a:avLst/>
          </a:prstGeom>
        </p:spPr>
        <p:txBody>
          <a:bodyPr/>
          <a:lstStyle/>
          <a:p>
            <a:fld id="{0F93CB2E-C565-4576-B071-9EE33755BA39}" type="slidenum">
              <a:rPr lang="en-US" smtClean="0"/>
              <a:t>‹#›</a:t>
            </a:fld>
            <a:endParaRPr lang="en-US"/>
          </a:p>
        </p:txBody>
      </p:sp>
    </p:spTree>
    <p:extLst>
      <p:ext uri="{BB962C8B-B14F-4D97-AF65-F5344CB8AC3E}">
        <p14:creationId xmlns:p14="http://schemas.microsoft.com/office/powerpoint/2010/main" val="213152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1A067-6C0C-4130-237A-03FAB359A5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F92237-9E03-3BBE-FF5A-A189776CD2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A974B7-8D60-499D-8E5F-557E78714777}"/>
              </a:ext>
            </a:extLst>
          </p:cNvPr>
          <p:cNvSpPr>
            <a:spLocks noGrp="1"/>
          </p:cNvSpPr>
          <p:nvPr>
            <p:ph type="dt" sz="half" idx="10"/>
          </p:nvPr>
        </p:nvSpPr>
        <p:spPr/>
        <p:txBody>
          <a:bodyPr/>
          <a:lstStyle/>
          <a:p>
            <a:fld id="{22B5E01D-131E-4A29-9A23-962E3E67453C}" type="datetimeFigureOut">
              <a:rPr lang="en-US" smtClean="0"/>
              <a:t>6/17/2026</a:t>
            </a:fld>
            <a:endParaRPr lang="en-US"/>
          </a:p>
        </p:txBody>
      </p:sp>
      <p:sp>
        <p:nvSpPr>
          <p:cNvPr id="5" name="Footer Placeholder 4">
            <a:extLst>
              <a:ext uri="{FF2B5EF4-FFF2-40B4-BE49-F238E27FC236}">
                <a16:creationId xmlns:a16="http://schemas.microsoft.com/office/drawing/2014/main" id="{79FC0943-4535-8025-3E33-3FDF7AEA0A8C}"/>
              </a:ext>
            </a:extLst>
          </p:cNvPr>
          <p:cNvSpPr>
            <a:spLocks noGrp="1"/>
          </p:cNvSpPr>
          <p:nvPr>
            <p:ph type="ftr" sz="quarter" idx="11"/>
          </p:nvPr>
        </p:nvSpPr>
        <p:spPr>
          <a:xfrm>
            <a:off x="4038600" y="5540141"/>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9DA76B5-E29A-6484-D611-D2701CF3B15F}"/>
              </a:ext>
            </a:extLst>
          </p:cNvPr>
          <p:cNvSpPr>
            <a:spLocks noGrp="1"/>
          </p:cNvSpPr>
          <p:nvPr>
            <p:ph type="sldNum" sz="quarter" idx="12"/>
          </p:nvPr>
        </p:nvSpPr>
        <p:spPr>
          <a:xfrm>
            <a:off x="8610600" y="6190651"/>
            <a:ext cx="2743200" cy="365125"/>
          </a:xfrm>
          <a:prstGeom prst="rect">
            <a:avLst/>
          </a:prstGeom>
        </p:spPr>
        <p:txBody>
          <a:bodyPr/>
          <a:lstStyle/>
          <a:p>
            <a:fld id="{0F93CB2E-C565-4576-B071-9EE33755BA39}" type="slidenum">
              <a:rPr lang="en-US" smtClean="0"/>
              <a:t>‹#›</a:t>
            </a:fld>
            <a:endParaRPr lang="en-US"/>
          </a:p>
        </p:txBody>
      </p:sp>
    </p:spTree>
    <p:extLst>
      <p:ext uri="{BB962C8B-B14F-4D97-AF65-F5344CB8AC3E}">
        <p14:creationId xmlns:p14="http://schemas.microsoft.com/office/powerpoint/2010/main" val="4044987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061B9-91EE-76B0-2B8E-2FFB32D8D8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B7BCCE-EF5E-EB2F-BBE9-7645415C76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22F307-AF27-25BA-AF93-7ABEFCD5FE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AFD374-A54B-68A1-759A-D06C4ECEE2F1}"/>
              </a:ext>
            </a:extLst>
          </p:cNvPr>
          <p:cNvSpPr>
            <a:spLocks noGrp="1"/>
          </p:cNvSpPr>
          <p:nvPr>
            <p:ph type="dt" sz="half" idx="10"/>
          </p:nvPr>
        </p:nvSpPr>
        <p:spPr/>
        <p:txBody>
          <a:bodyPr/>
          <a:lstStyle/>
          <a:p>
            <a:fld id="{22B5E01D-131E-4A29-9A23-962E3E67453C}" type="datetimeFigureOut">
              <a:rPr lang="en-US" smtClean="0"/>
              <a:t>6/17/2026</a:t>
            </a:fld>
            <a:endParaRPr lang="en-US"/>
          </a:p>
        </p:txBody>
      </p:sp>
      <p:sp>
        <p:nvSpPr>
          <p:cNvPr id="6" name="Footer Placeholder 5">
            <a:extLst>
              <a:ext uri="{FF2B5EF4-FFF2-40B4-BE49-F238E27FC236}">
                <a16:creationId xmlns:a16="http://schemas.microsoft.com/office/drawing/2014/main" id="{CF16041F-24DF-0039-E142-F510CCCC8ED0}"/>
              </a:ext>
            </a:extLst>
          </p:cNvPr>
          <p:cNvSpPr>
            <a:spLocks noGrp="1"/>
          </p:cNvSpPr>
          <p:nvPr>
            <p:ph type="ftr" sz="quarter" idx="11"/>
          </p:nvPr>
        </p:nvSpPr>
        <p:spPr>
          <a:xfrm>
            <a:off x="4038600" y="5540141"/>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F86659D-7AC7-E478-FBE4-475E27FC15B7}"/>
              </a:ext>
            </a:extLst>
          </p:cNvPr>
          <p:cNvSpPr>
            <a:spLocks noGrp="1"/>
          </p:cNvSpPr>
          <p:nvPr>
            <p:ph type="sldNum" sz="quarter" idx="12"/>
          </p:nvPr>
        </p:nvSpPr>
        <p:spPr>
          <a:xfrm>
            <a:off x="8610600" y="6190651"/>
            <a:ext cx="2743200" cy="365125"/>
          </a:xfrm>
          <a:prstGeom prst="rect">
            <a:avLst/>
          </a:prstGeom>
        </p:spPr>
        <p:txBody>
          <a:bodyPr/>
          <a:lstStyle/>
          <a:p>
            <a:fld id="{0F93CB2E-C565-4576-B071-9EE33755BA39}" type="slidenum">
              <a:rPr lang="en-US" smtClean="0"/>
              <a:t>‹#›</a:t>
            </a:fld>
            <a:endParaRPr lang="en-US"/>
          </a:p>
        </p:txBody>
      </p:sp>
    </p:spTree>
    <p:extLst>
      <p:ext uri="{BB962C8B-B14F-4D97-AF65-F5344CB8AC3E}">
        <p14:creationId xmlns:p14="http://schemas.microsoft.com/office/powerpoint/2010/main" val="3900628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2FDE1-DDC1-D9AA-6607-16C9DABB54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57B246-9B02-6604-A1CF-4191D67858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123CE3-4E2E-F6E7-0BE7-3BA4BA29EA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8E3EF0-9511-E0AC-2A18-2C3511DD39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3A2463-C4EC-1401-99DE-D676DD4E51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6B347D-3BA8-B6C9-8867-60246CFF584D}"/>
              </a:ext>
            </a:extLst>
          </p:cNvPr>
          <p:cNvSpPr>
            <a:spLocks noGrp="1"/>
          </p:cNvSpPr>
          <p:nvPr>
            <p:ph type="dt" sz="half" idx="10"/>
          </p:nvPr>
        </p:nvSpPr>
        <p:spPr/>
        <p:txBody>
          <a:bodyPr/>
          <a:lstStyle/>
          <a:p>
            <a:fld id="{22B5E01D-131E-4A29-9A23-962E3E67453C}" type="datetimeFigureOut">
              <a:rPr lang="en-US" smtClean="0"/>
              <a:t>6/17/2026</a:t>
            </a:fld>
            <a:endParaRPr lang="en-US"/>
          </a:p>
        </p:txBody>
      </p:sp>
      <p:sp>
        <p:nvSpPr>
          <p:cNvPr id="8" name="Footer Placeholder 7">
            <a:extLst>
              <a:ext uri="{FF2B5EF4-FFF2-40B4-BE49-F238E27FC236}">
                <a16:creationId xmlns:a16="http://schemas.microsoft.com/office/drawing/2014/main" id="{2C363C9F-C7A2-459F-7858-6D5D070B5F8B}"/>
              </a:ext>
            </a:extLst>
          </p:cNvPr>
          <p:cNvSpPr>
            <a:spLocks noGrp="1"/>
          </p:cNvSpPr>
          <p:nvPr>
            <p:ph type="ftr" sz="quarter" idx="11"/>
          </p:nvPr>
        </p:nvSpPr>
        <p:spPr>
          <a:xfrm>
            <a:off x="4038600" y="5540141"/>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C2A1A6CB-A3B4-FAD3-B997-4E0A997E53B3}"/>
              </a:ext>
            </a:extLst>
          </p:cNvPr>
          <p:cNvSpPr>
            <a:spLocks noGrp="1"/>
          </p:cNvSpPr>
          <p:nvPr>
            <p:ph type="sldNum" sz="quarter" idx="12"/>
          </p:nvPr>
        </p:nvSpPr>
        <p:spPr>
          <a:xfrm>
            <a:off x="8610600" y="6190651"/>
            <a:ext cx="2743200" cy="365125"/>
          </a:xfrm>
          <a:prstGeom prst="rect">
            <a:avLst/>
          </a:prstGeom>
        </p:spPr>
        <p:txBody>
          <a:bodyPr/>
          <a:lstStyle/>
          <a:p>
            <a:fld id="{0F93CB2E-C565-4576-B071-9EE33755BA39}" type="slidenum">
              <a:rPr lang="en-US" smtClean="0"/>
              <a:t>‹#›</a:t>
            </a:fld>
            <a:endParaRPr lang="en-US"/>
          </a:p>
        </p:txBody>
      </p:sp>
    </p:spTree>
    <p:extLst>
      <p:ext uri="{BB962C8B-B14F-4D97-AF65-F5344CB8AC3E}">
        <p14:creationId xmlns:p14="http://schemas.microsoft.com/office/powerpoint/2010/main" val="2523180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0CB62-C238-3661-6EA5-B5A9331DF1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52E13C-C171-B4A9-0C52-DA8A1EA9B814}"/>
              </a:ext>
            </a:extLst>
          </p:cNvPr>
          <p:cNvSpPr>
            <a:spLocks noGrp="1"/>
          </p:cNvSpPr>
          <p:nvPr>
            <p:ph type="dt" sz="half" idx="10"/>
          </p:nvPr>
        </p:nvSpPr>
        <p:spPr/>
        <p:txBody>
          <a:bodyPr/>
          <a:lstStyle/>
          <a:p>
            <a:fld id="{22B5E01D-131E-4A29-9A23-962E3E67453C}" type="datetimeFigureOut">
              <a:rPr lang="en-US" smtClean="0"/>
              <a:t>6/17/2026</a:t>
            </a:fld>
            <a:endParaRPr lang="en-US"/>
          </a:p>
        </p:txBody>
      </p:sp>
      <p:sp>
        <p:nvSpPr>
          <p:cNvPr id="4" name="Footer Placeholder 3">
            <a:extLst>
              <a:ext uri="{FF2B5EF4-FFF2-40B4-BE49-F238E27FC236}">
                <a16:creationId xmlns:a16="http://schemas.microsoft.com/office/drawing/2014/main" id="{182D616E-2C00-E8B9-1842-387BBFABFC69}"/>
              </a:ext>
            </a:extLst>
          </p:cNvPr>
          <p:cNvSpPr>
            <a:spLocks noGrp="1"/>
          </p:cNvSpPr>
          <p:nvPr>
            <p:ph type="ftr" sz="quarter" idx="11"/>
          </p:nvPr>
        </p:nvSpPr>
        <p:spPr>
          <a:xfrm>
            <a:off x="4038600" y="5540141"/>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1A278FC-B9FF-FFFD-53B7-B2CFA563C766}"/>
              </a:ext>
            </a:extLst>
          </p:cNvPr>
          <p:cNvSpPr>
            <a:spLocks noGrp="1"/>
          </p:cNvSpPr>
          <p:nvPr>
            <p:ph type="sldNum" sz="quarter" idx="12"/>
          </p:nvPr>
        </p:nvSpPr>
        <p:spPr>
          <a:xfrm>
            <a:off x="8610600" y="6190651"/>
            <a:ext cx="2743200" cy="365125"/>
          </a:xfrm>
          <a:prstGeom prst="rect">
            <a:avLst/>
          </a:prstGeom>
        </p:spPr>
        <p:txBody>
          <a:bodyPr/>
          <a:lstStyle/>
          <a:p>
            <a:fld id="{0F93CB2E-C565-4576-B071-9EE33755BA39}" type="slidenum">
              <a:rPr lang="en-US" smtClean="0"/>
              <a:t>‹#›</a:t>
            </a:fld>
            <a:endParaRPr lang="en-US"/>
          </a:p>
        </p:txBody>
      </p:sp>
    </p:spTree>
    <p:extLst>
      <p:ext uri="{BB962C8B-B14F-4D97-AF65-F5344CB8AC3E}">
        <p14:creationId xmlns:p14="http://schemas.microsoft.com/office/powerpoint/2010/main" val="2553019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C7AFFD-7436-441D-633C-88C210DAA6AE}"/>
              </a:ext>
            </a:extLst>
          </p:cNvPr>
          <p:cNvSpPr>
            <a:spLocks noGrp="1"/>
          </p:cNvSpPr>
          <p:nvPr>
            <p:ph type="dt" sz="half" idx="10"/>
          </p:nvPr>
        </p:nvSpPr>
        <p:spPr/>
        <p:txBody>
          <a:bodyPr/>
          <a:lstStyle/>
          <a:p>
            <a:fld id="{22B5E01D-131E-4A29-9A23-962E3E67453C}" type="datetimeFigureOut">
              <a:rPr lang="en-US" smtClean="0"/>
              <a:t>6/17/2026</a:t>
            </a:fld>
            <a:endParaRPr lang="en-US"/>
          </a:p>
        </p:txBody>
      </p:sp>
      <p:sp>
        <p:nvSpPr>
          <p:cNvPr id="3" name="Footer Placeholder 2">
            <a:extLst>
              <a:ext uri="{FF2B5EF4-FFF2-40B4-BE49-F238E27FC236}">
                <a16:creationId xmlns:a16="http://schemas.microsoft.com/office/drawing/2014/main" id="{FD7C9F7D-0436-1933-7ED3-8071B7314EDF}"/>
              </a:ext>
            </a:extLst>
          </p:cNvPr>
          <p:cNvSpPr>
            <a:spLocks noGrp="1"/>
          </p:cNvSpPr>
          <p:nvPr>
            <p:ph type="ftr" sz="quarter" idx="11"/>
          </p:nvPr>
        </p:nvSpPr>
        <p:spPr>
          <a:xfrm>
            <a:off x="4038600" y="5540141"/>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8A73DFD6-4F32-AA07-3099-7D80DF330523}"/>
              </a:ext>
            </a:extLst>
          </p:cNvPr>
          <p:cNvSpPr>
            <a:spLocks noGrp="1"/>
          </p:cNvSpPr>
          <p:nvPr>
            <p:ph type="sldNum" sz="quarter" idx="12"/>
          </p:nvPr>
        </p:nvSpPr>
        <p:spPr>
          <a:xfrm>
            <a:off x="8610600" y="6190651"/>
            <a:ext cx="2743200" cy="365125"/>
          </a:xfrm>
          <a:prstGeom prst="rect">
            <a:avLst/>
          </a:prstGeom>
        </p:spPr>
        <p:txBody>
          <a:bodyPr/>
          <a:lstStyle/>
          <a:p>
            <a:fld id="{0F93CB2E-C565-4576-B071-9EE33755BA39}" type="slidenum">
              <a:rPr lang="en-US" smtClean="0"/>
              <a:t>‹#›</a:t>
            </a:fld>
            <a:endParaRPr lang="en-US"/>
          </a:p>
        </p:txBody>
      </p:sp>
    </p:spTree>
    <p:extLst>
      <p:ext uri="{BB962C8B-B14F-4D97-AF65-F5344CB8AC3E}">
        <p14:creationId xmlns:p14="http://schemas.microsoft.com/office/powerpoint/2010/main" val="2584698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81530-C4C8-F491-0F75-A00F8679EE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593428-9F88-2134-C439-89DF978B88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6DAEB8-4FA2-C305-D1DB-F3417C698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78307-4FBE-4E72-97EE-2DEE0339B791}"/>
              </a:ext>
            </a:extLst>
          </p:cNvPr>
          <p:cNvSpPr>
            <a:spLocks noGrp="1"/>
          </p:cNvSpPr>
          <p:nvPr>
            <p:ph type="dt" sz="half" idx="10"/>
          </p:nvPr>
        </p:nvSpPr>
        <p:spPr/>
        <p:txBody>
          <a:bodyPr/>
          <a:lstStyle/>
          <a:p>
            <a:fld id="{22B5E01D-131E-4A29-9A23-962E3E67453C}" type="datetimeFigureOut">
              <a:rPr lang="en-US" smtClean="0"/>
              <a:t>6/17/2026</a:t>
            </a:fld>
            <a:endParaRPr lang="en-US"/>
          </a:p>
        </p:txBody>
      </p:sp>
      <p:sp>
        <p:nvSpPr>
          <p:cNvPr id="6" name="Footer Placeholder 5">
            <a:extLst>
              <a:ext uri="{FF2B5EF4-FFF2-40B4-BE49-F238E27FC236}">
                <a16:creationId xmlns:a16="http://schemas.microsoft.com/office/drawing/2014/main" id="{15C40D2C-75A7-2973-71D4-DD1196ECCEB3}"/>
              </a:ext>
            </a:extLst>
          </p:cNvPr>
          <p:cNvSpPr>
            <a:spLocks noGrp="1"/>
          </p:cNvSpPr>
          <p:nvPr>
            <p:ph type="ftr" sz="quarter" idx="11"/>
          </p:nvPr>
        </p:nvSpPr>
        <p:spPr>
          <a:xfrm>
            <a:off x="4038600" y="5540141"/>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6D4B281-5F42-5A57-8750-8523921FD638}"/>
              </a:ext>
            </a:extLst>
          </p:cNvPr>
          <p:cNvSpPr>
            <a:spLocks noGrp="1"/>
          </p:cNvSpPr>
          <p:nvPr>
            <p:ph type="sldNum" sz="quarter" idx="12"/>
          </p:nvPr>
        </p:nvSpPr>
        <p:spPr>
          <a:xfrm>
            <a:off x="8610600" y="6190651"/>
            <a:ext cx="2743200" cy="365125"/>
          </a:xfrm>
          <a:prstGeom prst="rect">
            <a:avLst/>
          </a:prstGeom>
        </p:spPr>
        <p:txBody>
          <a:bodyPr/>
          <a:lstStyle/>
          <a:p>
            <a:fld id="{0F93CB2E-C565-4576-B071-9EE33755BA39}" type="slidenum">
              <a:rPr lang="en-US" smtClean="0"/>
              <a:t>‹#›</a:t>
            </a:fld>
            <a:endParaRPr lang="en-US"/>
          </a:p>
        </p:txBody>
      </p:sp>
    </p:spTree>
    <p:extLst>
      <p:ext uri="{BB962C8B-B14F-4D97-AF65-F5344CB8AC3E}">
        <p14:creationId xmlns:p14="http://schemas.microsoft.com/office/powerpoint/2010/main" val="3941292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43A4B-3FD0-55D9-837C-31C4EEB868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918CA5-0145-616C-50EF-F3E4D01C79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556D04-5978-1AAD-2E71-B6164D802C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2080EF-3108-6477-E811-99F3786DF7E4}"/>
              </a:ext>
            </a:extLst>
          </p:cNvPr>
          <p:cNvSpPr>
            <a:spLocks noGrp="1"/>
          </p:cNvSpPr>
          <p:nvPr>
            <p:ph type="dt" sz="half" idx="10"/>
          </p:nvPr>
        </p:nvSpPr>
        <p:spPr/>
        <p:txBody>
          <a:bodyPr/>
          <a:lstStyle/>
          <a:p>
            <a:fld id="{22B5E01D-131E-4A29-9A23-962E3E67453C}" type="datetimeFigureOut">
              <a:rPr lang="en-US" smtClean="0"/>
              <a:t>6/17/2026</a:t>
            </a:fld>
            <a:endParaRPr lang="en-US"/>
          </a:p>
        </p:txBody>
      </p:sp>
      <p:sp>
        <p:nvSpPr>
          <p:cNvPr id="6" name="Footer Placeholder 5">
            <a:extLst>
              <a:ext uri="{FF2B5EF4-FFF2-40B4-BE49-F238E27FC236}">
                <a16:creationId xmlns:a16="http://schemas.microsoft.com/office/drawing/2014/main" id="{FA8A4341-ABD5-E0FC-96BE-BB240855C339}"/>
              </a:ext>
            </a:extLst>
          </p:cNvPr>
          <p:cNvSpPr>
            <a:spLocks noGrp="1"/>
          </p:cNvSpPr>
          <p:nvPr>
            <p:ph type="ftr" sz="quarter" idx="11"/>
          </p:nvPr>
        </p:nvSpPr>
        <p:spPr>
          <a:xfrm>
            <a:off x="4038600" y="5540141"/>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C0DC84C-FB9C-3037-C721-FB8D0B601A3A}"/>
              </a:ext>
            </a:extLst>
          </p:cNvPr>
          <p:cNvSpPr>
            <a:spLocks noGrp="1"/>
          </p:cNvSpPr>
          <p:nvPr>
            <p:ph type="sldNum" sz="quarter" idx="12"/>
          </p:nvPr>
        </p:nvSpPr>
        <p:spPr>
          <a:xfrm>
            <a:off x="8610600" y="6190651"/>
            <a:ext cx="2743200" cy="365125"/>
          </a:xfrm>
          <a:prstGeom prst="rect">
            <a:avLst/>
          </a:prstGeom>
        </p:spPr>
        <p:txBody>
          <a:bodyPr/>
          <a:lstStyle/>
          <a:p>
            <a:fld id="{0F93CB2E-C565-4576-B071-9EE33755BA39}" type="slidenum">
              <a:rPr lang="en-US" smtClean="0"/>
              <a:t>‹#›</a:t>
            </a:fld>
            <a:endParaRPr lang="en-US"/>
          </a:p>
        </p:txBody>
      </p:sp>
    </p:spTree>
    <p:extLst>
      <p:ext uri="{BB962C8B-B14F-4D97-AF65-F5344CB8AC3E}">
        <p14:creationId xmlns:p14="http://schemas.microsoft.com/office/powerpoint/2010/main" val="2334661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CCD9B-8CD1-7E66-D257-15E65CC5CB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0A4BB1-D889-433D-44D2-F5FE49D637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75A61A-0504-A193-3B8A-6217EA76C381}"/>
              </a:ext>
            </a:extLst>
          </p:cNvPr>
          <p:cNvSpPr>
            <a:spLocks noGrp="1"/>
          </p:cNvSpPr>
          <p:nvPr>
            <p:ph type="dt" sz="half" idx="10"/>
          </p:nvPr>
        </p:nvSpPr>
        <p:spPr/>
        <p:txBody>
          <a:bodyPr/>
          <a:lstStyle/>
          <a:p>
            <a:fld id="{22B5E01D-131E-4A29-9A23-962E3E67453C}" type="datetimeFigureOut">
              <a:rPr lang="en-US" smtClean="0"/>
              <a:t>6/17/2026</a:t>
            </a:fld>
            <a:endParaRPr lang="en-US"/>
          </a:p>
        </p:txBody>
      </p:sp>
      <p:sp>
        <p:nvSpPr>
          <p:cNvPr id="5" name="Footer Placeholder 4">
            <a:extLst>
              <a:ext uri="{FF2B5EF4-FFF2-40B4-BE49-F238E27FC236}">
                <a16:creationId xmlns:a16="http://schemas.microsoft.com/office/drawing/2014/main" id="{5472FB1B-4E22-DE67-1A26-258AEBEA5EFF}"/>
              </a:ext>
            </a:extLst>
          </p:cNvPr>
          <p:cNvSpPr>
            <a:spLocks noGrp="1"/>
          </p:cNvSpPr>
          <p:nvPr>
            <p:ph type="ftr" sz="quarter" idx="11"/>
          </p:nvPr>
        </p:nvSpPr>
        <p:spPr>
          <a:xfrm>
            <a:off x="4038600" y="5540141"/>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1C44050-E830-1A5A-CFCA-0CDC6FBAB0A9}"/>
              </a:ext>
            </a:extLst>
          </p:cNvPr>
          <p:cNvSpPr>
            <a:spLocks noGrp="1"/>
          </p:cNvSpPr>
          <p:nvPr>
            <p:ph type="sldNum" sz="quarter" idx="12"/>
          </p:nvPr>
        </p:nvSpPr>
        <p:spPr>
          <a:xfrm>
            <a:off x="8610600" y="6190651"/>
            <a:ext cx="2743200" cy="365125"/>
          </a:xfrm>
          <a:prstGeom prst="rect">
            <a:avLst/>
          </a:prstGeom>
        </p:spPr>
        <p:txBody>
          <a:bodyPr/>
          <a:lstStyle/>
          <a:p>
            <a:fld id="{0F93CB2E-C565-4576-B071-9EE33755BA39}" type="slidenum">
              <a:rPr lang="en-US" smtClean="0"/>
              <a:t>‹#›</a:t>
            </a:fld>
            <a:endParaRPr lang="en-US"/>
          </a:p>
        </p:txBody>
      </p:sp>
    </p:spTree>
    <p:extLst>
      <p:ext uri="{BB962C8B-B14F-4D97-AF65-F5344CB8AC3E}">
        <p14:creationId xmlns:p14="http://schemas.microsoft.com/office/powerpoint/2010/main" val="37243067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8CC764-E147-7CEB-FAC7-603A01CA2F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395858-0803-10E7-2493-48905AD0D2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C2DB72-6994-951F-2541-D043442C6452}"/>
              </a:ext>
            </a:extLst>
          </p:cNvPr>
          <p:cNvSpPr>
            <a:spLocks noGrp="1"/>
          </p:cNvSpPr>
          <p:nvPr>
            <p:ph type="dt" sz="half" idx="10"/>
          </p:nvPr>
        </p:nvSpPr>
        <p:spPr/>
        <p:txBody>
          <a:bodyPr/>
          <a:lstStyle/>
          <a:p>
            <a:fld id="{22B5E01D-131E-4A29-9A23-962E3E67453C}" type="datetimeFigureOut">
              <a:rPr lang="en-US" smtClean="0"/>
              <a:t>6/17/2026</a:t>
            </a:fld>
            <a:endParaRPr lang="en-US"/>
          </a:p>
        </p:txBody>
      </p:sp>
      <p:sp>
        <p:nvSpPr>
          <p:cNvPr id="5" name="Footer Placeholder 4">
            <a:extLst>
              <a:ext uri="{FF2B5EF4-FFF2-40B4-BE49-F238E27FC236}">
                <a16:creationId xmlns:a16="http://schemas.microsoft.com/office/drawing/2014/main" id="{572AE34B-B752-2B83-C9FB-D3FCDB498B2C}"/>
              </a:ext>
            </a:extLst>
          </p:cNvPr>
          <p:cNvSpPr>
            <a:spLocks noGrp="1"/>
          </p:cNvSpPr>
          <p:nvPr>
            <p:ph type="ftr" sz="quarter" idx="11"/>
          </p:nvPr>
        </p:nvSpPr>
        <p:spPr>
          <a:xfrm>
            <a:off x="4038600" y="5540141"/>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34C303E-F035-D818-7315-AE6B356088E6}"/>
              </a:ext>
            </a:extLst>
          </p:cNvPr>
          <p:cNvSpPr>
            <a:spLocks noGrp="1"/>
          </p:cNvSpPr>
          <p:nvPr>
            <p:ph type="sldNum" sz="quarter" idx="12"/>
          </p:nvPr>
        </p:nvSpPr>
        <p:spPr>
          <a:xfrm>
            <a:off x="8610600" y="6190651"/>
            <a:ext cx="2743200" cy="365125"/>
          </a:xfrm>
          <a:prstGeom prst="rect">
            <a:avLst/>
          </a:prstGeom>
        </p:spPr>
        <p:txBody>
          <a:bodyPr/>
          <a:lstStyle/>
          <a:p>
            <a:fld id="{0F93CB2E-C565-4576-B071-9EE33755BA39}" type="slidenum">
              <a:rPr lang="en-US" smtClean="0"/>
              <a:t>‹#›</a:t>
            </a:fld>
            <a:endParaRPr lang="en-US"/>
          </a:p>
        </p:txBody>
      </p:sp>
    </p:spTree>
    <p:extLst>
      <p:ext uri="{BB962C8B-B14F-4D97-AF65-F5344CB8AC3E}">
        <p14:creationId xmlns:p14="http://schemas.microsoft.com/office/powerpoint/2010/main" val="18790479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10870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3494074"/>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68F3F0-E34E-536B-238B-F7806C240E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4455BE-BC5E-D09F-2A34-6FD4A35EC4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9F6D95-517F-1DD0-02E3-D8951A5262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B5E01D-131E-4A29-9A23-962E3E67453C}" type="datetimeFigureOut">
              <a:rPr lang="en-US" smtClean="0"/>
              <a:t>6/17/2026</a:t>
            </a:fld>
            <a:endParaRPr lang="en-US"/>
          </a:p>
        </p:txBody>
      </p:sp>
      <p:pic>
        <p:nvPicPr>
          <p:cNvPr id="7" name="Grafik 9">
            <a:extLst>
              <a:ext uri="{FF2B5EF4-FFF2-40B4-BE49-F238E27FC236}">
                <a16:creationId xmlns:a16="http://schemas.microsoft.com/office/drawing/2014/main" id="{336501EB-C033-983B-29A3-E008699466E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47171" y="6357965"/>
            <a:ext cx="1765565" cy="288000"/>
          </a:xfrm>
          <a:prstGeom prst="rect">
            <a:avLst/>
          </a:prstGeom>
        </p:spPr>
      </p:pic>
      <p:sp>
        <p:nvSpPr>
          <p:cNvPr id="9" name="TextBox 8">
            <a:extLst>
              <a:ext uri="{FF2B5EF4-FFF2-40B4-BE49-F238E27FC236}">
                <a16:creationId xmlns:a16="http://schemas.microsoft.com/office/drawing/2014/main" id="{3E940365-A96F-C343-BB78-777C2A20A472}"/>
              </a:ext>
            </a:extLst>
          </p:cNvPr>
          <p:cNvSpPr txBox="1"/>
          <p:nvPr userDrawn="1"/>
        </p:nvSpPr>
        <p:spPr>
          <a:xfrm>
            <a:off x="10768730" y="6452209"/>
            <a:ext cx="1423270" cy="369332"/>
          </a:xfrm>
          <a:prstGeom prst="rect">
            <a:avLst/>
          </a:prstGeom>
          <a:noFill/>
        </p:spPr>
        <p:txBody>
          <a:bodyPr wrap="square">
            <a:spAutoFit/>
          </a:bodyPr>
          <a:lstStyle/>
          <a:p>
            <a:pPr marL="0" indent="0" algn="ctr">
              <a:buNone/>
            </a:pPr>
            <a:r>
              <a:rPr lang="en-US" sz="1800" b="1" dirty="0">
                <a:solidFill>
                  <a:srgbClr val="0F172A"/>
                </a:solidFill>
                <a:latin typeface="Calibri" pitchFamily="34" charset="0"/>
                <a:ea typeface="Calibri" pitchFamily="34" charset="-122"/>
                <a:cs typeface="Calibri" pitchFamily="34" charset="-120"/>
              </a:rPr>
              <a:t>ICDCS 2026</a:t>
            </a:r>
            <a:endParaRPr lang="en-US" sz="1800" dirty="0"/>
          </a:p>
        </p:txBody>
      </p:sp>
    </p:spTree>
    <p:extLst>
      <p:ext uri="{BB962C8B-B14F-4D97-AF65-F5344CB8AC3E}">
        <p14:creationId xmlns:p14="http://schemas.microsoft.com/office/powerpoint/2010/main" val="25378273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810AA-D0DA-390C-9C7B-D1162362EF18}"/>
              </a:ext>
            </a:extLst>
          </p:cNvPr>
          <p:cNvSpPr>
            <a:spLocks noGrp="1"/>
          </p:cNvSpPr>
          <p:nvPr>
            <p:ph type="ctrTitle"/>
          </p:nvPr>
        </p:nvSpPr>
        <p:spPr>
          <a:xfrm>
            <a:off x="1524000" y="2076137"/>
            <a:ext cx="6720590" cy="1433825"/>
          </a:xfrm>
        </p:spPr>
        <p:txBody>
          <a:bodyPr>
            <a:noAutofit/>
          </a:bodyPr>
          <a:lstStyle/>
          <a:p>
            <a:r>
              <a:rPr lang="en-US" sz="3600" dirty="0">
                <a:solidFill>
                  <a:schemeClr val="tx2">
                    <a:lumMod val="90000"/>
                    <a:lumOff val="10000"/>
                  </a:schemeClr>
                </a:solidFill>
                <a:latin typeface="Calibri"/>
                <a:ea typeface="Calibri"/>
                <a:cs typeface="Calibri"/>
              </a:rPr>
              <a:t>Scalable Network-Driven Proof of Notification for Blockchain Systems</a:t>
            </a:r>
          </a:p>
        </p:txBody>
      </p:sp>
      <p:sp>
        <p:nvSpPr>
          <p:cNvPr id="3" name="Subtitle 2">
            <a:extLst>
              <a:ext uri="{FF2B5EF4-FFF2-40B4-BE49-F238E27FC236}">
                <a16:creationId xmlns:a16="http://schemas.microsoft.com/office/drawing/2014/main" id="{F1868278-E748-EB37-2175-A8D6EE9B19A5}"/>
              </a:ext>
            </a:extLst>
          </p:cNvPr>
          <p:cNvSpPr>
            <a:spLocks noGrp="1"/>
          </p:cNvSpPr>
          <p:nvPr>
            <p:ph type="subTitle" idx="1"/>
          </p:nvPr>
        </p:nvSpPr>
        <p:spPr>
          <a:xfrm>
            <a:off x="1753009" y="4340163"/>
            <a:ext cx="6211119" cy="1101265"/>
          </a:xfrm>
        </p:spPr>
        <p:txBody>
          <a:bodyPr>
            <a:noAutofit/>
          </a:bodyPr>
          <a:lstStyle/>
          <a:p>
            <a:r>
              <a:rPr lang="en-US" sz="2000" b="1" dirty="0">
                <a:solidFill>
                  <a:schemeClr val="tx2">
                    <a:lumMod val="90000"/>
                    <a:lumOff val="10000"/>
                  </a:schemeClr>
                </a:solidFill>
                <a:latin typeface="Calibri"/>
                <a:ea typeface="Calibri"/>
                <a:cs typeface="Calibri"/>
              </a:rPr>
              <a:t>Elham Ehsani </a:t>
            </a:r>
            <a:r>
              <a:rPr lang="en-US" sz="2000" dirty="0">
                <a:solidFill>
                  <a:schemeClr val="tx2">
                    <a:lumMod val="75000"/>
                    <a:lumOff val="25000"/>
                  </a:schemeClr>
                </a:solidFill>
                <a:latin typeface="Calibri"/>
                <a:ea typeface="Calibri"/>
                <a:cs typeface="Calibri"/>
              </a:rPr>
              <a:t>· Marc Wyss · </a:t>
            </a:r>
            <a:r>
              <a:rPr lang="en-US" sz="2000" dirty="0" err="1">
                <a:solidFill>
                  <a:schemeClr val="tx2">
                    <a:lumMod val="75000"/>
                    <a:lumOff val="25000"/>
                  </a:schemeClr>
                </a:solidFill>
                <a:latin typeface="Calibri"/>
                <a:ea typeface="Calibri"/>
                <a:cs typeface="Calibri"/>
              </a:rPr>
              <a:t>Jonghoon</a:t>
            </a:r>
            <a:r>
              <a:rPr lang="en-US" sz="2000" dirty="0">
                <a:solidFill>
                  <a:schemeClr val="tx2">
                    <a:lumMod val="75000"/>
                    <a:lumOff val="25000"/>
                  </a:schemeClr>
                </a:solidFill>
                <a:latin typeface="Calibri"/>
                <a:ea typeface="Calibri"/>
                <a:cs typeface="Calibri"/>
              </a:rPr>
              <a:t> Kwon</a:t>
            </a:r>
          </a:p>
          <a:p>
            <a:r>
              <a:rPr lang="en-US" sz="2000" dirty="0">
                <a:solidFill>
                  <a:schemeClr val="tx2">
                    <a:lumMod val="75000"/>
                    <a:lumOff val="25000"/>
                  </a:schemeClr>
                </a:solidFill>
                <a:latin typeface="Calibri"/>
                <a:ea typeface="Calibri"/>
                <a:cs typeface="Calibri"/>
              </a:rPr>
              <a:t> Marc Frei · Yih-Chun Hu · Adrian </a:t>
            </a:r>
            <a:r>
              <a:rPr lang="en-US" sz="2000" dirty="0" err="1">
                <a:solidFill>
                  <a:schemeClr val="tx2">
                    <a:lumMod val="75000"/>
                    <a:lumOff val="25000"/>
                  </a:schemeClr>
                </a:solidFill>
                <a:latin typeface="Calibri"/>
                <a:ea typeface="Calibri"/>
                <a:cs typeface="Calibri"/>
              </a:rPr>
              <a:t>Perrig</a:t>
            </a:r>
            <a:r>
              <a:rPr lang="en-US" sz="2000" dirty="0">
                <a:solidFill>
                  <a:schemeClr val="tx2">
                    <a:lumMod val="75000"/>
                    <a:lumOff val="25000"/>
                  </a:schemeClr>
                </a:solidFill>
                <a:ea typeface="Calibri"/>
                <a:cs typeface="Calibri"/>
              </a:rPr>
              <a:t> ·</a:t>
            </a:r>
            <a:r>
              <a:rPr lang="en-US" sz="2000" dirty="0">
                <a:solidFill>
                  <a:schemeClr val="tx2">
                    <a:lumMod val="75000"/>
                    <a:lumOff val="25000"/>
                  </a:schemeClr>
                </a:solidFill>
                <a:latin typeface="Calibri"/>
                <a:ea typeface="Calibri"/>
                <a:cs typeface="Calibri"/>
              </a:rPr>
              <a:t> Alberto </a:t>
            </a:r>
            <a:r>
              <a:rPr lang="en-US" sz="2000" dirty="0" err="1">
                <a:solidFill>
                  <a:schemeClr val="tx2">
                    <a:lumMod val="75000"/>
                    <a:lumOff val="25000"/>
                  </a:schemeClr>
                </a:solidFill>
                <a:latin typeface="Calibri"/>
                <a:ea typeface="Calibri"/>
                <a:cs typeface="Calibri"/>
              </a:rPr>
              <a:t>Sonnino</a:t>
            </a:r>
            <a:endParaRPr lang="en-US" sz="2000" dirty="0">
              <a:solidFill>
                <a:schemeClr val="tx2">
                  <a:lumMod val="75000"/>
                  <a:lumOff val="25000"/>
                </a:schemeClr>
              </a:solidFill>
              <a:latin typeface="Calibri"/>
              <a:ea typeface="Calibri"/>
              <a:cs typeface="Calibri"/>
            </a:endParaRPr>
          </a:p>
        </p:txBody>
      </p:sp>
      <p:sp>
        <p:nvSpPr>
          <p:cNvPr id="5" name="TextBox 4">
            <a:extLst>
              <a:ext uri="{FF2B5EF4-FFF2-40B4-BE49-F238E27FC236}">
                <a16:creationId xmlns:a16="http://schemas.microsoft.com/office/drawing/2014/main" id="{6588EA23-EE99-6224-2574-BB6A6D8AB8FF}"/>
              </a:ext>
            </a:extLst>
          </p:cNvPr>
          <p:cNvSpPr txBox="1"/>
          <p:nvPr/>
        </p:nvSpPr>
        <p:spPr>
          <a:xfrm>
            <a:off x="3589734" y="906905"/>
            <a:ext cx="2164401" cy="1015663"/>
          </a:xfrm>
          <a:prstGeom prst="rect">
            <a:avLst/>
          </a:prstGeom>
          <a:noFill/>
        </p:spPr>
        <p:txBody>
          <a:bodyPr wrap="square" rtlCol="0">
            <a:spAutoFit/>
          </a:bodyPr>
          <a:lstStyle/>
          <a:p>
            <a:r>
              <a:rPr lang="en-US" sz="6000" b="1" dirty="0">
                <a:solidFill>
                  <a:srgbClr val="002060"/>
                </a:solidFill>
                <a:latin typeface="Calibri" panose="020F0502020204030204" pitchFamily="34" charset="0"/>
                <a:ea typeface="Calibri" panose="020F0502020204030204" pitchFamily="34" charset="0"/>
                <a:cs typeface="Calibri" panose="020F0502020204030204" pitchFamily="34" charset="0"/>
              </a:rPr>
              <a:t>Signet</a:t>
            </a:r>
          </a:p>
        </p:txBody>
      </p:sp>
      <p:pic>
        <p:nvPicPr>
          <p:cNvPr id="15" name="Picture 14">
            <a:extLst>
              <a:ext uri="{FF2B5EF4-FFF2-40B4-BE49-F238E27FC236}">
                <a16:creationId xmlns:a16="http://schemas.microsoft.com/office/drawing/2014/main" id="{B34F4A44-B44C-B0B2-3F84-EB40FA69C65E}"/>
              </a:ext>
            </a:extLst>
          </p:cNvPr>
          <p:cNvPicPr>
            <a:picLocks noChangeAspect="1"/>
          </p:cNvPicPr>
          <p:nvPr/>
        </p:nvPicPr>
        <p:blipFill>
          <a:blip r:embed="rId3">
            <a:extLst>
              <a:ext uri="{28A0092B-C50C-407E-A947-70E740481C1C}">
                <a14:useLocalDpi xmlns:a14="http://schemas.microsoft.com/office/drawing/2010/main" val="0"/>
              </a:ext>
            </a:extLst>
          </a:blip>
          <a:srcRect t="12609" b="14881"/>
          <a:stretch>
            <a:fillRect/>
          </a:stretch>
        </p:blipFill>
        <p:spPr>
          <a:xfrm>
            <a:off x="200127" y="224141"/>
            <a:ext cx="1537141" cy="1114560"/>
          </a:xfrm>
          <a:prstGeom prst="rect">
            <a:avLst/>
          </a:prstGeom>
        </p:spPr>
      </p:pic>
      <p:pic>
        <p:nvPicPr>
          <p:cNvPr id="1030" name="Picture 6" descr="A large building with a dome on the top&#10;&#10;AI-generated content may be incorrect.">
            <a:extLst>
              <a:ext uri="{FF2B5EF4-FFF2-40B4-BE49-F238E27FC236}">
                <a16:creationId xmlns:a16="http://schemas.microsoft.com/office/drawing/2014/main" id="{44815B16-7806-437A-3CE9-B4157F965EE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1796" r="36856"/>
          <a:stretch>
            <a:fillRect/>
          </a:stretch>
        </p:blipFill>
        <p:spPr bwMode="auto">
          <a:xfrm>
            <a:off x="9459067" y="0"/>
            <a:ext cx="2732933" cy="64008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1D68489-4A3D-6129-6BA3-E4C447A689AD}"/>
              </a:ext>
            </a:extLst>
          </p:cNvPr>
          <p:cNvPicPr>
            <a:picLocks noChangeAspect="1"/>
          </p:cNvPicPr>
          <p:nvPr/>
        </p:nvPicPr>
        <p:blipFill>
          <a:blip r:embed="rId5"/>
          <a:stretch>
            <a:fillRect/>
          </a:stretch>
        </p:blipFill>
        <p:spPr>
          <a:xfrm>
            <a:off x="4270487" y="6285322"/>
            <a:ext cx="1635949" cy="438435"/>
          </a:xfrm>
          <a:prstGeom prst="rect">
            <a:avLst/>
          </a:prstGeom>
        </p:spPr>
      </p:pic>
      <p:pic>
        <p:nvPicPr>
          <p:cNvPr id="7" name="Picture 6" descr="Mysten Labs Unveils Specs and Updates on SuiPlay0X1; The">
            <a:extLst>
              <a:ext uri="{FF2B5EF4-FFF2-40B4-BE49-F238E27FC236}">
                <a16:creationId xmlns:a16="http://schemas.microsoft.com/office/drawing/2014/main" id="{05F25E31-0334-8FD7-F9B1-A27FF60992FB}"/>
              </a:ext>
            </a:extLst>
          </p:cNvPr>
          <p:cNvPicPr>
            <a:picLocks noChangeAspect="1"/>
          </p:cNvPicPr>
          <p:nvPr/>
        </p:nvPicPr>
        <p:blipFill>
          <a:blip r:embed="rId6"/>
          <a:stretch/>
        </p:blipFill>
        <p:spPr>
          <a:xfrm>
            <a:off x="2080084" y="6238985"/>
            <a:ext cx="1945307" cy="560691"/>
          </a:xfrm>
          <a:prstGeom prst="rect">
            <a:avLst/>
          </a:prstGeom>
        </p:spPr>
      </p:pic>
    </p:spTree>
    <p:extLst>
      <p:ext uri="{BB962C8B-B14F-4D97-AF65-F5344CB8AC3E}">
        <p14:creationId xmlns:p14="http://schemas.microsoft.com/office/powerpoint/2010/main" val="3202103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3D37B-58E0-C819-4F68-0F8F2DB2DE6D}"/>
              </a:ext>
            </a:extLst>
          </p:cNvPr>
          <p:cNvSpPr>
            <a:spLocks noGrp="1"/>
          </p:cNvSpPr>
          <p:nvPr>
            <p:ph type="title"/>
          </p:nvPr>
        </p:nvSpPr>
        <p:spPr/>
        <p:txBody>
          <a:bodyPr>
            <a:normAutofit/>
          </a:bodyPr>
          <a:lstStyle/>
          <a:p>
            <a:r>
              <a:rPr lang="en-US" sz="3600" b="1" dirty="0">
                <a:latin typeface="Calibri"/>
                <a:ea typeface="Calibri"/>
                <a:cs typeface="Calibri"/>
              </a:rPr>
              <a:t>Motivation: Blockchain Notification Ecosystem</a:t>
            </a:r>
          </a:p>
        </p:txBody>
      </p:sp>
      <p:sp>
        <p:nvSpPr>
          <p:cNvPr id="4" name="TextBox 3">
            <a:extLst>
              <a:ext uri="{FF2B5EF4-FFF2-40B4-BE49-F238E27FC236}">
                <a16:creationId xmlns:a16="http://schemas.microsoft.com/office/drawing/2014/main" id="{33182F0E-34AB-4669-ADCD-231FF6B9DA43}"/>
              </a:ext>
            </a:extLst>
          </p:cNvPr>
          <p:cNvSpPr txBox="1"/>
          <p:nvPr/>
        </p:nvSpPr>
        <p:spPr>
          <a:xfrm>
            <a:off x="933189" y="1997901"/>
            <a:ext cx="4597052" cy="2960875"/>
          </a:xfrm>
          <a:prstGeom prst="rect">
            <a:avLst/>
          </a:prstGeom>
          <a:noFill/>
        </p:spPr>
        <p:txBody>
          <a:bodyPr wrap="square" rtlCol="0">
            <a:spAutoFit/>
          </a:bodyPr>
          <a:lstStyle/>
          <a:p>
            <a:pPr>
              <a:lnSpc>
                <a:spcPct val="150000"/>
              </a:lnSpc>
            </a:pPr>
            <a:r>
              <a:rPr lang="en-US" b="1" dirty="0">
                <a:solidFill>
                  <a:srgbClr val="92400E"/>
                </a:solidFill>
                <a:latin typeface="Calibri" pitchFamily="34" charset="0"/>
                <a:ea typeface="Calibri" pitchFamily="34" charset="-122"/>
                <a:cs typeface="Calibri" pitchFamily="34" charset="-120"/>
              </a:rPr>
              <a:t>Polling (Traditional)</a:t>
            </a:r>
          </a:p>
          <a:p>
            <a:pPr>
              <a:lnSpc>
                <a:spcPct val="150000"/>
              </a:lnSpc>
            </a:pPr>
            <a:endParaRPr lang="en-US" dirty="0">
              <a:solidFill>
                <a:srgbClr val="92400E"/>
              </a:solidFill>
              <a:latin typeface="Calibri" pitchFamily="34" charset="0"/>
              <a:ea typeface="Calibri" pitchFamily="34" charset="-122"/>
              <a:cs typeface="Calibri" pitchFamily="34" charset="-120"/>
            </a:endParaRPr>
          </a:p>
          <a:p>
            <a:pPr>
              <a:lnSpc>
                <a:spcPct val="150000"/>
              </a:lnSpc>
            </a:pPr>
            <a:r>
              <a:rPr lang="en-US" dirty="0">
                <a:solidFill>
                  <a:srgbClr val="92400E"/>
                </a:solidFill>
                <a:latin typeface="Calibri" pitchFamily="34" charset="0"/>
                <a:ea typeface="Calibri" pitchFamily="34" charset="-122"/>
                <a:cs typeface="Calibri" pitchFamily="34" charset="-120"/>
              </a:rPr>
              <a:t>✗  Light client repeatedly queries full node</a:t>
            </a:r>
          </a:p>
          <a:p>
            <a:pPr>
              <a:lnSpc>
                <a:spcPct val="150000"/>
              </a:lnSpc>
            </a:pPr>
            <a:r>
              <a:rPr lang="en-US" dirty="0">
                <a:solidFill>
                  <a:srgbClr val="92400E"/>
                </a:solidFill>
                <a:latin typeface="Calibri" pitchFamily="34" charset="0"/>
                <a:ea typeface="Calibri" pitchFamily="34" charset="-122"/>
                <a:cs typeface="Calibri" pitchFamily="34" charset="-120"/>
              </a:rPr>
              <a:t>✗  Burdens full nodes with high read volumes</a:t>
            </a:r>
          </a:p>
          <a:p>
            <a:pPr defTabSz="1219170">
              <a:lnSpc>
                <a:spcPct val="150000"/>
              </a:lnSpc>
            </a:pPr>
            <a:r>
              <a:rPr lang="en-US" dirty="0">
                <a:solidFill>
                  <a:srgbClr val="92400E"/>
                </a:solidFill>
                <a:latin typeface="Calibri" pitchFamily="34" charset="0"/>
                <a:ea typeface="Calibri" pitchFamily="34" charset="-122"/>
                <a:cs typeface="Calibri" pitchFamily="34" charset="-120"/>
              </a:rPr>
              <a:t>✗  Tragedy of the commons: no compensation</a:t>
            </a:r>
          </a:p>
          <a:p>
            <a:pPr defTabSz="1219170">
              <a:lnSpc>
                <a:spcPct val="150000"/>
              </a:lnSpc>
            </a:pPr>
            <a:r>
              <a:rPr lang="en-US" dirty="0">
                <a:solidFill>
                  <a:srgbClr val="92400E"/>
                </a:solidFill>
                <a:latin typeface="Calibri" pitchFamily="34" charset="0"/>
                <a:ea typeface="Calibri" pitchFamily="34" charset="-122"/>
                <a:cs typeface="Calibri" pitchFamily="34" charset="-120"/>
              </a:rPr>
              <a:t>✗  Misses events between polls</a:t>
            </a:r>
            <a:endParaRPr lang="en-US" b="1" dirty="0">
              <a:solidFill>
                <a:srgbClr val="92400E"/>
              </a:solidFill>
              <a:latin typeface="Calibri" pitchFamily="34" charset="0"/>
              <a:ea typeface="Calibri" pitchFamily="34" charset="-122"/>
              <a:cs typeface="Calibri" pitchFamily="34" charset="-120"/>
            </a:endParaRPr>
          </a:p>
          <a:p>
            <a:pPr>
              <a:lnSpc>
                <a:spcPct val="150000"/>
              </a:lnSpc>
            </a:pPr>
            <a:endParaRPr lang="en-US" dirty="0"/>
          </a:p>
        </p:txBody>
      </p:sp>
      <p:sp>
        <p:nvSpPr>
          <p:cNvPr id="5" name="TextBox 4">
            <a:extLst>
              <a:ext uri="{FF2B5EF4-FFF2-40B4-BE49-F238E27FC236}">
                <a16:creationId xmlns:a16="http://schemas.microsoft.com/office/drawing/2014/main" id="{CD971E74-F030-C2A9-B8D1-7BFA5D203253}"/>
              </a:ext>
            </a:extLst>
          </p:cNvPr>
          <p:cNvSpPr txBox="1"/>
          <p:nvPr/>
        </p:nvSpPr>
        <p:spPr>
          <a:xfrm>
            <a:off x="6256751" y="1997901"/>
            <a:ext cx="4966557" cy="2540504"/>
          </a:xfrm>
          <a:prstGeom prst="rect">
            <a:avLst/>
          </a:prstGeom>
          <a:noFill/>
        </p:spPr>
        <p:txBody>
          <a:bodyPr wrap="square" rtlCol="0">
            <a:spAutoFit/>
          </a:bodyPr>
          <a:lstStyle/>
          <a:p>
            <a:pPr>
              <a:lnSpc>
                <a:spcPct val="150000"/>
              </a:lnSpc>
            </a:pPr>
            <a:r>
              <a:rPr lang="en-US" b="1" dirty="0">
                <a:solidFill>
                  <a:srgbClr val="065F46"/>
                </a:solidFill>
                <a:latin typeface="Calibri" pitchFamily="34" charset="0"/>
                <a:ea typeface="Calibri" pitchFamily="34" charset="-122"/>
                <a:cs typeface="Calibri" pitchFamily="34" charset="-120"/>
              </a:rPr>
              <a:t>Push / Subscription (Target)</a:t>
            </a:r>
          </a:p>
          <a:p>
            <a:pPr>
              <a:lnSpc>
                <a:spcPct val="150000"/>
              </a:lnSpc>
            </a:pPr>
            <a:endParaRPr lang="en-US" b="1" dirty="0">
              <a:solidFill>
                <a:srgbClr val="065F46"/>
              </a:solidFill>
              <a:latin typeface="Calibri" pitchFamily="34" charset="0"/>
              <a:ea typeface="Calibri" pitchFamily="34" charset="-122"/>
              <a:cs typeface="Calibri" pitchFamily="34" charset="-120"/>
            </a:endParaRPr>
          </a:p>
          <a:p>
            <a:pPr>
              <a:lnSpc>
                <a:spcPct val="150000"/>
              </a:lnSpc>
            </a:pPr>
            <a:r>
              <a:rPr lang="en-US" dirty="0">
                <a:solidFill>
                  <a:srgbClr val="065F46"/>
                </a:solidFill>
                <a:latin typeface="Calibri" pitchFamily="34" charset="0"/>
                <a:ea typeface="Calibri" pitchFamily="34" charset="-122"/>
                <a:cs typeface="Calibri" pitchFamily="34" charset="-120"/>
              </a:rPr>
              <a:t>✓  Full node pushes events when they occur</a:t>
            </a:r>
          </a:p>
          <a:p>
            <a:pPr>
              <a:lnSpc>
                <a:spcPct val="150000"/>
              </a:lnSpc>
            </a:pPr>
            <a:r>
              <a:rPr lang="en-US" dirty="0">
                <a:solidFill>
                  <a:srgbClr val="065F46"/>
                </a:solidFill>
                <a:latin typeface="Calibri" pitchFamily="34" charset="0"/>
                <a:ea typeface="Calibri" pitchFamily="34" charset="-122"/>
                <a:cs typeface="Calibri" pitchFamily="34" charset="-120"/>
              </a:rPr>
              <a:t>✓  Timely: critical for DeFi &amp; latency-sensitive apps</a:t>
            </a:r>
          </a:p>
          <a:p>
            <a:pPr>
              <a:lnSpc>
                <a:spcPct val="150000"/>
              </a:lnSpc>
            </a:pPr>
            <a:r>
              <a:rPr lang="en-US" dirty="0">
                <a:solidFill>
                  <a:srgbClr val="065F46"/>
                </a:solidFill>
                <a:latin typeface="Calibri" pitchFamily="34" charset="0"/>
                <a:ea typeface="Calibri" pitchFamily="34" charset="-122"/>
                <a:cs typeface="Calibri" pitchFamily="34" charset="-120"/>
              </a:rPr>
              <a:t>✓  Paid subscription</a:t>
            </a:r>
          </a:p>
          <a:p>
            <a:pPr>
              <a:lnSpc>
                <a:spcPct val="150000"/>
              </a:lnSpc>
            </a:pPr>
            <a:r>
              <a:rPr lang="en-US" dirty="0">
                <a:solidFill>
                  <a:srgbClr val="065F46"/>
                </a:solidFill>
                <a:latin typeface="Calibri" pitchFamily="34" charset="0"/>
                <a:ea typeface="Calibri" pitchFamily="34" charset="-122"/>
                <a:cs typeface="Calibri" pitchFamily="34" charset="-120"/>
              </a:rPr>
              <a:t>✓  Requires verifiable proof of notification</a:t>
            </a:r>
            <a:endParaRPr lang="en-US" dirty="0">
              <a:solidFill>
                <a:prstClr val="black"/>
              </a:solidFill>
              <a:latin typeface="Calibri" panose="020F0502020204030204"/>
            </a:endParaRPr>
          </a:p>
        </p:txBody>
      </p:sp>
      <p:grpSp>
        <p:nvGrpSpPr>
          <p:cNvPr id="6" name="Group 5">
            <a:extLst>
              <a:ext uri="{FF2B5EF4-FFF2-40B4-BE49-F238E27FC236}">
                <a16:creationId xmlns:a16="http://schemas.microsoft.com/office/drawing/2014/main" id="{37E8213E-D303-7F0F-E850-C27752703551}"/>
              </a:ext>
            </a:extLst>
          </p:cNvPr>
          <p:cNvGrpSpPr/>
          <p:nvPr/>
        </p:nvGrpSpPr>
        <p:grpSpPr>
          <a:xfrm>
            <a:off x="3650919" y="4958859"/>
            <a:ext cx="1887763" cy="914400"/>
            <a:chOff x="3650919" y="4958859"/>
            <a:chExt cx="1887763" cy="914400"/>
          </a:xfrm>
        </p:grpSpPr>
        <p:sp>
          <p:nvSpPr>
            <p:cNvPr id="14" name="Shape 2">
              <a:extLst>
                <a:ext uri="{FF2B5EF4-FFF2-40B4-BE49-F238E27FC236}">
                  <a16:creationId xmlns:a16="http://schemas.microsoft.com/office/drawing/2014/main" id="{E1E65138-E215-21E4-ADDA-C572CA4B781E}"/>
                </a:ext>
              </a:extLst>
            </p:cNvPr>
            <p:cNvSpPr/>
            <p:nvPr/>
          </p:nvSpPr>
          <p:spPr>
            <a:xfrm>
              <a:off x="3650919" y="4958859"/>
              <a:ext cx="1887763" cy="914400"/>
            </a:xfrm>
            <a:prstGeom prst="rect">
              <a:avLst/>
            </a:prstGeom>
            <a:solidFill>
              <a:schemeClr val="bg1">
                <a:lumMod val="95000"/>
              </a:schemeClr>
            </a:solidFill>
            <a:ln w="28575">
              <a:solidFill>
                <a:srgbClr val="22D3EE"/>
              </a:solidFill>
              <a:prstDash val="solid"/>
            </a:ln>
          </p:spPr>
          <p:txBody>
            <a:bodyPr/>
            <a:lstStyle/>
            <a:p>
              <a:pPr defTabSz="1219170"/>
              <a:endParaRPr lang="en-US" sz="2400">
                <a:solidFill>
                  <a:prstClr val="black"/>
                </a:solidFill>
                <a:latin typeface="Calibri" panose="020F0502020204030204"/>
              </a:endParaRPr>
            </a:p>
          </p:txBody>
        </p:sp>
        <p:sp>
          <p:nvSpPr>
            <p:cNvPr id="15" name="Shape 3">
              <a:extLst>
                <a:ext uri="{FF2B5EF4-FFF2-40B4-BE49-F238E27FC236}">
                  <a16:creationId xmlns:a16="http://schemas.microsoft.com/office/drawing/2014/main" id="{A36ACA70-3AB8-B513-19C1-CE6032832F8E}"/>
                </a:ext>
              </a:extLst>
            </p:cNvPr>
            <p:cNvSpPr/>
            <p:nvPr/>
          </p:nvSpPr>
          <p:spPr>
            <a:xfrm>
              <a:off x="3650919" y="4958859"/>
              <a:ext cx="1887763" cy="446854"/>
            </a:xfrm>
            <a:prstGeom prst="rect">
              <a:avLst/>
            </a:prstGeom>
            <a:solidFill>
              <a:srgbClr val="22D3EE"/>
            </a:solidFill>
            <a:ln w="12700">
              <a:solidFill>
                <a:srgbClr val="22D3EE"/>
              </a:solidFill>
              <a:prstDash val="solid"/>
            </a:ln>
          </p:spPr>
          <p:txBody>
            <a:bodyPr/>
            <a:lstStyle/>
            <a:p>
              <a:pPr defTabSz="1219170"/>
              <a:endParaRPr lang="en-US" sz="2400">
                <a:solidFill>
                  <a:prstClr val="black"/>
                </a:solidFill>
                <a:latin typeface="Calibri" panose="020F0502020204030204"/>
              </a:endParaRPr>
            </a:p>
          </p:txBody>
        </p:sp>
        <p:sp>
          <p:nvSpPr>
            <p:cNvPr id="16" name="Text 4">
              <a:extLst>
                <a:ext uri="{FF2B5EF4-FFF2-40B4-BE49-F238E27FC236}">
                  <a16:creationId xmlns:a16="http://schemas.microsoft.com/office/drawing/2014/main" id="{23741369-F5BF-381F-8695-07C3DB870511}"/>
                </a:ext>
              </a:extLst>
            </p:cNvPr>
            <p:cNvSpPr/>
            <p:nvPr/>
          </p:nvSpPr>
          <p:spPr>
            <a:xfrm>
              <a:off x="3650919" y="4958859"/>
              <a:ext cx="1887763" cy="446854"/>
            </a:xfrm>
            <a:prstGeom prst="rect">
              <a:avLst/>
            </a:prstGeom>
            <a:noFill/>
            <a:ln/>
          </p:spPr>
          <p:txBody>
            <a:bodyPr wrap="square" lIns="0" tIns="0" rIns="0" bIns="0" rtlCol="0" anchor="ctr"/>
            <a:lstStyle/>
            <a:p>
              <a:pPr algn="ctr" defTabSz="1219170"/>
              <a:r>
                <a:rPr lang="en-US" sz="1733" b="1" dirty="0">
                  <a:solidFill>
                    <a:srgbClr val="FFFFFF"/>
                  </a:solidFill>
                  <a:latin typeface="Calibri" pitchFamily="34" charset="0"/>
                  <a:ea typeface="Calibri" pitchFamily="34" charset="-122"/>
                  <a:cs typeface="Calibri" pitchFamily="34" charset="-120"/>
                </a:rPr>
                <a:t>Notifier</a:t>
              </a:r>
              <a:endParaRPr lang="en-US" sz="1733" dirty="0">
                <a:solidFill>
                  <a:prstClr val="black"/>
                </a:solidFill>
                <a:latin typeface="Calibri" panose="020F0502020204030204"/>
              </a:endParaRPr>
            </a:p>
          </p:txBody>
        </p:sp>
        <p:sp>
          <p:nvSpPr>
            <p:cNvPr id="18" name="Text 5">
              <a:extLst>
                <a:ext uri="{FF2B5EF4-FFF2-40B4-BE49-F238E27FC236}">
                  <a16:creationId xmlns:a16="http://schemas.microsoft.com/office/drawing/2014/main" id="{7DBB00F0-4B6D-8A7F-6BD8-467C6BF78AFF}"/>
                </a:ext>
              </a:extLst>
            </p:cNvPr>
            <p:cNvSpPr/>
            <p:nvPr/>
          </p:nvSpPr>
          <p:spPr>
            <a:xfrm>
              <a:off x="3663193" y="5470820"/>
              <a:ext cx="1809026" cy="285576"/>
            </a:xfrm>
            <a:prstGeom prst="rect">
              <a:avLst/>
            </a:prstGeom>
            <a:noFill/>
            <a:ln/>
          </p:spPr>
          <p:txBody>
            <a:bodyPr wrap="square" lIns="0" tIns="0" rIns="0" bIns="0" rtlCol="0" anchor="ctr"/>
            <a:lstStyle/>
            <a:p>
              <a:pPr algn="ctr" defTabSz="1219170"/>
              <a:r>
                <a:rPr lang="en-US" sz="1600" dirty="0">
                  <a:solidFill>
                    <a:srgbClr val="002060"/>
                  </a:solidFill>
                  <a:latin typeface="Calibri" pitchFamily="34" charset="0"/>
                  <a:ea typeface="Calibri" pitchFamily="34" charset="-122"/>
                  <a:cs typeface="Calibri" pitchFamily="34" charset="-120"/>
                </a:rPr>
                <a:t>Full blockchain node</a:t>
              </a:r>
            </a:p>
          </p:txBody>
        </p:sp>
      </p:grpSp>
      <p:grpSp>
        <p:nvGrpSpPr>
          <p:cNvPr id="7" name="Group 6">
            <a:extLst>
              <a:ext uri="{FF2B5EF4-FFF2-40B4-BE49-F238E27FC236}">
                <a16:creationId xmlns:a16="http://schemas.microsoft.com/office/drawing/2014/main" id="{B9090D43-0DF7-2C04-FE2F-D1AF516D6CA8}"/>
              </a:ext>
            </a:extLst>
          </p:cNvPr>
          <p:cNvGrpSpPr/>
          <p:nvPr/>
        </p:nvGrpSpPr>
        <p:grpSpPr>
          <a:xfrm>
            <a:off x="5780331" y="4958859"/>
            <a:ext cx="1887763" cy="914400"/>
            <a:chOff x="5780331" y="4958859"/>
            <a:chExt cx="1887763" cy="914400"/>
          </a:xfrm>
        </p:grpSpPr>
        <p:sp>
          <p:nvSpPr>
            <p:cNvPr id="29" name="Shape 10">
              <a:extLst>
                <a:ext uri="{FF2B5EF4-FFF2-40B4-BE49-F238E27FC236}">
                  <a16:creationId xmlns:a16="http://schemas.microsoft.com/office/drawing/2014/main" id="{E8168848-88EE-47B2-0EE8-3D8EDD333244}"/>
                </a:ext>
              </a:extLst>
            </p:cNvPr>
            <p:cNvSpPr/>
            <p:nvPr/>
          </p:nvSpPr>
          <p:spPr>
            <a:xfrm>
              <a:off x="5780331" y="4958859"/>
              <a:ext cx="1887763" cy="914400"/>
            </a:xfrm>
            <a:prstGeom prst="rect">
              <a:avLst/>
            </a:prstGeom>
            <a:solidFill>
              <a:schemeClr val="bg1">
                <a:lumMod val="95000"/>
              </a:schemeClr>
            </a:solidFill>
            <a:ln w="28575">
              <a:solidFill>
                <a:srgbClr val="0369A1"/>
              </a:solidFill>
              <a:prstDash val="solid"/>
            </a:ln>
          </p:spPr>
          <p:txBody>
            <a:bodyPr/>
            <a:lstStyle/>
            <a:p>
              <a:pPr defTabSz="1219170"/>
              <a:endParaRPr lang="en-US" sz="2400">
                <a:solidFill>
                  <a:prstClr val="black"/>
                </a:solidFill>
                <a:latin typeface="Calibri" panose="020F0502020204030204"/>
              </a:endParaRPr>
            </a:p>
          </p:txBody>
        </p:sp>
        <p:sp>
          <p:nvSpPr>
            <p:cNvPr id="30" name="Shape 11">
              <a:extLst>
                <a:ext uri="{FF2B5EF4-FFF2-40B4-BE49-F238E27FC236}">
                  <a16:creationId xmlns:a16="http://schemas.microsoft.com/office/drawing/2014/main" id="{41C93485-1ADA-5252-C924-23457968DB7B}"/>
                </a:ext>
              </a:extLst>
            </p:cNvPr>
            <p:cNvSpPr/>
            <p:nvPr/>
          </p:nvSpPr>
          <p:spPr>
            <a:xfrm>
              <a:off x="5780331" y="4958859"/>
              <a:ext cx="1887763" cy="446854"/>
            </a:xfrm>
            <a:prstGeom prst="rect">
              <a:avLst/>
            </a:prstGeom>
            <a:solidFill>
              <a:srgbClr val="0369A1"/>
            </a:solidFill>
            <a:ln w="12700">
              <a:solidFill>
                <a:srgbClr val="0369A1"/>
              </a:solidFill>
              <a:prstDash val="solid"/>
            </a:ln>
          </p:spPr>
          <p:txBody>
            <a:bodyPr/>
            <a:lstStyle/>
            <a:p>
              <a:pPr defTabSz="1219170"/>
              <a:endParaRPr lang="en-US" sz="2400">
                <a:solidFill>
                  <a:prstClr val="black"/>
                </a:solidFill>
                <a:latin typeface="Calibri" panose="020F0502020204030204"/>
              </a:endParaRPr>
            </a:p>
          </p:txBody>
        </p:sp>
        <p:sp>
          <p:nvSpPr>
            <p:cNvPr id="31" name="Text 12">
              <a:extLst>
                <a:ext uri="{FF2B5EF4-FFF2-40B4-BE49-F238E27FC236}">
                  <a16:creationId xmlns:a16="http://schemas.microsoft.com/office/drawing/2014/main" id="{7FF90AD1-2081-EA06-F897-50728E11D092}"/>
                </a:ext>
              </a:extLst>
            </p:cNvPr>
            <p:cNvSpPr/>
            <p:nvPr/>
          </p:nvSpPr>
          <p:spPr>
            <a:xfrm>
              <a:off x="5780331" y="4958859"/>
              <a:ext cx="1887763" cy="446854"/>
            </a:xfrm>
            <a:prstGeom prst="rect">
              <a:avLst/>
            </a:prstGeom>
            <a:noFill/>
            <a:ln/>
          </p:spPr>
          <p:txBody>
            <a:bodyPr wrap="square" lIns="0" tIns="0" rIns="0" bIns="0" rtlCol="0" anchor="ctr"/>
            <a:lstStyle/>
            <a:p>
              <a:pPr algn="ctr" defTabSz="1219170"/>
              <a:r>
                <a:rPr lang="en-US" sz="1733" b="1" dirty="0">
                  <a:solidFill>
                    <a:srgbClr val="FFFFFF"/>
                  </a:solidFill>
                  <a:latin typeface="Calibri" pitchFamily="34" charset="0"/>
                  <a:ea typeface="Calibri" pitchFamily="34" charset="-122"/>
                  <a:cs typeface="Calibri" pitchFamily="34" charset="-120"/>
                </a:rPr>
                <a:t>Recipient</a:t>
              </a:r>
              <a:endParaRPr lang="en-US" sz="1733" dirty="0">
                <a:solidFill>
                  <a:prstClr val="black"/>
                </a:solidFill>
                <a:latin typeface="Calibri" panose="020F0502020204030204"/>
              </a:endParaRPr>
            </a:p>
          </p:txBody>
        </p:sp>
        <p:sp>
          <p:nvSpPr>
            <p:cNvPr id="32" name="Text 13">
              <a:extLst>
                <a:ext uri="{FF2B5EF4-FFF2-40B4-BE49-F238E27FC236}">
                  <a16:creationId xmlns:a16="http://schemas.microsoft.com/office/drawing/2014/main" id="{AC15AE33-E5A0-6067-E203-AFC4CD51566E}"/>
                </a:ext>
              </a:extLst>
            </p:cNvPr>
            <p:cNvSpPr/>
            <p:nvPr/>
          </p:nvSpPr>
          <p:spPr>
            <a:xfrm>
              <a:off x="5860112" y="5487437"/>
              <a:ext cx="1716148" cy="206082"/>
            </a:xfrm>
            <a:prstGeom prst="rect">
              <a:avLst/>
            </a:prstGeom>
            <a:noFill/>
            <a:ln/>
          </p:spPr>
          <p:txBody>
            <a:bodyPr wrap="square" lIns="0" tIns="0" rIns="0" bIns="0" rtlCol="0" anchor="ctr"/>
            <a:lstStyle/>
            <a:p>
              <a:pPr algn="ctr" defTabSz="1219170"/>
              <a:r>
                <a:rPr lang="en-US" sz="1600" dirty="0">
                  <a:solidFill>
                    <a:srgbClr val="002060"/>
                  </a:solidFill>
                  <a:latin typeface="Calibri" pitchFamily="34" charset="0"/>
                  <a:ea typeface="Calibri" pitchFamily="34" charset="-122"/>
                  <a:cs typeface="Calibri" pitchFamily="34" charset="-120"/>
                </a:rPr>
                <a:t>Light client / wallet</a:t>
              </a:r>
            </a:p>
          </p:txBody>
        </p:sp>
      </p:grpSp>
    </p:spTree>
    <p:extLst>
      <p:ext uri="{BB962C8B-B14F-4D97-AF65-F5344CB8AC3E}">
        <p14:creationId xmlns:p14="http://schemas.microsoft.com/office/powerpoint/2010/main" val="1530691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DAD2A-BF92-B06D-7D82-2FD0E612F8D3}"/>
            </a:ext>
          </a:extLst>
        </p:cNvPr>
        <p:cNvGrpSpPr/>
        <p:nvPr/>
      </p:nvGrpSpPr>
      <p:grpSpPr>
        <a:xfrm>
          <a:off x="0" y="0"/>
          <a:ext cx="0" cy="0"/>
          <a:chOff x="0" y="0"/>
          <a:chExt cx="0" cy="0"/>
        </a:xfrm>
      </p:grpSpPr>
      <p:sp>
        <p:nvSpPr>
          <p:cNvPr id="39" name="Rectangle: Rounded Corners 38">
            <a:extLst>
              <a:ext uri="{FF2B5EF4-FFF2-40B4-BE49-F238E27FC236}">
                <a16:creationId xmlns:a16="http://schemas.microsoft.com/office/drawing/2014/main" id="{20C6D923-04F8-020C-8C93-8A99A1307735}"/>
              </a:ext>
            </a:extLst>
          </p:cNvPr>
          <p:cNvSpPr/>
          <p:nvPr/>
        </p:nvSpPr>
        <p:spPr>
          <a:xfrm>
            <a:off x="8175395" y="2620040"/>
            <a:ext cx="3328851" cy="736320"/>
          </a:xfrm>
          <a:prstGeom prst="roundRect">
            <a:avLst/>
          </a:prstGeom>
          <a:solidFill>
            <a:schemeClr val="bg2"/>
          </a:solid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Low-value, less latency-sensitive</a:t>
            </a:r>
          </a:p>
          <a:p>
            <a:pPr marL="285750" indent="-285750" algn="ctr">
              <a:buFont typeface="Wingdings" panose="05000000000000000000" pitchFamily="2" charset="2"/>
              <a:buChar char="§"/>
            </a:pPr>
            <a:r>
              <a:rPr lang="en-US" dirty="0">
                <a:solidFill>
                  <a:schemeClr val="tx1"/>
                </a:solidFill>
              </a:rPr>
              <a:t>Occasional polling</a:t>
            </a:r>
          </a:p>
        </p:txBody>
      </p:sp>
      <p:sp>
        <p:nvSpPr>
          <p:cNvPr id="40" name="Rectangle: Rounded Corners 39">
            <a:extLst>
              <a:ext uri="{FF2B5EF4-FFF2-40B4-BE49-F238E27FC236}">
                <a16:creationId xmlns:a16="http://schemas.microsoft.com/office/drawing/2014/main" id="{8CD8648F-E072-902D-B4DA-1C842A3402B3}"/>
              </a:ext>
            </a:extLst>
          </p:cNvPr>
          <p:cNvSpPr/>
          <p:nvPr/>
        </p:nvSpPr>
        <p:spPr>
          <a:xfrm>
            <a:off x="838200" y="2625954"/>
            <a:ext cx="3269571" cy="736320"/>
          </a:xfrm>
          <a:prstGeom prst="roundRect">
            <a:avLst/>
          </a:prstGeom>
          <a:solidFill>
            <a:schemeClr val="bg2"/>
          </a:solid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High-stakes, ultra-low-latency</a:t>
            </a:r>
          </a:p>
          <a:p>
            <a:pPr marL="285750" indent="-285750" algn="ctr">
              <a:buFont typeface="Wingdings" panose="05000000000000000000" pitchFamily="2" charset="2"/>
              <a:buChar char="§"/>
            </a:pPr>
            <a:r>
              <a:rPr lang="en-US" dirty="0">
                <a:solidFill>
                  <a:schemeClr val="tx1"/>
                </a:solidFill>
              </a:rPr>
              <a:t>a dedicated full node</a:t>
            </a:r>
          </a:p>
        </p:txBody>
      </p:sp>
      <p:sp>
        <p:nvSpPr>
          <p:cNvPr id="2" name="Title 1">
            <a:extLst>
              <a:ext uri="{FF2B5EF4-FFF2-40B4-BE49-F238E27FC236}">
                <a16:creationId xmlns:a16="http://schemas.microsoft.com/office/drawing/2014/main" id="{6AA7ED79-BA16-1DCB-CC80-EEFDA3372FF4}"/>
              </a:ext>
            </a:extLst>
          </p:cNvPr>
          <p:cNvSpPr>
            <a:spLocks noGrp="1"/>
          </p:cNvSpPr>
          <p:nvPr>
            <p:ph type="title"/>
          </p:nvPr>
        </p:nvSpPr>
        <p:spPr/>
        <p:txBody>
          <a:bodyPr>
            <a:normAutofit/>
          </a:bodyPr>
          <a:lstStyle/>
          <a:p>
            <a:r>
              <a:rPr lang="en-US" sz="3600" b="1" dirty="0">
                <a:solidFill>
                  <a:srgbClr val="0D1B2A"/>
                </a:solidFill>
                <a:latin typeface="Calibri"/>
                <a:ea typeface="Calibri"/>
                <a:cs typeface="Calibri"/>
              </a:rPr>
              <a:t>Motivation: </a:t>
            </a:r>
            <a:r>
              <a:rPr lang="en-US" sz="3600" b="1" dirty="0">
                <a:solidFill>
                  <a:schemeClr val="bg2">
                    <a:lumMod val="25000"/>
                  </a:schemeClr>
                </a:solidFill>
                <a:latin typeface="Calibri"/>
                <a:ea typeface="Calibri"/>
                <a:cs typeface="Calibri"/>
              </a:rPr>
              <a:t>use case</a:t>
            </a:r>
          </a:p>
        </p:txBody>
      </p:sp>
      <p:pic>
        <p:nvPicPr>
          <p:cNvPr id="7" name="Picture 6">
            <a:extLst>
              <a:ext uri="{FF2B5EF4-FFF2-40B4-BE49-F238E27FC236}">
                <a16:creationId xmlns:a16="http://schemas.microsoft.com/office/drawing/2014/main" id="{5EBC5D08-9E84-776F-2400-2D010ED45A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9563" y="3998521"/>
            <a:ext cx="1190313" cy="1190313"/>
          </a:xfrm>
          <a:prstGeom prst="rect">
            <a:avLst/>
          </a:prstGeom>
        </p:spPr>
      </p:pic>
      <p:pic>
        <p:nvPicPr>
          <p:cNvPr id="13" name="Picture 12">
            <a:extLst>
              <a:ext uri="{FF2B5EF4-FFF2-40B4-BE49-F238E27FC236}">
                <a16:creationId xmlns:a16="http://schemas.microsoft.com/office/drawing/2014/main" id="{A1E1061C-EA13-4F1F-777D-95C3F4BA2D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49876" y="4841106"/>
            <a:ext cx="773934" cy="893349"/>
          </a:xfrm>
          <a:prstGeom prst="rect">
            <a:avLst/>
          </a:prstGeom>
        </p:spPr>
      </p:pic>
      <p:sp>
        <p:nvSpPr>
          <p:cNvPr id="44" name="Rectangle: Rounded Corners 43">
            <a:extLst>
              <a:ext uri="{FF2B5EF4-FFF2-40B4-BE49-F238E27FC236}">
                <a16:creationId xmlns:a16="http://schemas.microsoft.com/office/drawing/2014/main" id="{00F977F7-5620-1DBF-9529-7BD489D3D8CC}"/>
              </a:ext>
            </a:extLst>
          </p:cNvPr>
          <p:cNvSpPr/>
          <p:nvPr/>
        </p:nvSpPr>
        <p:spPr>
          <a:xfrm>
            <a:off x="4527005" y="2620040"/>
            <a:ext cx="3269571" cy="736320"/>
          </a:xfrm>
          <a:prstGeom prst="roundRect">
            <a:avLst/>
          </a:prstGeom>
          <a:solidFill>
            <a:schemeClr val="accent6">
              <a:lumMod val="20000"/>
              <a:lumOff val="80000"/>
            </a:schemeClr>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 dirty="0">
                <a:solidFill>
                  <a:schemeClr val="tx1"/>
                </a:solidFill>
              </a:rPr>
              <a:t>mid-value, low-latency</a:t>
            </a:r>
          </a:p>
          <a:p>
            <a:pPr marL="285750" indent="-285750" algn="ctr">
              <a:buFont typeface="Wingdings" panose="05000000000000000000" pitchFamily="2" charset="2"/>
              <a:buChar char="§"/>
            </a:pPr>
            <a:r>
              <a:rPr lang="" dirty="0">
                <a:solidFill>
                  <a:schemeClr val="tx1"/>
                </a:solidFill>
              </a:rPr>
              <a:t>Signet</a:t>
            </a:r>
            <a:endParaRPr lang="en-US" dirty="0">
              <a:solidFill>
                <a:schemeClr val="tx1"/>
              </a:solidFill>
            </a:endParaRPr>
          </a:p>
        </p:txBody>
      </p:sp>
    </p:spTree>
    <p:extLst>
      <p:ext uri="{BB962C8B-B14F-4D97-AF65-F5344CB8AC3E}">
        <p14:creationId xmlns:p14="http://schemas.microsoft.com/office/powerpoint/2010/main" val="2953345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86DDD-1A29-5B10-5691-4DBC379A8F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C888C4-DB44-A746-3427-DE3160840FE1}"/>
              </a:ext>
            </a:extLst>
          </p:cNvPr>
          <p:cNvSpPr>
            <a:spLocks noGrp="1"/>
          </p:cNvSpPr>
          <p:nvPr>
            <p:ph type="title"/>
          </p:nvPr>
        </p:nvSpPr>
        <p:spPr/>
        <p:txBody>
          <a:bodyPr>
            <a:normAutofit/>
          </a:bodyPr>
          <a:lstStyle/>
          <a:p>
            <a:r>
              <a:rPr lang="en-US" sz="3600" b="1" dirty="0">
                <a:solidFill>
                  <a:srgbClr val="0D1B2A"/>
                </a:solidFill>
                <a:latin typeface="Calibri"/>
                <a:ea typeface="Calibri"/>
                <a:cs typeface="Calibri"/>
              </a:rPr>
              <a:t>Design Goals</a:t>
            </a:r>
            <a:endParaRPr lang="en-US" sz="3600" b="1" dirty="0">
              <a:solidFill>
                <a:schemeClr val="bg2">
                  <a:lumMod val="25000"/>
                </a:schemeClr>
              </a:solidFill>
              <a:latin typeface="Calibri"/>
              <a:ea typeface="Calibri"/>
              <a:cs typeface="Calibri"/>
            </a:endParaRPr>
          </a:p>
        </p:txBody>
      </p:sp>
      <p:sp>
        <p:nvSpPr>
          <p:cNvPr id="3" name="Content Placeholder 2">
            <a:extLst>
              <a:ext uri="{FF2B5EF4-FFF2-40B4-BE49-F238E27FC236}">
                <a16:creationId xmlns:a16="http://schemas.microsoft.com/office/drawing/2014/main" id="{006D857A-9E88-E2AD-1108-8B94313CECCD}"/>
              </a:ext>
            </a:extLst>
          </p:cNvPr>
          <p:cNvSpPr>
            <a:spLocks noGrp="1"/>
          </p:cNvSpPr>
          <p:nvPr>
            <p:ph idx="1"/>
          </p:nvPr>
        </p:nvSpPr>
        <p:spPr/>
        <p:txBody>
          <a:bodyPr>
            <a:normAutofit/>
          </a:bodyPr>
          <a:lstStyle/>
          <a:p>
            <a:pPr marL="0" indent="0">
              <a:buNone/>
            </a:pPr>
            <a:r>
              <a:rPr lang="en-US" sz="2000" b="1" dirty="0">
                <a:latin typeface="Calibri" pitchFamily="34" charset="0"/>
                <a:ea typeface="Calibri" pitchFamily="34" charset="-122"/>
                <a:cs typeface="Calibri" pitchFamily="34" charset="-120"/>
              </a:rPr>
              <a:t>For a practical proof-of-notification protocol:</a:t>
            </a:r>
          </a:p>
          <a:p>
            <a:pPr marL="0" indent="0">
              <a:buNone/>
            </a:pPr>
            <a:endParaRPr lang="en-US" sz="2000" b="1" dirty="0">
              <a:latin typeface="Calibri" pitchFamily="34" charset="0"/>
              <a:ea typeface="Calibri" pitchFamily="34" charset="-122"/>
              <a:cs typeface="Calibri" pitchFamily="34" charset="-120"/>
            </a:endParaRPr>
          </a:p>
          <a:p>
            <a:r>
              <a:rPr lang="en-US" sz="2000" b="1" dirty="0">
                <a:latin typeface="Calibri" pitchFamily="34" charset="0"/>
                <a:ea typeface="Calibri" pitchFamily="34" charset="-122"/>
                <a:cs typeface="Calibri" pitchFamily="34" charset="-120"/>
              </a:rPr>
              <a:t>Accountability:</a:t>
            </a:r>
            <a:r>
              <a:rPr lang="en-US" sz="2000" dirty="0">
                <a:latin typeface="Calibri" pitchFamily="34" charset="0"/>
                <a:ea typeface="Calibri" pitchFamily="34" charset="-122"/>
                <a:cs typeface="Calibri" pitchFamily="34" charset="-120"/>
              </a:rPr>
              <a:t> verifiable, unforgeable, and non-repudiable cryptographic proofs.</a:t>
            </a:r>
          </a:p>
          <a:p>
            <a:r>
              <a:rPr lang="en-US" sz="2000" b="1" dirty="0">
                <a:latin typeface="Calibri" pitchFamily="34" charset="0"/>
                <a:ea typeface="Calibri" pitchFamily="34" charset="-122"/>
                <a:cs typeface="Calibri" pitchFamily="34" charset="-120"/>
              </a:rPr>
              <a:t>High Throughput: </a:t>
            </a:r>
            <a:r>
              <a:rPr lang="en-US" sz="2000" dirty="0">
                <a:latin typeface="Calibri" pitchFamily="34" charset="0"/>
                <a:ea typeface="Calibri" pitchFamily="34" charset="-122"/>
                <a:cs typeface="Calibri" pitchFamily="34" charset="-120"/>
              </a:rPr>
              <a:t>gigabit-scale workloads.</a:t>
            </a:r>
          </a:p>
          <a:p>
            <a:r>
              <a:rPr lang="en-US" sz="2000" b="1" dirty="0">
                <a:latin typeface="Calibri" pitchFamily="34" charset="0"/>
                <a:ea typeface="Calibri" pitchFamily="34" charset="-122"/>
                <a:cs typeface="Calibri" pitchFamily="34" charset="-120"/>
              </a:rPr>
              <a:t>Low Latency: </a:t>
            </a:r>
            <a:r>
              <a:rPr lang="en-US" sz="2000" dirty="0">
                <a:latin typeface="Calibri" pitchFamily="34" charset="0"/>
                <a:ea typeface="Calibri" pitchFamily="34" charset="-122"/>
                <a:cs typeface="Calibri" pitchFamily="34" charset="-120"/>
              </a:rPr>
              <a:t>negligible latency (</a:t>
            </a:r>
            <a:r>
              <a:rPr lang="el-GR" sz="2000" dirty="0">
                <a:latin typeface="Calibri" pitchFamily="34" charset="0"/>
                <a:ea typeface="Calibri" pitchFamily="34" charset="-122"/>
                <a:cs typeface="Calibri" pitchFamily="34" charset="-120"/>
              </a:rPr>
              <a:t>μ</a:t>
            </a:r>
            <a:r>
              <a:rPr lang="en-US" sz="2000" dirty="0">
                <a:latin typeface="Calibri" pitchFamily="34" charset="0"/>
                <a:ea typeface="Calibri" pitchFamily="34" charset="-122"/>
                <a:cs typeface="Calibri" pitchFamily="34" charset="-120"/>
              </a:rPr>
              <a:t>s) to the critical path. </a:t>
            </a:r>
          </a:p>
          <a:p>
            <a:r>
              <a:rPr lang="en-US" sz="2000" b="1" dirty="0">
                <a:latin typeface="Calibri" pitchFamily="34" charset="0"/>
                <a:ea typeface="Calibri" pitchFamily="34" charset="-122"/>
                <a:cs typeface="Calibri" pitchFamily="34" charset="-120"/>
              </a:rPr>
              <a:t>High Scalability: </a:t>
            </a:r>
            <a:r>
              <a:rPr lang="en-US" sz="2000" dirty="0">
                <a:latin typeface="Calibri" pitchFamily="34" charset="0"/>
                <a:ea typeface="Calibri" pitchFamily="34" charset="-122"/>
                <a:cs typeface="Calibri" pitchFamily="34" charset="-120"/>
              </a:rPr>
              <a:t>Scale with participants.</a:t>
            </a:r>
          </a:p>
          <a:p>
            <a:r>
              <a:rPr lang="en-US" sz="2000" b="1" dirty="0">
                <a:latin typeface="Calibri" pitchFamily="34" charset="0"/>
                <a:ea typeface="Calibri" pitchFamily="34" charset="-122"/>
                <a:cs typeface="Calibri" pitchFamily="34" charset="-120"/>
              </a:rPr>
              <a:t>Compatibility and incremental deployment</a:t>
            </a:r>
            <a:r>
              <a:rPr lang="en-US" sz="2000" dirty="0">
                <a:latin typeface="Calibri" pitchFamily="34" charset="0"/>
                <a:ea typeface="Calibri" pitchFamily="34" charset="-122"/>
                <a:cs typeface="Calibri" pitchFamily="34" charset="-120"/>
              </a:rPr>
              <a:t>.</a:t>
            </a:r>
            <a:endParaRPr lang="en-US" sz="2000" dirty="0"/>
          </a:p>
          <a:p>
            <a:endParaRPr lang="en-US" sz="2000" dirty="0">
              <a:solidFill>
                <a:schemeClr val="tx2">
                  <a:lumMod val="90000"/>
                  <a:lumOff val="10000"/>
                </a:schemeClr>
              </a:solidFill>
            </a:endParaRPr>
          </a:p>
        </p:txBody>
      </p:sp>
    </p:spTree>
    <p:extLst>
      <p:ext uri="{BB962C8B-B14F-4D97-AF65-F5344CB8AC3E}">
        <p14:creationId xmlns:p14="http://schemas.microsoft.com/office/powerpoint/2010/main" val="3886121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23780-D52C-69C1-802A-1E0D8961D243}"/>
              </a:ext>
            </a:extLst>
          </p:cNvPr>
          <p:cNvSpPr>
            <a:spLocks noGrp="1"/>
          </p:cNvSpPr>
          <p:nvPr>
            <p:ph type="title"/>
          </p:nvPr>
        </p:nvSpPr>
        <p:spPr/>
        <p:txBody>
          <a:bodyPr>
            <a:normAutofit/>
          </a:bodyPr>
          <a:lstStyle/>
          <a:p>
            <a:r>
              <a:rPr lang="" sz="3600" b="1" dirty="0">
                <a:latin typeface="Calibri"/>
                <a:ea typeface="Calibri"/>
                <a:cs typeface="Calibri"/>
              </a:rPr>
              <a:t>Key Insight: Network as the witness</a:t>
            </a:r>
            <a:endParaRPr lang="en-US" sz="3600" b="1" dirty="0">
              <a:latin typeface="Calibri"/>
              <a:ea typeface="Calibri"/>
              <a:cs typeface="Calibri"/>
            </a:endParaRPr>
          </a:p>
        </p:txBody>
      </p:sp>
      <p:sp>
        <p:nvSpPr>
          <p:cNvPr id="3" name="Content Placeholder 2">
            <a:extLst>
              <a:ext uri="{FF2B5EF4-FFF2-40B4-BE49-F238E27FC236}">
                <a16:creationId xmlns:a16="http://schemas.microsoft.com/office/drawing/2014/main" id="{A3437F5B-1797-31A5-CB6A-51007CE148F9}"/>
              </a:ext>
            </a:extLst>
          </p:cNvPr>
          <p:cNvSpPr>
            <a:spLocks noGrp="1"/>
          </p:cNvSpPr>
          <p:nvPr>
            <p:ph idx="1"/>
          </p:nvPr>
        </p:nvSpPr>
        <p:spPr/>
        <p:txBody>
          <a:bodyPr>
            <a:normAutofit/>
          </a:bodyPr>
          <a:lstStyle/>
          <a:p>
            <a:r>
              <a:rPr lang="" sz="2000" dirty="0">
                <a:latin typeface="Calibri" panose="020F0502020204030204" pitchFamily="34" charset="0"/>
                <a:ea typeface="Calibri" panose="020F0502020204030204" pitchFamily="34" charset="0"/>
                <a:cs typeface="Calibri" panose="020F0502020204030204" pitchFamily="34" charset="0"/>
              </a:rPr>
              <a:t>Au</a:t>
            </a:r>
            <a:r>
              <a:rPr lang="en-US" sz="2000" dirty="0">
                <a:latin typeface="Calibri" panose="020F0502020204030204" pitchFamily="34" charset="0"/>
                <a:ea typeface="Calibri" panose="020F0502020204030204" pitchFamily="34" charset="0"/>
                <a:cs typeface="Calibri" panose="020F0502020204030204" pitchFamily="34" charset="0"/>
              </a:rPr>
              <a:t>tonomous Systems (ASes) are </a:t>
            </a:r>
            <a:r>
              <a:rPr lang="" sz="2000" dirty="0">
                <a:latin typeface="Calibri" panose="020F0502020204030204" pitchFamily="34" charset="0"/>
                <a:ea typeface="Calibri" panose="020F0502020204030204" pitchFamily="34" charset="0"/>
                <a:cs typeface="Calibri" panose="020F0502020204030204" pitchFamily="34" charset="0"/>
              </a:rPr>
              <a:t>already trusted with forwarding. </a:t>
            </a:r>
          </a:p>
          <a:p>
            <a:r>
              <a:rPr lang="" sz="2000" dirty="0">
                <a:latin typeface="Calibri" panose="020F0502020204030204" pitchFamily="34" charset="0"/>
                <a:ea typeface="Calibri" panose="020F0502020204030204" pitchFamily="34" charset="0"/>
                <a:cs typeface="Calibri" panose="020F0502020204030204" pitchFamily="34" charset="0"/>
              </a:rPr>
              <a:t>Leverage ASes as impartial witnesses.</a:t>
            </a:r>
          </a:p>
          <a:p>
            <a:r>
              <a:rPr lang="en-US" sz="2000" dirty="0">
                <a:latin typeface="Calibri" panose="020F0502020204030204" pitchFamily="34" charset="0"/>
                <a:ea typeface="Calibri" panose="020F0502020204030204" pitchFamily="34" charset="0"/>
                <a:cs typeface="Calibri" panose="020F0502020204030204" pitchFamily="34" charset="0"/>
              </a:rPr>
              <a:t>Witnesses are on the forwarding path: no extra round-trips, no mediated delivery</a:t>
            </a:r>
          </a:p>
          <a:p>
            <a:endParaRPr lang="en-US" sz="2000" dirty="0">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rPr>
              <a:t>However,</a:t>
            </a:r>
          </a:p>
          <a:p>
            <a:r>
              <a:rPr lang="en-US" sz="2000" dirty="0">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rPr>
              <a:t>Not every AS is trusted by both parties; how to route via the mutually trusted ASes?</a:t>
            </a:r>
          </a:p>
          <a:p>
            <a:r>
              <a:rPr lang="en-US" sz="2000" dirty="0">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rPr>
              <a:t>How to generate proofs at line rate without becoming a bottleneck?</a:t>
            </a:r>
          </a:p>
        </p:txBody>
      </p:sp>
    </p:spTree>
    <p:extLst>
      <p:ext uri="{BB962C8B-B14F-4D97-AF65-F5344CB8AC3E}">
        <p14:creationId xmlns:p14="http://schemas.microsoft.com/office/powerpoint/2010/main" val="786785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458FD-58C0-4B03-2039-AC7DD1D5D41D}"/>
            </a:ext>
          </a:extLst>
        </p:cNvPr>
        <p:cNvGrpSpPr/>
        <p:nvPr/>
      </p:nvGrpSpPr>
      <p:grpSpPr>
        <a:xfrm>
          <a:off x="0" y="0"/>
          <a:ext cx="0" cy="0"/>
          <a:chOff x="0" y="0"/>
          <a:chExt cx="0" cy="0"/>
        </a:xfrm>
      </p:grpSpPr>
      <p:sp>
        <p:nvSpPr>
          <p:cNvPr id="41" name="Rectangle: Rounded Corners 40">
            <a:extLst>
              <a:ext uri="{FF2B5EF4-FFF2-40B4-BE49-F238E27FC236}">
                <a16:creationId xmlns:a16="http://schemas.microsoft.com/office/drawing/2014/main" id="{86840EE0-76AB-45BE-9159-A3C35A0545CA}"/>
              </a:ext>
            </a:extLst>
          </p:cNvPr>
          <p:cNvSpPr/>
          <p:nvPr/>
        </p:nvSpPr>
        <p:spPr>
          <a:xfrm>
            <a:off x="8022329" y="4702520"/>
            <a:ext cx="381000" cy="355600"/>
          </a:xfrm>
          <a:prstGeom prst="roundRect">
            <a:avLst/>
          </a:prstGeom>
          <a:solidFill>
            <a:srgbClr val="C039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Rectangle: Rounded Corners 39">
            <a:extLst>
              <a:ext uri="{FF2B5EF4-FFF2-40B4-BE49-F238E27FC236}">
                <a16:creationId xmlns:a16="http://schemas.microsoft.com/office/drawing/2014/main" id="{DBA52508-D522-40CA-ADEB-F22D528C4036}"/>
              </a:ext>
            </a:extLst>
          </p:cNvPr>
          <p:cNvSpPr/>
          <p:nvPr/>
        </p:nvSpPr>
        <p:spPr>
          <a:xfrm>
            <a:off x="7344511" y="4702520"/>
            <a:ext cx="381000" cy="355600"/>
          </a:xfrm>
          <a:prstGeom prst="roundRect">
            <a:avLst/>
          </a:prstGeom>
          <a:solidFill>
            <a:srgbClr val="C039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9" name="Rectangle: Rounded Corners 38">
            <a:extLst>
              <a:ext uri="{FF2B5EF4-FFF2-40B4-BE49-F238E27FC236}">
                <a16:creationId xmlns:a16="http://schemas.microsoft.com/office/drawing/2014/main" id="{AAB6D36D-B4F6-4FD1-BD9C-6DF1E213A18F}"/>
              </a:ext>
            </a:extLst>
          </p:cNvPr>
          <p:cNvSpPr/>
          <p:nvPr/>
        </p:nvSpPr>
        <p:spPr>
          <a:xfrm>
            <a:off x="6666694" y="4702520"/>
            <a:ext cx="381000" cy="355600"/>
          </a:xfrm>
          <a:prstGeom prst="roundRect">
            <a:avLst/>
          </a:prstGeom>
          <a:solidFill>
            <a:srgbClr val="C039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8" name="Rectangle: Rounded Corners 37">
            <a:extLst>
              <a:ext uri="{FF2B5EF4-FFF2-40B4-BE49-F238E27FC236}">
                <a16:creationId xmlns:a16="http://schemas.microsoft.com/office/drawing/2014/main" id="{293B5404-798E-49EC-8D15-64A32DA49A46}"/>
              </a:ext>
            </a:extLst>
          </p:cNvPr>
          <p:cNvSpPr/>
          <p:nvPr/>
        </p:nvSpPr>
        <p:spPr>
          <a:xfrm>
            <a:off x="5988877" y="4702520"/>
            <a:ext cx="381000" cy="355600"/>
          </a:xfrm>
          <a:prstGeom prst="roundRect">
            <a:avLst/>
          </a:prstGeom>
          <a:solidFill>
            <a:srgbClr val="C039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Rectangle: Rounded Corners 36">
            <a:extLst>
              <a:ext uri="{FF2B5EF4-FFF2-40B4-BE49-F238E27FC236}">
                <a16:creationId xmlns:a16="http://schemas.microsoft.com/office/drawing/2014/main" id="{F92ED35D-4F1E-4CC5-B632-214E60EE92F8}"/>
              </a:ext>
            </a:extLst>
          </p:cNvPr>
          <p:cNvSpPr/>
          <p:nvPr/>
        </p:nvSpPr>
        <p:spPr>
          <a:xfrm>
            <a:off x="5311060" y="4702520"/>
            <a:ext cx="381000" cy="355600"/>
          </a:xfrm>
          <a:prstGeom prst="roundRect">
            <a:avLst/>
          </a:prstGeom>
          <a:solidFill>
            <a:srgbClr val="C039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Rectangle: Rounded Corners 35">
            <a:extLst>
              <a:ext uri="{FF2B5EF4-FFF2-40B4-BE49-F238E27FC236}">
                <a16:creationId xmlns:a16="http://schemas.microsoft.com/office/drawing/2014/main" id="{9E594709-A065-45CD-AB8E-336276BAA005}"/>
              </a:ext>
            </a:extLst>
          </p:cNvPr>
          <p:cNvSpPr/>
          <p:nvPr/>
        </p:nvSpPr>
        <p:spPr>
          <a:xfrm>
            <a:off x="4633243" y="4702520"/>
            <a:ext cx="381000" cy="355600"/>
          </a:xfrm>
          <a:prstGeom prst="roundRect">
            <a:avLst/>
          </a:prstGeom>
          <a:solidFill>
            <a:srgbClr val="C039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Rectangle: Rounded Corners 34">
            <a:extLst>
              <a:ext uri="{FF2B5EF4-FFF2-40B4-BE49-F238E27FC236}">
                <a16:creationId xmlns:a16="http://schemas.microsoft.com/office/drawing/2014/main" id="{2A75EFB4-8899-4931-A08C-9D41FD1FBCFF}"/>
              </a:ext>
            </a:extLst>
          </p:cNvPr>
          <p:cNvSpPr/>
          <p:nvPr/>
        </p:nvSpPr>
        <p:spPr>
          <a:xfrm>
            <a:off x="3955426" y="4702520"/>
            <a:ext cx="381000" cy="355600"/>
          </a:xfrm>
          <a:prstGeom prst="roundRect">
            <a:avLst/>
          </a:prstGeom>
          <a:solidFill>
            <a:srgbClr val="C039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Rectangle: Rounded Corners 33">
            <a:extLst>
              <a:ext uri="{FF2B5EF4-FFF2-40B4-BE49-F238E27FC236}">
                <a16:creationId xmlns:a16="http://schemas.microsoft.com/office/drawing/2014/main" id="{97D03934-D29F-4155-B5D5-B5F7169BA5BF}"/>
              </a:ext>
            </a:extLst>
          </p:cNvPr>
          <p:cNvSpPr/>
          <p:nvPr/>
        </p:nvSpPr>
        <p:spPr>
          <a:xfrm>
            <a:off x="3277609" y="4702520"/>
            <a:ext cx="381000" cy="355600"/>
          </a:xfrm>
          <a:prstGeom prst="roundRect">
            <a:avLst/>
          </a:prstGeom>
          <a:solidFill>
            <a:srgbClr val="C039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Rectangle: Rounded Corners 32">
            <a:extLst>
              <a:ext uri="{FF2B5EF4-FFF2-40B4-BE49-F238E27FC236}">
                <a16:creationId xmlns:a16="http://schemas.microsoft.com/office/drawing/2014/main" id="{FE9DDF91-6826-429E-88E6-867E9D9B79C1}"/>
              </a:ext>
            </a:extLst>
          </p:cNvPr>
          <p:cNvSpPr/>
          <p:nvPr/>
        </p:nvSpPr>
        <p:spPr>
          <a:xfrm>
            <a:off x="8022329" y="3280780"/>
            <a:ext cx="381000" cy="355600"/>
          </a:xfrm>
          <a:prstGeom prst="roundRect">
            <a:avLst/>
          </a:prstGeom>
          <a:solidFill>
            <a:srgbClr val="2E6DB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Rectangle: Rounded Corners 31">
            <a:extLst>
              <a:ext uri="{FF2B5EF4-FFF2-40B4-BE49-F238E27FC236}">
                <a16:creationId xmlns:a16="http://schemas.microsoft.com/office/drawing/2014/main" id="{B7BD249D-599C-42CE-8CBD-BDEE8680FE9B}"/>
              </a:ext>
            </a:extLst>
          </p:cNvPr>
          <p:cNvSpPr/>
          <p:nvPr/>
        </p:nvSpPr>
        <p:spPr>
          <a:xfrm>
            <a:off x="7344511" y="3280780"/>
            <a:ext cx="381000" cy="355600"/>
          </a:xfrm>
          <a:prstGeom prst="roundRect">
            <a:avLst/>
          </a:prstGeom>
          <a:solidFill>
            <a:srgbClr val="2E6DB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Rectangle: Rounded Corners 30">
            <a:extLst>
              <a:ext uri="{FF2B5EF4-FFF2-40B4-BE49-F238E27FC236}">
                <a16:creationId xmlns:a16="http://schemas.microsoft.com/office/drawing/2014/main" id="{3895AAFC-79A9-44D7-B404-C10728EF0211}"/>
              </a:ext>
            </a:extLst>
          </p:cNvPr>
          <p:cNvSpPr/>
          <p:nvPr/>
        </p:nvSpPr>
        <p:spPr>
          <a:xfrm>
            <a:off x="6666694" y="3280780"/>
            <a:ext cx="381000" cy="355600"/>
          </a:xfrm>
          <a:prstGeom prst="roundRect">
            <a:avLst/>
          </a:prstGeom>
          <a:solidFill>
            <a:srgbClr val="2E6DB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Rounded Corners 29">
            <a:extLst>
              <a:ext uri="{FF2B5EF4-FFF2-40B4-BE49-F238E27FC236}">
                <a16:creationId xmlns:a16="http://schemas.microsoft.com/office/drawing/2014/main" id="{1B381E3F-B141-4A01-8EB2-BB3716BBC85F}"/>
              </a:ext>
            </a:extLst>
          </p:cNvPr>
          <p:cNvSpPr/>
          <p:nvPr/>
        </p:nvSpPr>
        <p:spPr>
          <a:xfrm>
            <a:off x="5988877" y="3280780"/>
            <a:ext cx="381000" cy="355600"/>
          </a:xfrm>
          <a:prstGeom prst="roundRect">
            <a:avLst/>
          </a:prstGeom>
          <a:solidFill>
            <a:srgbClr val="2E6DB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Rectangle: Rounded Corners 28">
            <a:extLst>
              <a:ext uri="{FF2B5EF4-FFF2-40B4-BE49-F238E27FC236}">
                <a16:creationId xmlns:a16="http://schemas.microsoft.com/office/drawing/2014/main" id="{DAB44EFD-7075-486D-9B3F-47EE88A57210}"/>
              </a:ext>
            </a:extLst>
          </p:cNvPr>
          <p:cNvSpPr/>
          <p:nvPr/>
        </p:nvSpPr>
        <p:spPr>
          <a:xfrm>
            <a:off x="5311060" y="3280780"/>
            <a:ext cx="381000" cy="355600"/>
          </a:xfrm>
          <a:prstGeom prst="roundRect">
            <a:avLst/>
          </a:prstGeom>
          <a:solidFill>
            <a:srgbClr val="2E6DB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Rectangle: Rounded Corners 27">
            <a:extLst>
              <a:ext uri="{FF2B5EF4-FFF2-40B4-BE49-F238E27FC236}">
                <a16:creationId xmlns:a16="http://schemas.microsoft.com/office/drawing/2014/main" id="{D695D451-A33C-4594-8715-3E85A99A46B7}"/>
              </a:ext>
            </a:extLst>
          </p:cNvPr>
          <p:cNvSpPr/>
          <p:nvPr/>
        </p:nvSpPr>
        <p:spPr>
          <a:xfrm>
            <a:off x="4633243" y="3280780"/>
            <a:ext cx="381000" cy="355600"/>
          </a:xfrm>
          <a:prstGeom prst="roundRect">
            <a:avLst/>
          </a:prstGeom>
          <a:solidFill>
            <a:srgbClr val="2E6DB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Rounded Corners 26">
            <a:extLst>
              <a:ext uri="{FF2B5EF4-FFF2-40B4-BE49-F238E27FC236}">
                <a16:creationId xmlns:a16="http://schemas.microsoft.com/office/drawing/2014/main" id="{12652428-0370-489E-B517-73222C086697}"/>
              </a:ext>
            </a:extLst>
          </p:cNvPr>
          <p:cNvSpPr/>
          <p:nvPr/>
        </p:nvSpPr>
        <p:spPr>
          <a:xfrm>
            <a:off x="3955426" y="3280780"/>
            <a:ext cx="381000" cy="355600"/>
          </a:xfrm>
          <a:prstGeom prst="roundRect">
            <a:avLst/>
          </a:prstGeom>
          <a:solidFill>
            <a:srgbClr val="2E6DB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Rounded Corners 25">
            <a:extLst>
              <a:ext uri="{FF2B5EF4-FFF2-40B4-BE49-F238E27FC236}">
                <a16:creationId xmlns:a16="http://schemas.microsoft.com/office/drawing/2014/main" id="{BFE57ED8-496A-478E-AC31-8F12290C7BA1}"/>
              </a:ext>
            </a:extLst>
          </p:cNvPr>
          <p:cNvSpPr/>
          <p:nvPr/>
        </p:nvSpPr>
        <p:spPr>
          <a:xfrm>
            <a:off x="3277609" y="3280780"/>
            <a:ext cx="381000" cy="355600"/>
          </a:xfrm>
          <a:prstGeom prst="roundRect">
            <a:avLst/>
          </a:prstGeom>
          <a:solidFill>
            <a:srgbClr val="2E6DB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Rounded Corners 24">
            <a:extLst>
              <a:ext uri="{FF2B5EF4-FFF2-40B4-BE49-F238E27FC236}">
                <a16:creationId xmlns:a16="http://schemas.microsoft.com/office/drawing/2014/main" id="{45DFBD7B-2AA9-41E0-8D0C-83AD340430D0}"/>
              </a:ext>
            </a:extLst>
          </p:cNvPr>
          <p:cNvSpPr/>
          <p:nvPr/>
        </p:nvSpPr>
        <p:spPr>
          <a:xfrm>
            <a:off x="8022329" y="1791128"/>
            <a:ext cx="381000" cy="355600"/>
          </a:xfrm>
          <a:prstGeom prst="roundRect">
            <a:avLst/>
          </a:prstGeom>
          <a:solidFill>
            <a:srgbClr val="E6A7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Rounded Corners 23">
            <a:extLst>
              <a:ext uri="{FF2B5EF4-FFF2-40B4-BE49-F238E27FC236}">
                <a16:creationId xmlns:a16="http://schemas.microsoft.com/office/drawing/2014/main" id="{467F9F74-2749-47D1-A3B9-EC146FC42BBB}"/>
              </a:ext>
            </a:extLst>
          </p:cNvPr>
          <p:cNvSpPr/>
          <p:nvPr/>
        </p:nvSpPr>
        <p:spPr>
          <a:xfrm>
            <a:off x="7344511" y="1791128"/>
            <a:ext cx="381000" cy="355600"/>
          </a:xfrm>
          <a:prstGeom prst="roundRect">
            <a:avLst/>
          </a:prstGeom>
          <a:solidFill>
            <a:srgbClr val="E6A7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ectangle: Rounded Corners 22">
            <a:extLst>
              <a:ext uri="{FF2B5EF4-FFF2-40B4-BE49-F238E27FC236}">
                <a16:creationId xmlns:a16="http://schemas.microsoft.com/office/drawing/2014/main" id="{00777852-8312-4C93-ABFD-29F7D2FD71D2}"/>
              </a:ext>
            </a:extLst>
          </p:cNvPr>
          <p:cNvSpPr/>
          <p:nvPr/>
        </p:nvSpPr>
        <p:spPr>
          <a:xfrm>
            <a:off x="6666694" y="1791128"/>
            <a:ext cx="381000" cy="355600"/>
          </a:xfrm>
          <a:prstGeom prst="roundRect">
            <a:avLst/>
          </a:prstGeom>
          <a:solidFill>
            <a:srgbClr val="E6A7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Rounded Corners 21">
            <a:extLst>
              <a:ext uri="{FF2B5EF4-FFF2-40B4-BE49-F238E27FC236}">
                <a16:creationId xmlns:a16="http://schemas.microsoft.com/office/drawing/2014/main" id="{062D04DE-81DA-4344-8BE2-078AB7262E28}"/>
              </a:ext>
            </a:extLst>
          </p:cNvPr>
          <p:cNvSpPr/>
          <p:nvPr/>
        </p:nvSpPr>
        <p:spPr>
          <a:xfrm>
            <a:off x="5988877" y="1791128"/>
            <a:ext cx="381000" cy="355600"/>
          </a:xfrm>
          <a:prstGeom prst="roundRect">
            <a:avLst/>
          </a:prstGeom>
          <a:solidFill>
            <a:srgbClr val="E6A7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Rounded Corners 17">
            <a:extLst>
              <a:ext uri="{FF2B5EF4-FFF2-40B4-BE49-F238E27FC236}">
                <a16:creationId xmlns:a16="http://schemas.microsoft.com/office/drawing/2014/main" id="{F04508B7-B4A2-4AEC-899D-FEF852926316}"/>
              </a:ext>
            </a:extLst>
          </p:cNvPr>
          <p:cNvSpPr/>
          <p:nvPr/>
        </p:nvSpPr>
        <p:spPr>
          <a:xfrm>
            <a:off x="5311060" y="1791128"/>
            <a:ext cx="381000" cy="355600"/>
          </a:xfrm>
          <a:prstGeom prst="roundRect">
            <a:avLst/>
          </a:prstGeom>
          <a:solidFill>
            <a:srgbClr val="E6A7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Rounded Corners 14">
            <a:extLst>
              <a:ext uri="{FF2B5EF4-FFF2-40B4-BE49-F238E27FC236}">
                <a16:creationId xmlns:a16="http://schemas.microsoft.com/office/drawing/2014/main" id="{7498E1F9-D7C3-46DB-B8B9-9EBF16824830}"/>
              </a:ext>
            </a:extLst>
          </p:cNvPr>
          <p:cNvSpPr/>
          <p:nvPr/>
        </p:nvSpPr>
        <p:spPr>
          <a:xfrm>
            <a:off x="4633243" y="1791128"/>
            <a:ext cx="381000" cy="355600"/>
          </a:xfrm>
          <a:prstGeom prst="roundRect">
            <a:avLst/>
          </a:prstGeom>
          <a:solidFill>
            <a:srgbClr val="E6A7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Rounded Corners 13">
            <a:extLst>
              <a:ext uri="{FF2B5EF4-FFF2-40B4-BE49-F238E27FC236}">
                <a16:creationId xmlns:a16="http://schemas.microsoft.com/office/drawing/2014/main" id="{84977058-8923-4D7F-A728-AE6E24C716A5}"/>
              </a:ext>
            </a:extLst>
          </p:cNvPr>
          <p:cNvSpPr/>
          <p:nvPr/>
        </p:nvSpPr>
        <p:spPr>
          <a:xfrm>
            <a:off x="3955426" y="1791128"/>
            <a:ext cx="381000" cy="355600"/>
          </a:xfrm>
          <a:prstGeom prst="roundRect">
            <a:avLst/>
          </a:prstGeom>
          <a:solidFill>
            <a:srgbClr val="E6A7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Rounded Corners 12">
            <a:extLst>
              <a:ext uri="{FF2B5EF4-FFF2-40B4-BE49-F238E27FC236}">
                <a16:creationId xmlns:a16="http://schemas.microsoft.com/office/drawing/2014/main" id="{4BCC3AE3-DE07-4449-BADE-6965248D74F4}"/>
              </a:ext>
            </a:extLst>
          </p:cNvPr>
          <p:cNvSpPr/>
          <p:nvPr/>
        </p:nvSpPr>
        <p:spPr>
          <a:xfrm>
            <a:off x="3277609" y="1791128"/>
            <a:ext cx="381000" cy="355600"/>
          </a:xfrm>
          <a:prstGeom prst="roundRect">
            <a:avLst/>
          </a:prstGeom>
          <a:solidFill>
            <a:srgbClr val="E6A7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3F2EF076-E774-D086-82BE-E021A8F4E390}"/>
              </a:ext>
            </a:extLst>
          </p:cNvPr>
          <p:cNvSpPr>
            <a:spLocks noGrp="1"/>
          </p:cNvSpPr>
          <p:nvPr>
            <p:ph type="title"/>
          </p:nvPr>
        </p:nvSpPr>
        <p:spPr/>
        <p:txBody>
          <a:bodyPr>
            <a:normAutofit/>
          </a:bodyPr>
          <a:lstStyle/>
          <a:p>
            <a:r>
              <a:rPr lang="en-US" sz="3600" b="1" dirty="0">
                <a:latin typeface="Calibri"/>
                <a:ea typeface="Calibri"/>
                <a:cs typeface="Calibri"/>
              </a:rPr>
              <a:t>Key Building Blocks</a:t>
            </a:r>
          </a:p>
        </p:txBody>
      </p:sp>
      <p:sp>
        <p:nvSpPr>
          <p:cNvPr id="19" name="Text 14">
            <a:extLst>
              <a:ext uri="{FF2B5EF4-FFF2-40B4-BE49-F238E27FC236}">
                <a16:creationId xmlns:a16="http://schemas.microsoft.com/office/drawing/2014/main" id="{58C115F9-91CB-BABC-CF09-E8696329A17C}"/>
              </a:ext>
            </a:extLst>
          </p:cNvPr>
          <p:cNvSpPr/>
          <p:nvPr/>
        </p:nvSpPr>
        <p:spPr>
          <a:xfrm>
            <a:off x="957406" y="5105191"/>
            <a:ext cx="5486400" cy="670560"/>
          </a:xfrm>
          <a:prstGeom prst="rect">
            <a:avLst/>
          </a:prstGeom>
          <a:noFill/>
          <a:ln/>
        </p:spPr>
        <p:txBody>
          <a:bodyPr wrap="square" lIns="0" tIns="0" rIns="0" bIns="0" rtlCol="0" anchor="ctr"/>
          <a:lstStyle/>
          <a:p>
            <a:pPr algn="ctr"/>
            <a:endParaRPr lang="en-US" sz="1867" dirty="0"/>
          </a:p>
        </p:txBody>
      </p:sp>
      <p:sp>
        <p:nvSpPr>
          <p:cNvPr id="4" name="Shape 4">
            <a:extLst>
              <a:ext uri="{FF2B5EF4-FFF2-40B4-BE49-F238E27FC236}">
                <a16:creationId xmlns:a16="http://schemas.microsoft.com/office/drawing/2014/main" id="{BD6A8BC6-C9BC-27CB-2D0A-9CC72094E5BF}"/>
              </a:ext>
            </a:extLst>
          </p:cNvPr>
          <p:cNvSpPr/>
          <p:nvPr/>
        </p:nvSpPr>
        <p:spPr>
          <a:xfrm>
            <a:off x="3036309" y="1968928"/>
            <a:ext cx="5608320" cy="914400"/>
          </a:xfrm>
          <a:prstGeom prst="rect">
            <a:avLst/>
          </a:prstGeom>
          <a:solidFill>
            <a:srgbClr val="FEF6DE"/>
          </a:solidFill>
          <a:ln w="25400" cmpd="sng">
            <a:solidFill>
              <a:srgbClr val="E6A700"/>
            </a:solidFill>
            <a:prstDash val="solid"/>
            <a:extLst>
              <a:ext uri="{C807C97D-BFC1-408E-A445-0C87EB9F89A2}">
                <ask:lineSketchStyleProps xmlns:ask="http://schemas.microsoft.com/office/drawing/2018/sketchyshapes" sd="1219033472">
                  <a:custGeom>
                    <a:avLst/>
                    <a:gdLst>
                      <a:gd name="csX0" fmla="*/ 0 w 5608320"/>
                      <a:gd name="csY0" fmla="*/ 0 h 1097280"/>
                      <a:gd name="csX1" fmla="*/ 735313 w 5608320"/>
                      <a:gd name="csY1" fmla="*/ 0 h 1097280"/>
                      <a:gd name="csX2" fmla="*/ 1414543 w 5608320"/>
                      <a:gd name="csY2" fmla="*/ 0 h 1097280"/>
                      <a:gd name="csX3" fmla="*/ 2037690 w 5608320"/>
                      <a:gd name="csY3" fmla="*/ 0 h 1097280"/>
                      <a:gd name="csX4" fmla="*/ 2660836 w 5608320"/>
                      <a:gd name="csY4" fmla="*/ 0 h 1097280"/>
                      <a:gd name="csX5" fmla="*/ 3396149 w 5608320"/>
                      <a:gd name="csY5" fmla="*/ 0 h 1097280"/>
                      <a:gd name="csX6" fmla="*/ 4075379 w 5608320"/>
                      <a:gd name="csY6" fmla="*/ 0 h 1097280"/>
                      <a:gd name="csX7" fmla="*/ 4530276 w 5608320"/>
                      <a:gd name="csY7" fmla="*/ 0 h 1097280"/>
                      <a:gd name="csX8" fmla="*/ 5608320 w 5608320"/>
                      <a:gd name="csY8" fmla="*/ 0 h 1097280"/>
                      <a:gd name="csX9" fmla="*/ 5608320 w 5608320"/>
                      <a:gd name="csY9" fmla="*/ 570586 h 1097280"/>
                      <a:gd name="csX10" fmla="*/ 5608320 w 5608320"/>
                      <a:gd name="csY10" fmla="*/ 1097280 h 1097280"/>
                      <a:gd name="csX11" fmla="*/ 5097340 w 5608320"/>
                      <a:gd name="csY11" fmla="*/ 1097280 h 1097280"/>
                      <a:gd name="csX12" fmla="*/ 4362027 w 5608320"/>
                      <a:gd name="csY12" fmla="*/ 1097280 h 1097280"/>
                      <a:gd name="csX13" fmla="*/ 3794963 w 5608320"/>
                      <a:gd name="csY13" fmla="*/ 1097280 h 1097280"/>
                      <a:gd name="csX14" fmla="*/ 3059650 w 5608320"/>
                      <a:gd name="csY14" fmla="*/ 1097280 h 1097280"/>
                      <a:gd name="csX15" fmla="*/ 2548670 w 5608320"/>
                      <a:gd name="csY15" fmla="*/ 1097280 h 1097280"/>
                      <a:gd name="csX16" fmla="*/ 2093773 w 5608320"/>
                      <a:gd name="csY16" fmla="*/ 1097280 h 1097280"/>
                      <a:gd name="csX17" fmla="*/ 1638876 w 5608320"/>
                      <a:gd name="csY17" fmla="*/ 1097280 h 1097280"/>
                      <a:gd name="csX18" fmla="*/ 959646 w 5608320"/>
                      <a:gd name="csY18" fmla="*/ 1097280 h 1097280"/>
                      <a:gd name="csX19" fmla="*/ 0 w 5608320"/>
                      <a:gd name="csY19" fmla="*/ 1097280 h 1097280"/>
                      <a:gd name="csX20" fmla="*/ 0 w 5608320"/>
                      <a:gd name="csY20" fmla="*/ 548640 h 1097280"/>
                      <a:gd name="csX21" fmla="*/ 0 w 5608320"/>
                      <a:gd name="csY21" fmla="*/ 0 h 10972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608320" h="1097280" fill="none" extrusionOk="0">
                        <a:moveTo>
                          <a:pt x="0" y="0"/>
                        </a:moveTo>
                        <a:cubicBezTo>
                          <a:pt x="258099" y="9600"/>
                          <a:pt x="532151" y="-7176"/>
                          <a:pt x="735313" y="0"/>
                        </a:cubicBezTo>
                        <a:cubicBezTo>
                          <a:pt x="938475" y="7176"/>
                          <a:pt x="1109802" y="18251"/>
                          <a:pt x="1414543" y="0"/>
                        </a:cubicBezTo>
                        <a:cubicBezTo>
                          <a:pt x="1719284" y="-18251"/>
                          <a:pt x="1779825" y="25417"/>
                          <a:pt x="2037690" y="0"/>
                        </a:cubicBezTo>
                        <a:cubicBezTo>
                          <a:pt x="2295555" y="-25417"/>
                          <a:pt x="2377184" y="-27358"/>
                          <a:pt x="2660836" y="0"/>
                        </a:cubicBezTo>
                        <a:cubicBezTo>
                          <a:pt x="2944488" y="27358"/>
                          <a:pt x="3134718" y="-27829"/>
                          <a:pt x="3396149" y="0"/>
                        </a:cubicBezTo>
                        <a:cubicBezTo>
                          <a:pt x="3657580" y="27829"/>
                          <a:pt x="3858463" y="25908"/>
                          <a:pt x="4075379" y="0"/>
                        </a:cubicBezTo>
                        <a:cubicBezTo>
                          <a:pt x="4292295" y="-25908"/>
                          <a:pt x="4431290" y="9457"/>
                          <a:pt x="4530276" y="0"/>
                        </a:cubicBezTo>
                        <a:cubicBezTo>
                          <a:pt x="4629262" y="-9457"/>
                          <a:pt x="5317213" y="-17608"/>
                          <a:pt x="5608320" y="0"/>
                        </a:cubicBezTo>
                        <a:cubicBezTo>
                          <a:pt x="5601920" y="246156"/>
                          <a:pt x="5613013" y="327312"/>
                          <a:pt x="5608320" y="570586"/>
                        </a:cubicBezTo>
                        <a:cubicBezTo>
                          <a:pt x="5603627" y="813860"/>
                          <a:pt x="5604658" y="887414"/>
                          <a:pt x="5608320" y="1097280"/>
                        </a:cubicBezTo>
                        <a:cubicBezTo>
                          <a:pt x="5398765" y="1099991"/>
                          <a:pt x="5340465" y="1077220"/>
                          <a:pt x="5097340" y="1097280"/>
                        </a:cubicBezTo>
                        <a:cubicBezTo>
                          <a:pt x="4854215" y="1117340"/>
                          <a:pt x="4522294" y="1073329"/>
                          <a:pt x="4362027" y="1097280"/>
                        </a:cubicBezTo>
                        <a:cubicBezTo>
                          <a:pt x="4201760" y="1121231"/>
                          <a:pt x="3970503" y="1112957"/>
                          <a:pt x="3794963" y="1097280"/>
                        </a:cubicBezTo>
                        <a:cubicBezTo>
                          <a:pt x="3619423" y="1081603"/>
                          <a:pt x="3397089" y="1113593"/>
                          <a:pt x="3059650" y="1097280"/>
                        </a:cubicBezTo>
                        <a:cubicBezTo>
                          <a:pt x="2722211" y="1080967"/>
                          <a:pt x="2781860" y="1077452"/>
                          <a:pt x="2548670" y="1097280"/>
                        </a:cubicBezTo>
                        <a:cubicBezTo>
                          <a:pt x="2315480" y="1117108"/>
                          <a:pt x="2243758" y="1096897"/>
                          <a:pt x="2093773" y="1097280"/>
                        </a:cubicBezTo>
                        <a:cubicBezTo>
                          <a:pt x="1943788" y="1097663"/>
                          <a:pt x="1822869" y="1074743"/>
                          <a:pt x="1638876" y="1097280"/>
                        </a:cubicBezTo>
                        <a:cubicBezTo>
                          <a:pt x="1454883" y="1119817"/>
                          <a:pt x="1167618" y="1072451"/>
                          <a:pt x="959646" y="1097280"/>
                        </a:cubicBezTo>
                        <a:cubicBezTo>
                          <a:pt x="751674" y="1122110"/>
                          <a:pt x="418338" y="1093810"/>
                          <a:pt x="0" y="1097280"/>
                        </a:cubicBezTo>
                        <a:cubicBezTo>
                          <a:pt x="-21385" y="971277"/>
                          <a:pt x="22515" y="768760"/>
                          <a:pt x="0" y="548640"/>
                        </a:cubicBezTo>
                        <a:cubicBezTo>
                          <a:pt x="-22515" y="328520"/>
                          <a:pt x="21485" y="188270"/>
                          <a:pt x="0" y="0"/>
                        </a:cubicBezTo>
                        <a:close/>
                      </a:path>
                      <a:path w="5608320" h="1097280" stroke="0" extrusionOk="0">
                        <a:moveTo>
                          <a:pt x="0" y="0"/>
                        </a:moveTo>
                        <a:cubicBezTo>
                          <a:pt x="202711" y="-2764"/>
                          <a:pt x="449055" y="4571"/>
                          <a:pt x="567063" y="0"/>
                        </a:cubicBezTo>
                        <a:cubicBezTo>
                          <a:pt x="685071" y="-4571"/>
                          <a:pt x="881293" y="17411"/>
                          <a:pt x="1021961" y="0"/>
                        </a:cubicBezTo>
                        <a:cubicBezTo>
                          <a:pt x="1162629" y="-17411"/>
                          <a:pt x="1397006" y="-16466"/>
                          <a:pt x="1757274" y="0"/>
                        </a:cubicBezTo>
                        <a:cubicBezTo>
                          <a:pt x="2117542" y="16466"/>
                          <a:pt x="2081970" y="675"/>
                          <a:pt x="2324337" y="0"/>
                        </a:cubicBezTo>
                        <a:cubicBezTo>
                          <a:pt x="2566704" y="-675"/>
                          <a:pt x="2753828" y="15036"/>
                          <a:pt x="2891401" y="0"/>
                        </a:cubicBezTo>
                        <a:cubicBezTo>
                          <a:pt x="3028974" y="-15036"/>
                          <a:pt x="3410886" y="16778"/>
                          <a:pt x="3626714" y="0"/>
                        </a:cubicBezTo>
                        <a:cubicBezTo>
                          <a:pt x="3842542" y="-16778"/>
                          <a:pt x="3915300" y="-13064"/>
                          <a:pt x="4137694" y="0"/>
                        </a:cubicBezTo>
                        <a:cubicBezTo>
                          <a:pt x="4360088" y="13064"/>
                          <a:pt x="4677644" y="34628"/>
                          <a:pt x="4873007" y="0"/>
                        </a:cubicBezTo>
                        <a:cubicBezTo>
                          <a:pt x="5068370" y="-34628"/>
                          <a:pt x="5378820" y="25013"/>
                          <a:pt x="5608320" y="0"/>
                        </a:cubicBezTo>
                        <a:cubicBezTo>
                          <a:pt x="5629691" y="191231"/>
                          <a:pt x="5616381" y="407375"/>
                          <a:pt x="5608320" y="548640"/>
                        </a:cubicBezTo>
                        <a:cubicBezTo>
                          <a:pt x="5600259" y="689905"/>
                          <a:pt x="5590893" y="887844"/>
                          <a:pt x="5608320" y="1097280"/>
                        </a:cubicBezTo>
                        <a:cubicBezTo>
                          <a:pt x="5295330" y="1081566"/>
                          <a:pt x="5168857" y="1078597"/>
                          <a:pt x="4929090" y="1097280"/>
                        </a:cubicBezTo>
                        <a:cubicBezTo>
                          <a:pt x="4689323" y="1115964"/>
                          <a:pt x="4457223" y="1099923"/>
                          <a:pt x="4193777" y="1097280"/>
                        </a:cubicBezTo>
                        <a:cubicBezTo>
                          <a:pt x="3930331" y="1094637"/>
                          <a:pt x="3719409" y="1070694"/>
                          <a:pt x="3458464" y="1097280"/>
                        </a:cubicBezTo>
                        <a:cubicBezTo>
                          <a:pt x="3197519" y="1123866"/>
                          <a:pt x="3094084" y="1090010"/>
                          <a:pt x="2947484" y="1097280"/>
                        </a:cubicBezTo>
                        <a:cubicBezTo>
                          <a:pt x="2800884" y="1104550"/>
                          <a:pt x="2513742" y="1116273"/>
                          <a:pt x="2324337" y="1097280"/>
                        </a:cubicBezTo>
                        <a:cubicBezTo>
                          <a:pt x="2134932" y="1078287"/>
                          <a:pt x="1945872" y="1104678"/>
                          <a:pt x="1589024" y="1097280"/>
                        </a:cubicBezTo>
                        <a:cubicBezTo>
                          <a:pt x="1232176" y="1089882"/>
                          <a:pt x="1260117" y="1104097"/>
                          <a:pt x="965877" y="1097280"/>
                        </a:cubicBezTo>
                        <a:cubicBezTo>
                          <a:pt x="671637" y="1090463"/>
                          <a:pt x="337893" y="1077113"/>
                          <a:pt x="0" y="1097280"/>
                        </a:cubicBezTo>
                        <a:cubicBezTo>
                          <a:pt x="-26203" y="912905"/>
                          <a:pt x="-4695" y="793188"/>
                          <a:pt x="0" y="570586"/>
                        </a:cubicBezTo>
                        <a:cubicBezTo>
                          <a:pt x="4695" y="347984"/>
                          <a:pt x="12442" y="243753"/>
                          <a:pt x="0" y="0"/>
                        </a:cubicBezTo>
                        <a:close/>
                      </a:path>
                    </a:pathLst>
                  </a:custGeom>
                  <ask:type>
                    <ask:lineSketchNone/>
                  </ask:type>
                </ask:lineSketchStyleProps>
              </a:ext>
            </a:extLst>
          </a:ln>
        </p:spPr>
        <p:txBody>
          <a:bodyPr/>
          <a:lstStyle/>
          <a:p>
            <a:endParaRPr lang="en-US" sz="2400" dirty="0"/>
          </a:p>
        </p:txBody>
      </p:sp>
      <p:pic>
        <p:nvPicPr>
          <p:cNvPr id="5" name="Image 0" descr="preencoded.png">
            <a:extLst>
              <a:ext uri="{FF2B5EF4-FFF2-40B4-BE49-F238E27FC236}">
                <a16:creationId xmlns:a16="http://schemas.microsoft.com/office/drawing/2014/main" id="{B59BE88B-9C06-EFA9-5550-B1B51A68B78B}"/>
              </a:ext>
            </a:extLst>
          </p:cNvPr>
          <p:cNvPicPr>
            <a:picLocks noChangeAspect="1"/>
          </p:cNvPicPr>
          <p:nvPr/>
        </p:nvPicPr>
        <p:blipFill>
          <a:blip r:embed="rId3"/>
          <a:stretch>
            <a:fillRect/>
          </a:stretch>
        </p:blipFill>
        <p:spPr>
          <a:xfrm>
            <a:off x="3239205" y="2106353"/>
            <a:ext cx="530834" cy="530834"/>
          </a:xfrm>
          <a:prstGeom prst="rect">
            <a:avLst/>
          </a:prstGeom>
        </p:spPr>
      </p:pic>
      <p:sp>
        <p:nvSpPr>
          <p:cNvPr id="6" name="Text 5">
            <a:extLst>
              <a:ext uri="{FF2B5EF4-FFF2-40B4-BE49-F238E27FC236}">
                <a16:creationId xmlns:a16="http://schemas.microsoft.com/office/drawing/2014/main" id="{9D4805D9-C5B0-AB00-E3D7-A09B9205EE19}"/>
              </a:ext>
            </a:extLst>
          </p:cNvPr>
          <p:cNvSpPr/>
          <p:nvPr/>
        </p:nvSpPr>
        <p:spPr>
          <a:xfrm>
            <a:off x="4133589" y="1971929"/>
            <a:ext cx="4267200" cy="463296"/>
          </a:xfrm>
          <a:prstGeom prst="rect">
            <a:avLst/>
          </a:prstGeom>
          <a:noFill/>
          <a:ln/>
        </p:spPr>
        <p:txBody>
          <a:bodyPr wrap="square" lIns="0" tIns="0" rIns="0" bIns="0" rtlCol="0" anchor="ctr"/>
          <a:lstStyle/>
          <a:p>
            <a:r>
              <a:rPr lang="en-US" sz="1867" b="1" dirty="0">
                <a:solidFill>
                  <a:schemeClr val="bg2">
                    <a:lumMod val="25000"/>
                  </a:schemeClr>
                </a:solidFill>
                <a:latin typeface="Calibri" pitchFamily="34" charset="0"/>
                <a:ea typeface="Calibri" pitchFamily="34" charset="-122"/>
                <a:cs typeface="Calibri" pitchFamily="34" charset="-120"/>
              </a:rPr>
              <a:t>Path-Aware Networking, e.g., SCION</a:t>
            </a:r>
            <a:endParaRPr lang="en-US" sz="1867" dirty="0">
              <a:solidFill>
                <a:schemeClr val="bg2">
                  <a:lumMod val="25000"/>
                </a:schemeClr>
              </a:solidFill>
            </a:endParaRPr>
          </a:p>
        </p:txBody>
      </p:sp>
      <p:sp>
        <p:nvSpPr>
          <p:cNvPr id="7" name="Text 6">
            <a:extLst>
              <a:ext uri="{FF2B5EF4-FFF2-40B4-BE49-F238E27FC236}">
                <a16:creationId xmlns:a16="http://schemas.microsoft.com/office/drawing/2014/main" id="{7880CEC7-6E00-3978-BCFF-C23BC6F5A292}"/>
              </a:ext>
            </a:extLst>
          </p:cNvPr>
          <p:cNvSpPr/>
          <p:nvPr/>
        </p:nvSpPr>
        <p:spPr>
          <a:xfrm>
            <a:off x="4133589" y="2426860"/>
            <a:ext cx="4511040" cy="372965"/>
          </a:xfrm>
          <a:prstGeom prst="rect">
            <a:avLst/>
          </a:prstGeom>
          <a:noFill/>
          <a:ln/>
        </p:spPr>
        <p:txBody>
          <a:bodyPr wrap="square" lIns="0" tIns="0" rIns="0" bIns="0" rtlCol="0" anchor="ctr"/>
          <a:lstStyle/>
          <a:p>
            <a:r>
              <a:rPr lang="en-US" sz="1533" dirty="0">
                <a:solidFill>
                  <a:schemeClr val="bg2">
                    <a:lumMod val="25000"/>
                  </a:schemeClr>
                </a:solidFill>
                <a:latin typeface="Calibri" pitchFamily="34" charset="0"/>
                <a:ea typeface="Calibri" pitchFamily="34" charset="-122"/>
                <a:cs typeface="Calibri" pitchFamily="34" charset="-120"/>
              </a:rPr>
              <a:t>Select paths through mutually trusted ASes.</a:t>
            </a:r>
            <a:endParaRPr lang="en-US" sz="1533" dirty="0">
              <a:solidFill>
                <a:schemeClr val="bg2">
                  <a:lumMod val="25000"/>
                </a:schemeClr>
              </a:solidFill>
            </a:endParaRPr>
          </a:p>
        </p:txBody>
      </p:sp>
      <p:sp>
        <p:nvSpPr>
          <p:cNvPr id="8" name="Shape 7">
            <a:extLst>
              <a:ext uri="{FF2B5EF4-FFF2-40B4-BE49-F238E27FC236}">
                <a16:creationId xmlns:a16="http://schemas.microsoft.com/office/drawing/2014/main" id="{7A78B94D-4138-3A4A-ABCE-43E9C70DDB17}"/>
              </a:ext>
            </a:extLst>
          </p:cNvPr>
          <p:cNvSpPr/>
          <p:nvPr/>
        </p:nvSpPr>
        <p:spPr>
          <a:xfrm>
            <a:off x="3036309" y="3458581"/>
            <a:ext cx="5608320" cy="914400"/>
          </a:xfrm>
          <a:prstGeom prst="rect">
            <a:avLst/>
          </a:prstGeom>
          <a:solidFill>
            <a:srgbClr val="EAF1FA"/>
          </a:solidFill>
          <a:ln w="25400" cmpd="sng">
            <a:solidFill>
              <a:srgbClr val="2E6DB4"/>
            </a:solidFill>
            <a:prstDash val="solid"/>
            <a:extLst>
              <a:ext uri="{C807C97D-BFC1-408E-A445-0C87EB9F89A2}">
                <ask:lineSketchStyleProps xmlns:ask="http://schemas.microsoft.com/office/drawing/2018/sketchyshapes">
                  <ask:type>
                    <ask:lineSketchNone/>
                  </ask:type>
                </ask:lineSketchStyleProps>
              </a:ext>
            </a:extLst>
          </a:ln>
        </p:spPr>
        <p:txBody>
          <a:bodyPr/>
          <a:lstStyle/>
          <a:p>
            <a:endParaRPr lang="en-US" sz="2400"/>
          </a:p>
        </p:txBody>
      </p:sp>
      <p:pic>
        <p:nvPicPr>
          <p:cNvPr id="9" name="Image 1" descr="preencoded.png">
            <a:extLst>
              <a:ext uri="{FF2B5EF4-FFF2-40B4-BE49-F238E27FC236}">
                <a16:creationId xmlns:a16="http://schemas.microsoft.com/office/drawing/2014/main" id="{DB869CC2-59FD-0A03-DCA1-0C8BEAE42C79}"/>
              </a:ext>
            </a:extLst>
          </p:cNvPr>
          <p:cNvPicPr>
            <a:picLocks noChangeAspect="1"/>
          </p:cNvPicPr>
          <p:nvPr/>
        </p:nvPicPr>
        <p:blipFill>
          <a:blip r:embed="rId4"/>
          <a:stretch>
            <a:fillRect/>
          </a:stretch>
        </p:blipFill>
        <p:spPr>
          <a:xfrm>
            <a:off x="3280149" y="3651377"/>
            <a:ext cx="530834" cy="530834"/>
          </a:xfrm>
          <a:prstGeom prst="rect">
            <a:avLst/>
          </a:prstGeom>
        </p:spPr>
      </p:pic>
      <p:sp>
        <p:nvSpPr>
          <p:cNvPr id="10" name="Text 8">
            <a:extLst>
              <a:ext uri="{FF2B5EF4-FFF2-40B4-BE49-F238E27FC236}">
                <a16:creationId xmlns:a16="http://schemas.microsoft.com/office/drawing/2014/main" id="{097F719D-857C-BA51-8DD8-2EF302DFB3C4}"/>
              </a:ext>
            </a:extLst>
          </p:cNvPr>
          <p:cNvSpPr/>
          <p:nvPr/>
        </p:nvSpPr>
        <p:spPr>
          <a:xfrm>
            <a:off x="4133589" y="3536645"/>
            <a:ext cx="4267200" cy="355381"/>
          </a:xfrm>
          <a:prstGeom prst="rect">
            <a:avLst/>
          </a:prstGeom>
          <a:noFill/>
          <a:ln/>
        </p:spPr>
        <p:txBody>
          <a:bodyPr wrap="square" lIns="0" tIns="0" rIns="0" bIns="0" rtlCol="0" anchor="ctr"/>
          <a:lstStyle/>
          <a:p>
            <a:r>
              <a:rPr lang="en-US" sz="1867" b="1" dirty="0">
                <a:solidFill>
                  <a:schemeClr val="bg2">
                    <a:lumMod val="25000"/>
                  </a:schemeClr>
                </a:solidFill>
                <a:latin typeface="Calibri" pitchFamily="34" charset="0"/>
                <a:ea typeface="Calibri" pitchFamily="34" charset="-122"/>
                <a:cs typeface="Calibri" pitchFamily="34" charset="-120"/>
              </a:rPr>
              <a:t>Broadcast Authentication, e.g., TESLA</a:t>
            </a:r>
            <a:endParaRPr lang="en-US" sz="1867" dirty="0">
              <a:solidFill>
                <a:schemeClr val="bg2">
                  <a:lumMod val="25000"/>
                </a:schemeClr>
              </a:solidFill>
            </a:endParaRPr>
          </a:p>
        </p:txBody>
      </p:sp>
      <p:sp>
        <p:nvSpPr>
          <p:cNvPr id="11" name="Text 9">
            <a:extLst>
              <a:ext uri="{FF2B5EF4-FFF2-40B4-BE49-F238E27FC236}">
                <a16:creationId xmlns:a16="http://schemas.microsoft.com/office/drawing/2014/main" id="{F0819A98-1A0B-95C9-4771-67CB510A061F}"/>
              </a:ext>
            </a:extLst>
          </p:cNvPr>
          <p:cNvSpPr/>
          <p:nvPr/>
        </p:nvSpPr>
        <p:spPr>
          <a:xfrm>
            <a:off x="4133589" y="3887845"/>
            <a:ext cx="4511040" cy="424805"/>
          </a:xfrm>
          <a:prstGeom prst="rect">
            <a:avLst/>
          </a:prstGeom>
          <a:noFill/>
          <a:ln/>
        </p:spPr>
        <p:txBody>
          <a:bodyPr wrap="square" lIns="0" tIns="0" rIns="0" bIns="0" rtlCol="0" anchor="ctr"/>
          <a:lstStyle/>
          <a:p>
            <a:r>
              <a:rPr lang="en-US" sz="1533" dirty="0">
                <a:solidFill>
                  <a:schemeClr val="bg2">
                    <a:lumMod val="25000"/>
                  </a:schemeClr>
                </a:solidFill>
                <a:latin typeface="Calibri" pitchFamily="34" charset="0"/>
                <a:ea typeface="Calibri" pitchFamily="34" charset="-122"/>
                <a:cs typeface="Calibri" pitchFamily="34" charset="-120"/>
              </a:rPr>
              <a:t>Symmetric MACs: lightweight, no public-key bottleneck.</a:t>
            </a:r>
            <a:endParaRPr lang="en-US" sz="1533" dirty="0">
              <a:solidFill>
                <a:schemeClr val="bg2">
                  <a:lumMod val="25000"/>
                </a:schemeClr>
              </a:solidFill>
            </a:endParaRPr>
          </a:p>
        </p:txBody>
      </p:sp>
      <p:sp>
        <p:nvSpPr>
          <p:cNvPr id="16" name="Shape 10">
            <a:extLst>
              <a:ext uri="{FF2B5EF4-FFF2-40B4-BE49-F238E27FC236}">
                <a16:creationId xmlns:a16="http://schemas.microsoft.com/office/drawing/2014/main" id="{70465D0C-A402-7839-5474-97494EABAA55}"/>
              </a:ext>
            </a:extLst>
          </p:cNvPr>
          <p:cNvSpPr/>
          <p:nvPr/>
        </p:nvSpPr>
        <p:spPr>
          <a:xfrm>
            <a:off x="3036309" y="4880320"/>
            <a:ext cx="5608320" cy="914400"/>
          </a:xfrm>
          <a:prstGeom prst="rect">
            <a:avLst/>
          </a:prstGeom>
          <a:solidFill>
            <a:srgbClr val="FBEAE8"/>
          </a:solidFill>
          <a:ln w="25400" cmpd="sng">
            <a:solidFill>
              <a:srgbClr val="C0392B"/>
            </a:solidFill>
            <a:prstDash val="solid"/>
            <a:extLst>
              <a:ext uri="{C807C97D-BFC1-408E-A445-0C87EB9F89A2}">
                <ask:lineSketchStyleProps xmlns:ask="http://schemas.microsoft.com/office/drawing/2018/sketchyshapes">
                  <ask:type>
                    <ask:lineSketchNone/>
                  </ask:type>
                </ask:lineSketchStyleProps>
              </a:ext>
            </a:extLst>
          </a:ln>
        </p:spPr>
        <p:txBody>
          <a:bodyPr/>
          <a:lstStyle/>
          <a:p>
            <a:endParaRPr lang="en-US" sz="2400"/>
          </a:p>
        </p:txBody>
      </p:sp>
      <p:pic>
        <p:nvPicPr>
          <p:cNvPr id="17" name="Image 2" descr="preencoded.png">
            <a:extLst>
              <a:ext uri="{FF2B5EF4-FFF2-40B4-BE49-F238E27FC236}">
                <a16:creationId xmlns:a16="http://schemas.microsoft.com/office/drawing/2014/main" id="{973556DA-C232-B019-D11B-D13F5CA58402}"/>
              </a:ext>
            </a:extLst>
          </p:cNvPr>
          <p:cNvPicPr>
            <a:picLocks noChangeAspect="1"/>
          </p:cNvPicPr>
          <p:nvPr/>
        </p:nvPicPr>
        <p:blipFill>
          <a:blip r:embed="rId5"/>
          <a:stretch>
            <a:fillRect/>
          </a:stretch>
        </p:blipFill>
        <p:spPr>
          <a:xfrm>
            <a:off x="3280149" y="5055366"/>
            <a:ext cx="530834" cy="530834"/>
          </a:xfrm>
          <a:prstGeom prst="rect">
            <a:avLst/>
          </a:prstGeom>
        </p:spPr>
      </p:pic>
      <p:sp>
        <p:nvSpPr>
          <p:cNvPr id="20" name="Text 11">
            <a:extLst>
              <a:ext uri="{FF2B5EF4-FFF2-40B4-BE49-F238E27FC236}">
                <a16:creationId xmlns:a16="http://schemas.microsoft.com/office/drawing/2014/main" id="{7006856B-E26C-8E4F-AFF8-3554218AB71D}"/>
              </a:ext>
            </a:extLst>
          </p:cNvPr>
          <p:cNvSpPr/>
          <p:nvPr/>
        </p:nvSpPr>
        <p:spPr>
          <a:xfrm>
            <a:off x="4133589" y="4977124"/>
            <a:ext cx="4267200" cy="338562"/>
          </a:xfrm>
          <a:prstGeom prst="rect">
            <a:avLst/>
          </a:prstGeom>
          <a:noFill/>
          <a:ln/>
        </p:spPr>
        <p:txBody>
          <a:bodyPr wrap="square" lIns="0" tIns="0" rIns="0" bIns="0" rtlCol="0" anchor="ctr"/>
          <a:lstStyle/>
          <a:p>
            <a:r>
              <a:rPr lang="en-US" sz="1867" b="1" dirty="0">
                <a:solidFill>
                  <a:schemeClr val="bg2">
                    <a:lumMod val="25000"/>
                  </a:schemeClr>
                </a:solidFill>
                <a:latin typeface="Calibri" pitchFamily="34" charset="0"/>
                <a:ea typeface="Calibri" pitchFamily="34" charset="-122"/>
                <a:cs typeface="Calibri" pitchFamily="34" charset="-120"/>
              </a:rPr>
              <a:t>On-chain Anchoring</a:t>
            </a:r>
            <a:endParaRPr lang="en-US" sz="1867" dirty="0">
              <a:solidFill>
                <a:schemeClr val="bg2">
                  <a:lumMod val="25000"/>
                </a:schemeClr>
              </a:solidFill>
            </a:endParaRPr>
          </a:p>
        </p:txBody>
      </p:sp>
      <p:sp>
        <p:nvSpPr>
          <p:cNvPr id="21" name="Text 12">
            <a:extLst>
              <a:ext uri="{FF2B5EF4-FFF2-40B4-BE49-F238E27FC236}">
                <a16:creationId xmlns:a16="http://schemas.microsoft.com/office/drawing/2014/main" id="{46919E5B-0A86-E380-B875-FC6C1F8E6BDE}"/>
              </a:ext>
            </a:extLst>
          </p:cNvPr>
          <p:cNvSpPr/>
          <p:nvPr/>
        </p:nvSpPr>
        <p:spPr>
          <a:xfrm>
            <a:off x="4133589" y="5300944"/>
            <a:ext cx="4389120" cy="355600"/>
          </a:xfrm>
          <a:prstGeom prst="rect">
            <a:avLst/>
          </a:prstGeom>
          <a:noFill/>
          <a:ln/>
        </p:spPr>
        <p:txBody>
          <a:bodyPr wrap="square" lIns="0" tIns="0" rIns="0" bIns="0" rtlCol="0" anchor="ctr"/>
          <a:lstStyle/>
          <a:p>
            <a:r>
              <a:rPr lang="en-US" sz="1533" dirty="0">
                <a:solidFill>
                  <a:schemeClr val="bg2">
                    <a:lumMod val="25000"/>
                  </a:schemeClr>
                </a:solidFill>
                <a:latin typeface="Calibri" pitchFamily="34" charset="0"/>
                <a:ea typeface="Calibri" pitchFamily="34" charset="-122"/>
                <a:cs typeface="Calibri" pitchFamily="34" charset="-120"/>
              </a:rPr>
              <a:t>Proofs committed before key release: non-repudiation.</a:t>
            </a:r>
            <a:endParaRPr lang="en-US" sz="1533" dirty="0">
              <a:solidFill>
                <a:schemeClr val="bg2">
                  <a:lumMod val="25000"/>
                </a:schemeClr>
              </a:solidFill>
            </a:endParaRPr>
          </a:p>
        </p:txBody>
      </p:sp>
      <p:pic>
        <p:nvPicPr>
          <p:cNvPr id="12" name="Picture 11">
            <a:extLst>
              <a:ext uri="{FF2B5EF4-FFF2-40B4-BE49-F238E27FC236}">
                <a16:creationId xmlns:a16="http://schemas.microsoft.com/office/drawing/2014/main" id="{47CF019B-7D13-0D7C-DDEF-17204653000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41910" y="1890729"/>
            <a:ext cx="1377474" cy="1377474"/>
          </a:xfrm>
          <a:prstGeom prst="rect">
            <a:avLst/>
          </a:prstGeom>
        </p:spPr>
      </p:pic>
    </p:spTree>
    <p:extLst>
      <p:ext uri="{BB962C8B-B14F-4D97-AF65-F5344CB8AC3E}">
        <p14:creationId xmlns:p14="http://schemas.microsoft.com/office/powerpoint/2010/main" val="2446607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57AD4-2DC7-B01B-5093-C94EF41FE4F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039E0A32-5FA6-553E-7E14-5B0761BD7924}"/>
              </a:ext>
            </a:extLst>
          </p:cNvPr>
          <p:cNvSpPr/>
          <p:nvPr/>
        </p:nvSpPr>
        <p:spPr>
          <a:xfrm>
            <a:off x="487680" y="219456"/>
            <a:ext cx="11216640" cy="707136"/>
          </a:xfrm>
          <a:prstGeom prst="rect">
            <a:avLst/>
          </a:prstGeom>
          <a:noFill/>
          <a:ln/>
        </p:spPr>
        <p:txBody>
          <a:bodyPr wrap="square" lIns="0" tIns="0" rIns="0" bIns="0" rtlCol="0" anchor="ctr"/>
          <a:lstStyle/>
          <a:p>
            <a:pPr defTabSz="1219170"/>
            <a:r>
              <a:rPr lang="en-US" sz="3200" b="1" dirty="0">
                <a:solidFill>
                  <a:schemeClr val="tx2">
                    <a:lumMod val="90000"/>
                    <a:lumOff val="10000"/>
                  </a:schemeClr>
                </a:solidFill>
                <a:latin typeface="Calibri" pitchFamily="34" charset="0"/>
                <a:ea typeface="Calibri" pitchFamily="34" charset="-122"/>
                <a:cs typeface="Calibri" pitchFamily="34" charset="-120"/>
              </a:rPr>
              <a:t>Signet Components</a:t>
            </a:r>
            <a:endParaRPr lang="en-US" sz="3200" dirty="0">
              <a:solidFill>
                <a:schemeClr val="tx2">
                  <a:lumMod val="90000"/>
                  <a:lumOff val="10000"/>
                </a:schemeClr>
              </a:solidFill>
              <a:latin typeface="Calibri" panose="020F0502020204030204"/>
            </a:endParaRPr>
          </a:p>
        </p:txBody>
      </p:sp>
      <p:sp>
        <p:nvSpPr>
          <p:cNvPr id="4" name="Shape 2">
            <a:extLst>
              <a:ext uri="{FF2B5EF4-FFF2-40B4-BE49-F238E27FC236}">
                <a16:creationId xmlns:a16="http://schemas.microsoft.com/office/drawing/2014/main" id="{5FAC379B-413D-CE0A-8442-7CFF0AFA9CD7}"/>
              </a:ext>
            </a:extLst>
          </p:cNvPr>
          <p:cNvSpPr/>
          <p:nvPr/>
        </p:nvSpPr>
        <p:spPr>
          <a:xfrm>
            <a:off x="889444" y="1870125"/>
            <a:ext cx="2324659" cy="3779520"/>
          </a:xfrm>
          <a:prstGeom prst="rect">
            <a:avLst/>
          </a:prstGeom>
          <a:solidFill>
            <a:schemeClr val="bg1">
              <a:lumMod val="95000"/>
            </a:schemeClr>
          </a:solidFill>
          <a:ln w="28575">
            <a:solidFill>
              <a:srgbClr val="22D3EE"/>
            </a:solidFill>
            <a:prstDash val="solid"/>
          </a:ln>
        </p:spPr>
        <p:txBody>
          <a:bodyPr/>
          <a:lstStyle/>
          <a:p>
            <a:pPr defTabSz="1219170"/>
            <a:endParaRPr lang="en-US" sz="2400">
              <a:solidFill>
                <a:prstClr val="black"/>
              </a:solidFill>
              <a:latin typeface="Calibri" panose="020F0502020204030204"/>
            </a:endParaRPr>
          </a:p>
        </p:txBody>
      </p:sp>
      <p:sp>
        <p:nvSpPr>
          <p:cNvPr id="5" name="Shape 3">
            <a:extLst>
              <a:ext uri="{FF2B5EF4-FFF2-40B4-BE49-F238E27FC236}">
                <a16:creationId xmlns:a16="http://schemas.microsoft.com/office/drawing/2014/main" id="{056AAEF3-68D1-0D64-0CDF-61BD92C1FADB}"/>
              </a:ext>
            </a:extLst>
          </p:cNvPr>
          <p:cNvSpPr/>
          <p:nvPr/>
        </p:nvSpPr>
        <p:spPr>
          <a:xfrm>
            <a:off x="889444" y="1870125"/>
            <a:ext cx="2324659" cy="609600"/>
          </a:xfrm>
          <a:prstGeom prst="rect">
            <a:avLst/>
          </a:prstGeom>
          <a:solidFill>
            <a:srgbClr val="22D3EE"/>
          </a:solidFill>
          <a:ln w="12700">
            <a:solidFill>
              <a:srgbClr val="22D3EE"/>
            </a:solidFill>
            <a:prstDash val="solid"/>
          </a:ln>
        </p:spPr>
        <p:txBody>
          <a:bodyPr/>
          <a:lstStyle/>
          <a:p>
            <a:pPr defTabSz="1219170"/>
            <a:endParaRPr lang="en-US" sz="2400">
              <a:solidFill>
                <a:prstClr val="black"/>
              </a:solidFill>
              <a:latin typeface="Calibri" panose="020F0502020204030204"/>
            </a:endParaRPr>
          </a:p>
        </p:txBody>
      </p:sp>
      <p:sp>
        <p:nvSpPr>
          <p:cNvPr id="6" name="Text 4">
            <a:extLst>
              <a:ext uri="{FF2B5EF4-FFF2-40B4-BE49-F238E27FC236}">
                <a16:creationId xmlns:a16="http://schemas.microsoft.com/office/drawing/2014/main" id="{D5762774-A380-2852-FE4D-A481D2B8CA95}"/>
              </a:ext>
            </a:extLst>
          </p:cNvPr>
          <p:cNvSpPr/>
          <p:nvPr/>
        </p:nvSpPr>
        <p:spPr>
          <a:xfrm>
            <a:off x="889444" y="1870125"/>
            <a:ext cx="2324659" cy="609600"/>
          </a:xfrm>
          <a:prstGeom prst="rect">
            <a:avLst/>
          </a:prstGeom>
          <a:noFill/>
          <a:ln/>
        </p:spPr>
        <p:txBody>
          <a:bodyPr wrap="square" lIns="0" tIns="0" rIns="0" bIns="0" rtlCol="0" anchor="ctr"/>
          <a:lstStyle/>
          <a:p>
            <a:pPr algn="ctr" defTabSz="1219170"/>
            <a:r>
              <a:rPr lang="en-US" sz="1733" b="1" dirty="0">
                <a:solidFill>
                  <a:srgbClr val="FFFFFF"/>
                </a:solidFill>
                <a:latin typeface="Calibri" pitchFamily="34" charset="0"/>
                <a:ea typeface="Calibri" pitchFamily="34" charset="-122"/>
                <a:cs typeface="Calibri" pitchFamily="34" charset="-120"/>
              </a:rPr>
              <a:t>Notifier</a:t>
            </a:r>
            <a:endParaRPr lang="en-US" sz="1733" dirty="0">
              <a:solidFill>
                <a:prstClr val="black"/>
              </a:solidFill>
              <a:latin typeface="Calibri" panose="020F0502020204030204"/>
            </a:endParaRPr>
          </a:p>
        </p:txBody>
      </p:sp>
      <p:pic>
        <p:nvPicPr>
          <p:cNvPr id="7" name="Image 0" descr="preencoded.png">
            <a:extLst>
              <a:ext uri="{FF2B5EF4-FFF2-40B4-BE49-F238E27FC236}">
                <a16:creationId xmlns:a16="http://schemas.microsoft.com/office/drawing/2014/main" id="{D33EA8F1-6FD7-024B-143A-490C90904FA8}"/>
              </a:ext>
            </a:extLst>
          </p:cNvPr>
          <p:cNvPicPr>
            <a:picLocks noChangeAspect="1"/>
          </p:cNvPicPr>
          <p:nvPr/>
        </p:nvPicPr>
        <p:blipFill>
          <a:blip r:embed="rId3"/>
          <a:stretch>
            <a:fillRect/>
          </a:stretch>
        </p:blipFill>
        <p:spPr>
          <a:xfrm>
            <a:off x="1758840" y="2896220"/>
            <a:ext cx="670560" cy="670560"/>
          </a:xfrm>
          <a:prstGeom prst="rect">
            <a:avLst/>
          </a:prstGeom>
        </p:spPr>
      </p:pic>
      <p:sp>
        <p:nvSpPr>
          <p:cNvPr id="8" name="Text 5">
            <a:extLst>
              <a:ext uri="{FF2B5EF4-FFF2-40B4-BE49-F238E27FC236}">
                <a16:creationId xmlns:a16="http://schemas.microsoft.com/office/drawing/2014/main" id="{98D7CF32-858D-B093-3900-2AF15450964F}"/>
              </a:ext>
            </a:extLst>
          </p:cNvPr>
          <p:cNvSpPr/>
          <p:nvPr/>
        </p:nvSpPr>
        <p:spPr>
          <a:xfrm>
            <a:off x="888854" y="3512146"/>
            <a:ext cx="2263289" cy="2097024"/>
          </a:xfrm>
          <a:prstGeom prst="rect">
            <a:avLst/>
          </a:prstGeom>
          <a:noFill/>
          <a:ln/>
        </p:spPr>
        <p:txBody>
          <a:bodyPr wrap="square" lIns="0" tIns="0" rIns="0" bIns="0" rtlCol="0" anchor="ctr"/>
          <a:lstStyle/>
          <a:p>
            <a:pPr algn="ctr" defTabSz="1219170"/>
            <a:r>
              <a:rPr lang="en-US" sz="1600" b="1" dirty="0">
                <a:solidFill>
                  <a:srgbClr val="002060"/>
                </a:solidFill>
                <a:latin typeface="Calibri" pitchFamily="34" charset="0"/>
                <a:ea typeface="Calibri" pitchFamily="34" charset="-122"/>
                <a:cs typeface="Calibri" pitchFamily="34" charset="-120"/>
              </a:rPr>
              <a:t>Full blockchain node</a:t>
            </a:r>
          </a:p>
          <a:p>
            <a:pPr algn="ctr" defTabSz="1219170"/>
            <a:endParaRPr lang="en-US" sz="1600" dirty="0">
              <a:solidFill>
                <a:srgbClr val="002060"/>
              </a:solidFill>
              <a:latin typeface="Calibri" panose="020F0502020204030204"/>
            </a:endParaRPr>
          </a:p>
          <a:p>
            <a:pPr algn="ctr" defTabSz="1219170"/>
            <a:r>
              <a:rPr lang="en-US" sz="1600" dirty="0">
                <a:solidFill>
                  <a:srgbClr val="002060"/>
                </a:solidFill>
                <a:latin typeface="Calibri" pitchFamily="34" charset="0"/>
                <a:ea typeface="Calibri" pitchFamily="34" charset="-122"/>
                <a:cs typeface="Calibri" pitchFamily="34" charset="-120"/>
              </a:rPr>
              <a:t>· Monitors on-chain events</a:t>
            </a:r>
          </a:p>
          <a:p>
            <a:pPr algn="ctr" defTabSz="1219170"/>
            <a:r>
              <a:rPr lang="en-US" sz="1600" dirty="0">
                <a:solidFill>
                  <a:srgbClr val="002060"/>
                </a:solidFill>
                <a:latin typeface="Calibri" pitchFamily="34" charset="0"/>
                <a:ea typeface="Calibri" pitchFamily="34" charset="-122"/>
                <a:cs typeface="Calibri" pitchFamily="34" charset="-120"/>
              </a:rPr>
              <a:t>· Locks deposit on-chain</a:t>
            </a:r>
            <a:endParaRPr lang="en-US" sz="1600" dirty="0">
              <a:solidFill>
                <a:srgbClr val="002060"/>
              </a:solidFill>
              <a:latin typeface="Calibri" panose="020F0502020204030204"/>
            </a:endParaRPr>
          </a:p>
          <a:p>
            <a:pPr algn="ctr" defTabSz="1219170"/>
            <a:r>
              <a:rPr lang="en-US" sz="1600" dirty="0">
                <a:solidFill>
                  <a:srgbClr val="002060"/>
                </a:solidFill>
                <a:latin typeface="Calibri" pitchFamily="34" charset="0"/>
                <a:ea typeface="Calibri" pitchFamily="34" charset="-122"/>
                <a:cs typeface="Calibri" pitchFamily="34" charset="-120"/>
              </a:rPr>
              <a:t>· Sends push notifications</a:t>
            </a:r>
          </a:p>
        </p:txBody>
      </p:sp>
      <p:sp>
        <p:nvSpPr>
          <p:cNvPr id="9" name="Shape 6">
            <a:extLst>
              <a:ext uri="{FF2B5EF4-FFF2-40B4-BE49-F238E27FC236}">
                <a16:creationId xmlns:a16="http://schemas.microsoft.com/office/drawing/2014/main" id="{331D5FE6-4FA2-3B8E-5427-5BA4CC52C112}"/>
              </a:ext>
            </a:extLst>
          </p:cNvPr>
          <p:cNvSpPr/>
          <p:nvPr/>
        </p:nvSpPr>
        <p:spPr>
          <a:xfrm>
            <a:off x="3450168" y="1870125"/>
            <a:ext cx="2324659" cy="3779520"/>
          </a:xfrm>
          <a:prstGeom prst="rect">
            <a:avLst/>
          </a:prstGeom>
          <a:solidFill>
            <a:schemeClr val="bg1">
              <a:lumMod val="95000"/>
            </a:schemeClr>
          </a:solidFill>
          <a:ln w="28575">
            <a:solidFill>
              <a:srgbClr val="0EA5E9"/>
            </a:solidFill>
            <a:prstDash val="solid"/>
          </a:ln>
        </p:spPr>
        <p:txBody>
          <a:bodyPr/>
          <a:lstStyle/>
          <a:p>
            <a:pPr defTabSz="1219170"/>
            <a:endParaRPr lang="en-US" sz="2400">
              <a:solidFill>
                <a:prstClr val="black"/>
              </a:solidFill>
              <a:latin typeface="Calibri" panose="020F0502020204030204"/>
            </a:endParaRPr>
          </a:p>
        </p:txBody>
      </p:sp>
      <p:sp>
        <p:nvSpPr>
          <p:cNvPr id="10" name="Shape 7">
            <a:extLst>
              <a:ext uri="{FF2B5EF4-FFF2-40B4-BE49-F238E27FC236}">
                <a16:creationId xmlns:a16="http://schemas.microsoft.com/office/drawing/2014/main" id="{07F949C2-4062-DB52-735F-0EC586447D53}"/>
              </a:ext>
            </a:extLst>
          </p:cNvPr>
          <p:cNvSpPr/>
          <p:nvPr/>
        </p:nvSpPr>
        <p:spPr>
          <a:xfrm>
            <a:off x="3450168" y="1870125"/>
            <a:ext cx="2324659" cy="609600"/>
          </a:xfrm>
          <a:prstGeom prst="rect">
            <a:avLst/>
          </a:prstGeom>
          <a:solidFill>
            <a:srgbClr val="0EA5E9"/>
          </a:solidFill>
          <a:ln w="12700">
            <a:solidFill>
              <a:srgbClr val="0EA5E9"/>
            </a:solidFill>
            <a:prstDash val="solid"/>
          </a:ln>
        </p:spPr>
        <p:txBody>
          <a:bodyPr/>
          <a:lstStyle/>
          <a:p>
            <a:pPr defTabSz="1219170"/>
            <a:endParaRPr lang="en-US" sz="2400">
              <a:solidFill>
                <a:prstClr val="black"/>
              </a:solidFill>
              <a:latin typeface="Calibri" panose="020F0502020204030204"/>
            </a:endParaRPr>
          </a:p>
        </p:txBody>
      </p:sp>
      <p:sp>
        <p:nvSpPr>
          <p:cNvPr id="11" name="Text 8">
            <a:extLst>
              <a:ext uri="{FF2B5EF4-FFF2-40B4-BE49-F238E27FC236}">
                <a16:creationId xmlns:a16="http://schemas.microsoft.com/office/drawing/2014/main" id="{5FAB5ED8-24BB-1E4B-2E75-B8EFE62D2C7C}"/>
              </a:ext>
            </a:extLst>
          </p:cNvPr>
          <p:cNvSpPr/>
          <p:nvPr/>
        </p:nvSpPr>
        <p:spPr>
          <a:xfrm>
            <a:off x="3450168" y="1870125"/>
            <a:ext cx="2324659" cy="609600"/>
          </a:xfrm>
          <a:prstGeom prst="rect">
            <a:avLst/>
          </a:prstGeom>
          <a:noFill/>
          <a:ln/>
        </p:spPr>
        <p:txBody>
          <a:bodyPr wrap="square" lIns="0" tIns="0" rIns="0" bIns="0" rtlCol="0" anchor="ctr"/>
          <a:lstStyle/>
          <a:p>
            <a:pPr algn="ctr" defTabSz="1219170"/>
            <a:r>
              <a:rPr lang="en-US" sz="1733" b="1" dirty="0">
                <a:solidFill>
                  <a:srgbClr val="FFFFFF"/>
                </a:solidFill>
                <a:latin typeface="Calibri" pitchFamily="34" charset="0"/>
                <a:ea typeface="Calibri" pitchFamily="34" charset="-122"/>
                <a:cs typeface="Calibri" pitchFamily="34" charset="-120"/>
              </a:rPr>
              <a:t>Witness AS</a:t>
            </a:r>
            <a:endParaRPr lang="en-US" sz="1733" dirty="0">
              <a:solidFill>
                <a:prstClr val="black"/>
              </a:solidFill>
              <a:latin typeface="Calibri" panose="020F0502020204030204"/>
            </a:endParaRPr>
          </a:p>
        </p:txBody>
      </p:sp>
      <p:pic>
        <p:nvPicPr>
          <p:cNvPr id="12" name="Image 1" descr="preencoded.png">
            <a:extLst>
              <a:ext uri="{FF2B5EF4-FFF2-40B4-BE49-F238E27FC236}">
                <a16:creationId xmlns:a16="http://schemas.microsoft.com/office/drawing/2014/main" id="{D5727CC1-940D-240D-8FF8-9E21DA635BBD}"/>
              </a:ext>
            </a:extLst>
          </p:cNvPr>
          <p:cNvPicPr>
            <a:picLocks noChangeAspect="1"/>
          </p:cNvPicPr>
          <p:nvPr/>
        </p:nvPicPr>
        <p:blipFill>
          <a:blip r:embed="rId4"/>
          <a:stretch>
            <a:fillRect/>
          </a:stretch>
        </p:blipFill>
        <p:spPr>
          <a:xfrm>
            <a:off x="4319564" y="2896220"/>
            <a:ext cx="670560" cy="670560"/>
          </a:xfrm>
          <a:prstGeom prst="rect">
            <a:avLst/>
          </a:prstGeom>
        </p:spPr>
      </p:pic>
      <p:sp>
        <p:nvSpPr>
          <p:cNvPr id="13" name="Text 9">
            <a:extLst>
              <a:ext uri="{FF2B5EF4-FFF2-40B4-BE49-F238E27FC236}">
                <a16:creationId xmlns:a16="http://schemas.microsoft.com/office/drawing/2014/main" id="{271CDCBC-4D5B-B226-27C2-1D2EA4A214BB}"/>
              </a:ext>
            </a:extLst>
          </p:cNvPr>
          <p:cNvSpPr/>
          <p:nvPr/>
        </p:nvSpPr>
        <p:spPr>
          <a:xfrm>
            <a:off x="3495284" y="3369741"/>
            <a:ext cx="2218993" cy="2097024"/>
          </a:xfrm>
          <a:prstGeom prst="rect">
            <a:avLst/>
          </a:prstGeom>
          <a:noFill/>
          <a:ln/>
        </p:spPr>
        <p:txBody>
          <a:bodyPr wrap="square" lIns="0" tIns="0" rIns="0" bIns="0" rtlCol="0" anchor="ctr"/>
          <a:lstStyle/>
          <a:p>
            <a:pPr algn="ctr" defTabSz="1219170"/>
            <a:r>
              <a:rPr lang="en-US" sz="1600" b="1" dirty="0">
                <a:solidFill>
                  <a:srgbClr val="002060"/>
                </a:solidFill>
                <a:latin typeface="Calibri" pitchFamily="34" charset="0"/>
                <a:ea typeface="Calibri" pitchFamily="34" charset="-122"/>
                <a:cs typeface="Calibri" pitchFamily="34" charset="-120"/>
              </a:rPr>
              <a:t>Border router on path</a:t>
            </a:r>
          </a:p>
          <a:p>
            <a:pPr algn="ctr" defTabSz="1219170"/>
            <a:endParaRPr lang="en-US" sz="1600" dirty="0">
              <a:solidFill>
                <a:srgbClr val="002060"/>
              </a:solidFill>
              <a:latin typeface="Calibri" panose="020F0502020204030204"/>
            </a:endParaRPr>
          </a:p>
          <a:p>
            <a:pPr algn="ctr" defTabSz="1219170"/>
            <a:r>
              <a:rPr lang="en-US" sz="1600" dirty="0">
                <a:solidFill>
                  <a:srgbClr val="002060"/>
                </a:solidFill>
                <a:latin typeface="Calibri" pitchFamily="34" charset="0"/>
                <a:ea typeface="Calibri" pitchFamily="34" charset="-122"/>
                <a:cs typeface="Calibri" pitchFamily="34" charset="-120"/>
              </a:rPr>
              <a:t>· Observes notifications</a:t>
            </a:r>
            <a:endParaRPr lang="en-US" sz="1600" dirty="0">
              <a:solidFill>
                <a:srgbClr val="002060"/>
              </a:solidFill>
              <a:latin typeface="Calibri" panose="020F0502020204030204"/>
            </a:endParaRPr>
          </a:p>
          <a:p>
            <a:pPr algn="ctr" defTabSz="1219170"/>
            <a:r>
              <a:rPr lang="en-US" sz="1600" dirty="0">
                <a:solidFill>
                  <a:srgbClr val="002060"/>
                </a:solidFill>
                <a:latin typeface="Calibri" pitchFamily="34" charset="0"/>
                <a:ea typeface="Calibri" pitchFamily="34" charset="-122"/>
                <a:cs typeface="Calibri" pitchFamily="34" charset="-120"/>
              </a:rPr>
              <a:t>· Returns proof to notifier</a:t>
            </a:r>
          </a:p>
        </p:txBody>
      </p:sp>
      <p:sp>
        <p:nvSpPr>
          <p:cNvPr id="14" name="Shape 10">
            <a:extLst>
              <a:ext uri="{FF2B5EF4-FFF2-40B4-BE49-F238E27FC236}">
                <a16:creationId xmlns:a16="http://schemas.microsoft.com/office/drawing/2014/main" id="{97D3FD8E-0489-F0A3-A7E1-0F46742BBDDF}"/>
              </a:ext>
            </a:extLst>
          </p:cNvPr>
          <p:cNvSpPr/>
          <p:nvPr/>
        </p:nvSpPr>
        <p:spPr>
          <a:xfrm>
            <a:off x="5980912" y="1870125"/>
            <a:ext cx="2324659" cy="3779520"/>
          </a:xfrm>
          <a:prstGeom prst="rect">
            <a:avLst/>
          </a:prstGeom>
          <a:solidFill>
            <a:schemeClr val="bg1">
              <a:lumMod val="95000"/>
            </a:schemeClr>
          </a:solidFill>
          <a:ln w="28575">
            <a:solidFill>
              <a:srgbClr val="0369A1"/>
            </a:solidFill>
            <a:prstDash val="solid"/>
          </a:ln>
        </p:spPr>
        <p:txBody>
          <a:bodyPr/>
          <a:lstStyle/>
          <a:p>
            <a:pPr defTabSz="1219170"/>
            <a:endParaRPr lang="en-US" sz="2400">
              <a:solidFill>
                <a:prstClr val="black"/>
              </a:solidFill>
              <a:latin typeface="Calibri" panose="020F0502020204030204"/>
            </a:endParaRPr>
          </a:p>
        </p:txBody>
      </p:sp>
      <p:sp>
        <p:nvSpPr>
          <p:cNvPr id="15" name="Shape 11">
            <a:extLst>
              <a:ext uri="{FF2B5EF4-FFF2-40B4-BE49-F238E27FC236}">
                <a16:creationId xmlns:a16="http://schemas.microsoft.com/office/drawing/2014/main" id="{80CDE18F-A8E2-AA6F-B24F-30E2E81F381D}"/>
              </a:ext>
            </a:extLst>
          </p:cNvPr>
          <p:cNvSpPr/>
          <p:nvPr/>
        </p:nvSpPr>
        <p:spPr>
          <a:xfrm>
            <a:off x="5980912" y="1870125"/>
            <a:ext cx="2324659" cy="609600"/>
          </a:xfrm>
          <a:prstGeom prst="rect">
            <a:avLst/>
          </a:prstGeom>
          <a:solidFill>
            <a:srgbClr val="0369A1"/>
          </a:solidFill>
          <a:ln w="12700">
            <a:solidFill>
              <a:srgbClr val="0369A1"/>
            </a:solidFill>
            <a:prstDash val="solid"/>
          </a:ln>
        </p:spPr>
        <p:txBody>
          <a:bodyPr/>
          <a:lstStyle/>
          <a:p>
            <a:pPr defTabSz="1219170"/>
            <a:endParaRPr lang="en-US" sz="2400">
              <a:solidFill>
                <a:prstClr val="black"/>
              </a:solidFill>
              <a:latin typeface="Calibri" panose="020F0502020204030204"/>
            </a:endParaRPr>
          </a:p>
        </p:txBody>
      </p:sp>
      <p:sp>
        <p:nvSpPr>
          <p:cNvPr id="16" name="Text 12">
            <a:extLst>
              <a:ext uri="{FF2B5EF4-FFF2-40B4-BE49-F238E27FC236}">
                <a16:creationId xmlns:a16="http://schemas.microsoft.com/office/drawing/2014/main" id="{13585F75-0B8A-B2C0-858C-67351D4A5721}"/>
              </a:ext>
            </a:extLst>
          </p:cNvPr>
          <p:cNvSpPr/>
          <p:nvPr/>
        </p:nvSpPr>
        <p:spPr>
          <a:xfrm>
            <a:off x="5980912" y="1870125"/>
            <a:ext cx="2324659" cy="609600"/>
          </a:xfrm>
          <a:prstGeom prst="rect">
            <a:avLst/>
          </a:prstGeom>
          <a:noFill/>
          <a:ln/>
        </p:spPr>
        <p:txBody>
          <a:bodyPr wrap="square" lIns="0" tIns="0" rIns="0" bIns="0" rtlCol="0" anchor="ctr"/>
          <a:lstStyle/>
          <a:p>
            <a:pPr algn="ctr" defTabSz="1219170"/>
            <a:r>
              <a:rPr lang="en-US" sz="1733" b="1" dirty="0">
                <a:solidFill>
                  <a:srgbClr val="FFFFFF"/>
                </a:solidFill>
                <a:latin typeface="Calibri" pitchFamily="34" charset="0"/>
                <a:ea typeface="Calibri" pitchFamily="34" charset="-122"/>
                <a:cs typeface="Calibri" pitchFamily="34" charset="-120"/>
              </a:rPr>
              <a:t>Recipient</a:t>
            </a:r>
            <a:endParaRPr lang="en-US" sz="1733" dirty="0">
              <a:solidFill>
                <a:prstClr val="black"/>
              </a:solidFill>
              <a:latin typeface="Calibri" panose="020F0502020204030204"/>
            </a:endParaRPr>
          </a:p>
        </p:txBody>
      </p:sp>
      <p:pic>
        <p:nvPicPr>
          <p:cNvPr id="17" name="Image 2" descr="preencoded.png">
            <a:extLst>
              <a:ext uri="{FF2B5EF4-FFF2-40B4-BE49-F238E27FC236}">
                <a16:creationId xmlns:a16="http://schemas.microsoft.com/office/drawing/2014/main" id="{CF5EED6C-50AD-A028-2E0A-F81880696694}"/>
              </a:ext>
            </a:extLst>
          </p:cNvPr>
          <p:cNvPicPr>
            <a:picLocks noChangeAspect="1"/>
          </p:cNvPicPr>
          <p:nvPr/>
        </p:nvPicPr>
        <p:blipFill>
          <a:blip r:embed="rId5"/>
          <a:stretch>
            <a:fillRect/>
          </a:stretch>
        </p:blipFill>
        <p:spPr>
          <a:xfrm>
            <a:off x="6850308" y="2896220"/>
            <a:ext cx="670560" cy="670560"/>
          </a:xfrm>
          <a:prstGeom prst="rect">
            <a:avLst/>
          </a:prstGeom>
        </p:spPr>
      </p:pic>
      <p:sp>
        <p:nvSpPr>
          <p:cNvPr id="18" name="Text 13">
            <a:extLst>
              <a:ext uri="{FF2B5EF4-FFF2-40B4-BE49-F238E27FC236}">
                <a16:creationId xmlns:a16="http://schemas.microsoft.com/office/drawing/2014/main" id="{2E9D12BC-8C89-6698-F37B-BE3A547FEF38}"/>
              </a:ext>
            </a:extLst>
          </p:cNvPr>
          <p:cNvSpPr/>
          <p:nvPr/>
        </p:nvSpPr>
        <p:spPr>
          <a:xfrm>
            <a:off x="6070325" y="3369741"/>
            <a:ext cx="2113326" cy="2097024"/>
          </a:xfrm>
          <a:prstGeom prst="rect">
            <a:avLst/>
          </a:prstGeom>
          <a:noFill/>
          <a:ln/>
        </p:spPr>
        <p:txBody>
          <a:bodyPr wrap="square" lIns="0" tIns="0" rIns="0" bIns="0" rtlCol="0" anchor="ctr"/>
          <a:lstStyle/>
          <a:p>
            <a:pPr algn="ctr" defTabSz="1219170"/>
            <a:r>
              <a:rPr lang="en-US" sz="1600" b="1" dirty="0">
                <a:solidFill>
                  <a:srgbClr val="002060"/>
                </a:solidFill>
                <a:latin typeface="Calibri" pitchFamily="34" charset="0"/>
                <a:ea typeface="Calibri" pitchFamily="34" charset="-122"/>
                <a:cs typeface="Calibri" pitchFamily="34" charset="-120"/>
              </a:rPr>
              <a:t>Light client / wallet</a:t>
            </a:r>
          </a:p>
          <a:p>
            <a:pPr algn="ctr" defTabSz="1219170"/>
            <a:endParaRPr lang="en-US" sz="1600" dirty="0">
              <a:solidFill>
                <a:srgbClr val="002060"/>
              </a:solidFill>
              <a:latin typeface="Calibri" panose="020F0502020204030204"/>
            </a:endParaRPr>
          </a:p>
          <a:p>
            <a:pPr algn="ctr" defTabSz="1219170"/>
            <a:r>
              <a:rPr lang="en-US" sz="1600" dirty="0">
                <a:solidFill>
                  <a:srgbClr val="002060"/>
                </a:solidFill>
                <a:latin typeface="Calibri" pitchFamily="34" charset="0"/>
                <a:ea typeface="Calibri" pitchFamily="34" charset="-122"/>
                <a:cs typeface="Calibri" pitchFamily="34" charset="-120"/>
              </a:rPr>
              <a:t>· Pays subscription fee</a:t>
            </a:r>
            <a:endParaRPr lang="en-US" sz="1600" dirty="0">
              <a:solidFill>
                <a:srgbClr val="002060"/>
              </a:solidFill>
              <a:latin typeface="Calibri" panose="020F0502020204030204"/>
            </a:endParaRPr>
          </a:p>
          <a:p>
            <a:pPr algn="ctr" defTabSz="1219170"/>
            <a:r>
              <a:rPr lang="en-US" sz="1600" dirty="0">
                <a:solidFill>
                  <a:srgbClr val="002060"/>
                </a:solidFill>
                <a:latin typeface="Calibri" pitchFamily="34" charset="0"/>
                <a:ea typeface="Calibri" pitchFamily="34" charset="-122"/>
                <a:cs typeface="Calibri" pitchFamily="34" charset="-120"/>
              </a:rPr>
              <a:t>· Initiates challenges</a:t>
            </a:r>
            <a:endParaRPr lang="en-US" sz="1600" dirty="0">
              <a:solidFill>
                <a:srgbClr val="002060"/>
              </a:solidFill>
              <a:latin typeface="Calibri" panose="020F0502020204030204"/>
            </a:endParaRPr>
          </a:p>
        </p:txBody>
      </p:sp>
      <p:sp>
        <p:nvSpPr>
          <p:cNvPr id="19" name="Shape 14">
            <a:extLst>
              <a:ext uri="{FF2B5EF4-FFF2-40B4-BE49-F238E27FC236}">
                <a16:creationId xmlns:a16="http://schemas.microsoft.com/office/drawing/2014/main" id="{3B603281-C741-05A6-AF35-EE136DFDF711}"/>
              </a:ext>
            </a:extLst>
          </p:cNvPr>
          <p:cNvSpPr/>
          <p:nvPr/>
        </p:nvSpPr>
        <p:spPr>
          <a:xfrm>
            <a:off x="8526646" y="1870125"/>
            <a:ext cx="2324659" cy="3779520"/>
          </a:xfrm>
          <a:prstGeom prst="rect">
            <a:avLst/>
          </a:prstGeom>
          <a:solidFill>
            <a:schemeClr val="bg1">
              <a:lumMod val="95000"/>
            </a:schemeClr>
          </a:solidFill>
          <a:ln w="28575">
            <a:solidFill>
              <a:srgbClr val="1E3A5F"/>
            </a:solidFill>
            <a:prstDash val="solid"/>
          </a:ln>
        </p:spPr>
        <p:txBody>
          <a:bodyPr/>
          <a:lstStyle/>
          <a:p>
            <a:pPr defTabSz="1219170"/>
            <a:endParaRPr lang="en-US" sz="2400">
              <a:solidFill>
                <a:prstClr val="black"/>
              </a:solidFill>
              <a:latin typeface="Calibri" panose="020F0502020204030204"/>
            </a:endParaRPr>
          </a:p>
        </p:txBody>
      </p:sp>
      <p:sp>
        <p:nvSpPr>
          <p:cNvPr id="20" name="Shape 15">
            <a:extLst>
              <a:ext uri="{FF2B5EF4-FFF2-40B4-BE49-F238E27FC236}">
                <a16:creationId xmlns:a16="http://schemas.microsoft.com/office/drawing/2014/main" id="{7ADFAAC2-1714-F332-A8E7-405C8263C513}"/>
              </a:ext>
            </a:extLst>
          </p:cNvPr>
          <p:cNvSpPr/>
          <p:nvPr/>
        </p:nvSpPr>
        <p:spPr>
          <a:xfrm>
            <a:off x="8526646" y="1870125"/>
            <a:ext cx="2324659" cy="609600"/>
          </a:xfrm>
          <a:prstGeom prst="rect">
            <a:avLst/>
          </a:prstGeom>
          <a:solidFill>
            <a:srgbClr val="1E3A5F"/>
          </a:solidFill>
          <a:ln w="12700">
            <a:solidFill>
              <a:srgbClr val="1E3A5F"/>
            </a:solidFill>
            <a:prstDash val="solid"/>
          </a:ln>
        </p:spPr>
        <p:txBody>
          <a:bodyPr/>
          <a:lstStyle/>
          <a:p>
            <a:pPr defTabSz="1219170"/>
            <a:endParaRPr lang="en-US" sz="2400">
              <a:solidFill>
                <a:prstClr val="black"/>
              </a:solidFill>
              <a:latin typeface="Calibri" panose="020F0502020204030204"/>
            </a:endParaRPr>
          </a:p>
        </p:txBody>
      </p:sp>
      <p:sp>
        <p:nvSpPr>
          <p:cNvPr id="21" name="Text 16">
            <a:extLst>
              <a:ext uri="{FF2B5EF4-FFF2-40B4-BE49-F238E27FC236}">
                <a16:creationId xmlns:a16="http://schemas.microsoft.com/office/drawing/2014/main" id="{9CFB4A53-111C-6E7F-85E6-3DD57A94EA96}"/>
              </a:ext>
            </a:extLst>
          </p:cNvPr>
          <p:cNvSpPr/>
          <p:nvPr/>
        </p:nvSpPr>
        <p:spPr>
          <a:xfrm>
            <a:off x="8526646" y="1870125"/>
            <a:ext cx="2324659" cy="609600"/>
          </a:xfrm>
          <a:prstGeom prst="rect">
            <a:avLst/>
          </a:prstGeom>
          <a:noFill/>
          <a:ln/>
        </p:spPr>
        <p:txBody>
          <a:bodyPr wrap="square" lIns="0" tIns="0" rIns="0" bIns="0" rtlCol="0" anchor="ctr"/>
          <a:lstStyle/>
          <a:p>
            <a:pPr algn="ctr" defTabSz="1219170"/>
            <a:r>
              <a:rPr lang="en-US" sz="1733" b="1" dirty="0">
                <a:solidFill>
                  <a:srgbClr val="FFFFFF"/>
                </a:solidFill>
                <a:latin typeface="Calibri" pitchFamily="34" charset="0"/>
                <a:ea typeface="Calibri" pitchFamily="34" charset="-122"/>
                <a:cs typeface="Calibri" pitchFamily="34" charset="-120"/>
              </a:rPr>
              <a:t>Smart Contract</a:t>
            </a:r>
            <a:endParaRPr lang="en-US" sz="1733" dirty="0">
              <a:solidFill>
                <a:prstClr val="black"/>
              </a:solidFill>
              <a:latin typeface="Calibri" panose="020F0502020204030204"/>
            </a:endParaRPr>
          </a:p>
        </p:txBody>
      </p:sp>
      <p:pic>
        <p:nvPicPr>
          <p:cNvPr id="22" name="Image 3" descr="preencoded.png">
            <a:extLst>
              <a:ext uri="{FF2B5EF4-FFF2-40B4-BE49-F238E27FC236}">
                <a16:creationId xmlns:a16="http://schemas.microsoft.com/office/drawing/2014/main" id="{13E70CFA-7B81-D5A1-A13D-8E20D185EF49}"/>
              </a:ext>
            </a:extLst>
          </p:cNvPr>
          <p:cNvPicPr>
            <a:picLocks noChangeAspect="1"/>
          </p:cNvPicPr>
          <p:nvPr/>
        </p:nvPicPr>
        <p:blipFill>
          <a:blip r:embed="rId6"/>
          <a:stretch>
            <a:fillRect/>
          </a:stretch>
        </p:blipFill>
        <p:spPr>
          <a:xfrm>
            <a:off x="9396042" y="2896220"/>
            <a:ext cx="670560" cy="670560"/>
          </a:xfrm>
          <a:prstGeom prst="rect">
            <a:avLst/>
          </a:prstGeom>
        </p:spPr>
      </p:pic>
      <p:sp>
        <p:nvSpPr>
          <p:cNvPr id="23" name="Text 17">
            <a:extLst>
              <a:ext uri="{FF2B5EF4-FFF2-40B4-BE49-F238E27FC236}">
                <a16:creationId xmlns:a16="http://schemas.microsoft.com/office/drawing/2014/main" id="{B14C984B-7184-66D0-7678-330BC59B43C5}"/>
              </a:ext>
            </a:extLst>
          </p:cNvPr>
          <p:cNvSpPr/>
          <p:nvPr/>
        </p:nvSpPr>
        <p:spPr>
          <a:xfrm>
            <a:off x="8616059" y="3369741"/>
            <a:ext cx="2113326" cy="2097024"/>
          </a:xfrm>
          <a:prstGeom prst="rect">
            <a:avLst/>
          </a:prstGeom>
          <a:noFill/>
          <a:ln/>
        </p:spPr>
        <p:txBody>
          <a:bodyPr wrap="square" lIns="0" tIns="0" rIns="0" bIns="0" rtlCol="0" anchor="ctr"/>
          <a:lstStyle/>
          <a:p>
            <a:pPr algn="ctr" defTabSz="1219170"/>
            <a:r>
              <a:rPr lang="en-US" sz="1600" b="1" dirty="0">
                <a:solidFill>
                  <a:srgbClr val="002060"/>
                </a:solidFill>
                <a:latin typeface="Calibri" pitchFamily="34" charset="0"/>
                <a:ea typeface="Calibri" pitchFamily="34" charset="-122"/>
                <a:cs typeface="Calibri" pitchFamily="34" charset="-120"/>
              </a:rPr>
              <a:t>On-chain</a:t>
            </a:r>
          </a:p>
          <a:p>
            <a:pPr algn="ctr" defTabSz="1219170"/>
            <a:endParaRPr lang="en-US" sz="1600" dirty="0">
              <a:solidFill>
                <a:srgbClr val="002060"/>
              </a:solidFill>
              <a:latin typeface="Calibri" panose="020F0502020204030204"/>
            </a:endParaRPr>
          </a:p>
          <a:p>
            <a:pPr algn="ctr" defTabSz="1219170"/>
            <a:r>
              <a:rPr lang="en-US" sz="1600" dirty="0">
                <a:solidFill>
                  <a:srgbClr val="002060"/>
                </a:solidFill>
                <a:latin typeface="Calibri" pitchFamily="34" charset="0"/>
                <a:ea typeface="Calibri" pitchFamily="34" charset="-122"/>
                <a:cs typeface="Calibri" pitchFamily="34" charset="-120"/>
              </a:rPr>
              <a:t>· Stores SLAs &amp; deposits</a:t>
            </a:r>
            <a:endParaRPr lang="en-US" sz="1600" dirty="0">
              <a:solidFill>
                <a:srgbClr val="002060"/>
              </a:solidFill>
              <a:latin typeface="Calibri" panose="020F0502020204030204"/>
            </a:endParaRPr>
          </a:p>
          <a:p>
            <a:pPr algn="ctr" defTabSz="1219170"/>
            <a:r>
              <a:rPr lang="en-US" sz="1600" dirty="0">
                <a:solidFill>
                  <a:srgbClr val="002060"/>
                </a:solidFill>
                <a:latin typeface="Calibri" pitchFamily="34" charset="0"/>
                <a:ea typeface="Calibri" pitchFamily="34" charset="-122"/>
                <a:cs typeface="Calibri" pitchFamily="34" charset="-120"/>
              </a:rPr>
              <a:t>· Resolves disputes</a:t>
            </a:r>
            <a:endParaRPr lang="en-US" sz="1600" dirty="0">
              <a:solidFill>
                <a:srgbClr val="002060"/>
              </a:solidFill>
              <a:latin typeface="Calibri" panose="020F0502020204030204"/>
            </a:endParaRPr>
          </a:p>
        </p:txBody>
      </p:sp>
    </p:spTree>
    <p:extLst>
      <p:ext uri="{BB962C8B-B14F-4D97-AF65-F5344CB8AC3E}">
        <p14:creationId xmlns:p14="http://schemas.microsoft.com/office/powerpoint/2010/main" val="183750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34BF8-E47A-7641-8EE6-600A73E474BD}"/>
              </a:ext>
            </a:extLst>
          </p:cNvPr>
          <p:cNvSpPr>
            <a:spLocks noGrp="1"/>
          </p:cNvSpPr>
          <p:nvPr>
            <p:ph type="title"/>
          </p:nvPr>
        </p:nvSpPr>
        <p:spPr/>
        <p:txBody>
          <a:bodyPr>
            <a:normAutofit/>
          </a:bodyPr>
          <a:lstStyle/>
          <a:p>
            <a:r>
              <a:rPr lang="en-US" sz="3600" b="1" dirty="0">
                <a:latin typeface="Calibri"/>
                <a:ea typeface="Calibri"/>
                <a:cs typeface="Calibri"/>
              </a:rPr>
              <a:t>TESLA: Efficient Broadcast Authentication</a:t>
            </a:r>
          </a:p>
        </p:txBody>
      </p:sp>
      <p:sp>
        <p:nvSpPr>
          <p:cNvPr id="3" name="Content Placeholder 2">
            <a:extLst>
              <a:ext uri="{FF2B5EF4-FFF2-40B4-BE49-F238E27FC236}">
                <a16:creationId xmlns:a16="http://schemas.microsoft.com/office/drawing/2014/main" id="{5AFC21A1-FCE3-984E-0C21-1A705D32C2CB}"/>
              </a:ext>
            </a:extLst>
          </p:cNvPr>
          <p:cNvSpPr>
            <a:spLocks noGrp="1"/>
          </p:cNvSpPr>
          <p:nvPr>
            <p:ph idx="1"/>
          </p:nvPr>
        </p:nvSpPr>
        <p:spPr/>
        <p:txBody>
          <a:bodyPr>
            <a:normAutofit/>
          </a:bodyPr>
          <a:lstStyle/>
          <a:p>
            <a:r>
              <a:rPr lang="en-US" dirty="0"/>
              <a:t>Time is divided into intervals: each has a secret key </a:t>
            </a:r>
            <a:r>
              <a:rPr lang="en-US" i="1" dirty="0">
                <a:latin typeface="Calibri" pitchFamily="34" charset="0"/>
                <a:ea typeface="Calibri" pitchFamily="34" charset="-122"/>
                <a:cs typeface="Calibri" pitchFamily="34" charset="-120"/>
              </a:rPr>
              <a:t>Kᵢ</a:t>
            </a:r>
            <a:r>
              <a:rPr lang="en-US" dirty="0"/>
              <a:t>, disclosed only after a delay.</a:t>
            </a:r>
          </a:p>
          <a:p>
            <a:r>
              <a:rPr lang="en-US" dirty="0"/>
              <a:t>Delayed disclosure = delayed verification, but lightweight and fast.</a:t>
            </a:r>
          </a:p>
          <a:p>
            <a:r>
              <a:rPr lang="en-US" dirty="0"/>
              <a:t>Limitation: no inherent non-repudiation: anyone can forge MACs after key disclosure.</a:t>
            </a:r>
          </a:p>
          <a:p>
            <a:r>
              <a:rPr lang="en-US" dirty="0"/>
              <a:t>Fix: commit messages on-chain before key disclosure.</a:t>
            </a:r>
          </a:p>
        </p:txBody>
      </p:sp>
      <p:sp>
        <p:nvSpPr>
          <p:cNvPr id="22" name="Text 20"/>
          <p:cNvSpPr/>
          <p:nvPr/>
        </p:nvSpPr>
        <p:spPr>
          <a:xfrm>
            <a:off x="609600" y="4637256"/>
            <a:ext cx="10972800" cy="365760"/>
          </a:xfrm>
          <a:prstGeom prst="rect">
            <a:avLst/>
          </a:prstGeom>
          <a:noFill/>
          <a:ln/>
        </p:spPr>
        <p:txBody>
          <a:bodyPr wrap="square" lIns="0" tIns="0" rIns="0" bIns="0" rtlCol="0" anchor="ctr"/>
          <a:lstStyle/>
          <a:p>
            <a:endParaRPr lang="en-US" sz="2000" dirty="0">
              <a:solidFill>
                <a:schemeClr val="tx2">
                  <a:lumMod val="75000"/>
                  <a:lumOff val="25000"/>
                </a:schemeClr>
              </a:solidFill>
            </a:endParaRPr>
          </a:p>
        </p:txBody>
      </p:sp>
    </p:spTree>
    <p:extLst>
      <p:ext uri="{BB962C8B-B14F-4D97-AF65-F5344CB8AC3E}">
        <p14:creationId xmlns:p14="http://schemas.microsoft.com/office/powerpoint/2010/main" val="3160907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E5B7BA9-4333-5AB0-BCD1-A5197105A6D4}"/>
              </a:ext>
            </a:extLst>
          </p:cNvPr>
          <p:cNvPicPr>
            <a:picLocks noChangeAspect="1"/>
          </p:cNvPicPr>
          <p:nvPr/>
        </p:nvPicPr>
        <p:blipFill>
          <a:blip r:embed="rId3"/>
          <a:stretch>
            <a:fillRect/>
          </a:stretch>
        </p:blipFill>
        <p:spPr>
          <a:xfrm>
            <a:off x="2344058" y="2732490"/>
            <a:ext cx="7660042" cy="2340864"/>
          </a:xfrm>
          <a:prstGeom prst="rect">
            <a:avLst/>
          </a:prstGeom>
        </p:spPr>
      </p:pic>
      <p:sp>
        <p:nvSpPr>
          <p:cNvPr id="2" name="Title 1">
            <a:extLst>
              <a:ext uri="{FF2B5EF4-FFF2-40B4-BE49-F238E27FC236}">
                <a16:creationId xmlns:a16="http://schemas.microsoft.com/office/drawing/2014/main" id="{C7C0C099-519B-088D-8D77-6D4F951370A1}"/>
              </a:ext>
            </a:extLst>
          </p:cNvPr>
          <p:cNvSpPr>
            <a:spLocks noGrp="1"/>
          </p:cNvSpPr>
          <p:nvPr>
            <p:ph type="title"/>
          </p:nvPr>
        </p:nvSpPr>
        <p:spPr/>
        <p:txBody>
          <a:bodyPr>
            <a:normAutofit/>
          </a:bodyPr>
          <a:lstStyle/>
          <a:p>
            <a:r>
              <a:rPr lang="en-US" sz="3600" b="1" dirty="0">
                <a:latin typeface="Calibri"/>
                <a:ea typeface="Calibri"/>
                <a:cs typeface="Calibri"/>
              </a:rPr>
              <a:t>Protocol Flow</a:t>
            </a:r>
          </a:p>
        </p:txBody>
      </p:sp>
    </p:spTree>
    <p:extLst>
      <p:ext uri="{BB962C8B-B14F-4D97-AF65-F5344CB8AC3E}">
        <p14:creationId xmlns:p14="http://schemas.microsoft.com/office/powerpoint/2010/main" val="2473437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C6DDE-E5DF-D039-0BEA-4012BAA43C9E}"/>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5E05A461-F51F-1527-7AA3-92809AF605E4}"/>
              </a:ext>
            </a:extLst>
          </p:cNvPr>
          <p:cNvPicPr>
            <a:picLocks noGrp="1" noRot="1" noChangeAspect="1" noMove="1" noResize="1" noEditPoints="1" noAdjustHandles="1" noChangeArrowheads="1" noChangeShapeType="1" noCrop="1"/>
          </p:cNvPicPr>
          <p:nvPr/>
        </p:nvPicPr>
        <p:blipFill>
          <a:blip r:embed="rId3"/>
          <a:stretch>
            <a:fillRect/>
          </a:stretch>
        </p:blipFill>
        <p:spPr>
          <a:xfrm>
            <a:off x="2140857" y="1828800"/>
            <a:ext cx="7910287" cy="3200400"/>
          </a:xfrm>
          <a:prstGeom prst="rect">
            <a:avLst/>
          </a:prstGeom>
        </p:spPr>
      </p:pic>
      <p:sp>
        <p:nvSpPr>
          <p:cNvPr id="2" name="Title 1">
            <a:extLst>
              <a:ext uri="{FF2B5EF4-FFF2-40B4-BE49-F238E27FC236}">
                <a16:creationId xmlns:a16="http://schemas.microsoft.com/office/drawing/2014/main" id="{B449CC98-6A84-4067-ACC1-6B3B8FF56729}"/>
              </a:ext>
            </a:extLst>
          </p:cNvPr>
          <p:cNvSpPr>
            <a:spLocks noGrp="1"/>
          </p:cNvSpPr>
          <p:nvPr>
            <p:ph type="title"/>
          </p:nvPr>
        </p:nvSpPr>
        <p:spPr/>
        <p:txBody>
          <a:bodyPr>
            <a:normAutofit/>
          </a:bodyPr>
          <a:lstStyle/>
          <a:p>
            <a:r>
              <a:rPr lang="en-US" sz="3600" b="1" dirty="0">
                <a:latin typeface="Calibri"/>
                <a:ea typeface="Calibri"/>
                <a:cs typeface="Calibri"/>
              </a:rPr>
              <a:t>Protocol Flow</a:t>
            </a:r>
          </a:p>
        </p:txBody>
      </p:sp>
      <p:sp>
        <p:nvSpPr>
          <p:cNvPr id="4" name="TextBox 3">
            <a:extLst>
              <a:ext uri="{FF2B5EF4-FFF2-40B4-BE49-F238E27FC236}">
                <a16:creationId xmlns:a16="http://schemas.microsoft.com/office/drawing/2014/main" id="{629CEE9A-818A-0E15-E051-36E405BA2DED}"/>
              </a:ext>
            </a:extLst>
          </p:cNvPr>
          <p:cNvSpPr txBox="1"/>
          <p:nvPr/>
        </p:nvSpPr>
        <p:spPr>
          <a:xfrm>
            <a:off x="1109247" y="5461293"/>
            <a:ext cx="6097022" cy="369332"/>
          </a:xfrm>
          <a:prstGeom prst="rect">
            <a:avLst/>
          </a:prstGeom>
          <a:noFill/>
          <a:ln w="28575">
            <a:solidFill>
              <a:srgbClr val="C00000"/>
            </a:solidFill>
            <a:extLst>
              <a:ext uri="{C807C97D-BFC1-408E-A445-0C87EB9F89A2}">
                <ask:lineSketchStyleProps xmlns:ask="http://schemas.microsoft.com/office/drawing/2018/sketchyshapes" sd="1375298759">
                  <a:custGeom>
                    <a:avLst/>
                    <a:gdLst>
                      <a:gd name="csX0" fmla="*/ 0 w 6097022"/>
                      <a:gd name="csY0" fmla="*/ 0 h 369332"/>
                      <a:gd name="csX1" fmla="*/ 677447 w 6097022"/>
                      <a:gd name="csY1" fmla="*/ 0 h 369332"/>
                      <a:gd name="csX2" fmla="*/ 1232953 w 6097022"/>
                      <a:gd name="csY2" fmla="*/ 0 h 369332"/>
                      <a:gd name="csX3" fmla="*/ 1971370 w 6097022"/>
                      <a:gd name="csY3" fmla="*/ 0 h 369332"/>
                      <a:gd name="csX4" fmla="*/ 2709788 w 6097022"/>
                      <a:gd name="csY4" fmla="*/ 0 h 369332"/>
                      <a:gd name="csX5" fmla="*/ 3326264 w 6097022"/>
                      <a:gd name="csY5" fmla="*/ 0 h 369332"/>
                      <a:gd name="csX6" fmla="*/ 3881771 w 6097022"/>
                      <a:gd name="csY6" fmla="*/ 0 h 369332"/>
                      <a:gd name="csX7" fmla="*/ 4681158 w 6097022"/>
                      <a:gd name="csY7" fmla="*/ 0 h 369332"/>
                      <a:gd name="csX8" fmla="*/ 5297635 w 6097022"/>
                      <a:gd name="csY8" fmla="*/ 0 h 369332"/>
                      <a:gd name="csX9" fmla="*/ 6097022 w 6097022"/>
                      <a:gd name="csY9" fmla="*/ 0 h 369332"/>
                      <a:gd name="csX10" fmla="*/ 6097022 w 6097022"/>
                      <a:gd name="csY10" fmla="*/ 369332 h 369332"/>
                      <a:gd name="csX11" fmla="*/ 5419575 w 6097022"/>
                      <a:gd name="csY11" fmla="*/ 369332 h 369332"/>
                      <a:gd name="csX12" fmla="*/ 4864069 w 6097022"/>
                      <a:gd name="csY12" fmla="*/ 369332 h 369332"/>
                      <a:gd name="csX13" fmla="*/ 4369532 w 6097022"/>
                      <a:gd name="csY13" fmla="*/ 369332 h 369332"/>
                      <a:gd name="csX14" fmla="*/ 3814026 w 6097022"/>
                      <a:gd name="csY14" fmla="*/ 369332 h 369332"/>
                      <a:gd name="csX15" fmla="*/ 3197549 w 6097022"/>
                      <a:gd name="csY15" fmla="*/ 369332 h 369332"/>
                      <a:gd name="csX16" fmla="*/ 2642043 w 6097022"/>
                      <a:gd name="csY16" fmla="*/ 369332 h 369332"/>
                      <a:gd name="csX17" fmla="*/ 1842656 w 6097022"/>
                      <a:gd name="csY17" fmla="*/ 369332 h 369332"/>
                      <a:gd name="csX18" fmla="*/ 1348119 w 6097022"/>
                      <a:gd name="csY18" fmla="*/ 369332 h 369332"/>
                      <a:gd name="csX19" fmla="*/ 731643 w 6097022"/>
                      <a:gd name="csY19" fmla="*/ 369332 h 369332"/>
                      <a:gd name="csX20" fmla="*/ 0 w 6097022"/>
                      <a:gd name="csY20" fmla="*/ 369332 h 369332"/>
                      <a:gd name="csX21" fmla="*/ 0 w 6097022"/>
                      <a:gd name="csY21"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6097022" h="369332" extrusionOk="0">
                        <a:moveTo>
                          <a:pt x="0" y="0"/>
                        </a:moveTo>
                        <a:cubicBezTo>
                          <a:pt x="286211" y="15504"/>
                          <a:pt x="522803" y="-16195"/>
                          <a:pt x="677447" y="0"/>
                        </a:cubicBezTo>
                        <a:cubicBezTo>
                          <a:pt x="832091" y="16195"/>
                          <a:pt x="1016832" y="-1986"/>
                          <a:pt x="1232953" y="0"/>
                        </a:cubicBezTo>
                        <a:cubicBezTo>
                          <a:pt x="1449074" y="1986"/>
                          <a:pt x="1760104" y="-17373"/>
                          <a:pt x="1971370" y="0"/>
                        </a:cubicBezTo>
                        <a:cubicBezTo>
                          <a:pt x="2182636" y="17373"/>
                          <a:pt x="2429168" y="27356"/>
                          <a:pt x="2709788" y="0"/>
                        </a:cubicBezTo>
                        <a:cubicBezTo>
                          <a:pt x="2990408" y="-27356"/>
                          <a:pt x="3066017" y="-13590"/>
                          <a:pt x="3326264" y="0"/>
                        </a:cubicBezTo>
                        <a:cubicBezTo>
                          <a:pt x="3586511" y="13590"/>
                          <a:pt x="3751098" y="5199"/>
                          <a:pt x="3881771" y="0"/>
                        </a:cubicBezTo>
                        <a:cubicBezTo>
                          <a:pt x="4012444" y="-5199"/>
                          <a:pt x="4401973" y="-18108"/>
                          <a:pt x="4681158" y="0"/>
                        </a:cubicBezTo>
                        <a:cubicBezTo>
                          <a:pt x="4960343" y="18108"/>
                          <a:pt x="5031832" y="-25747"/>
                          <a:pt x="5297635" y="0"/>
                        </a:cubicBezTo>
                        <a:cubicBezTo>
                          <a:pt x="5563438" y="25747"/>
                          <a:pt x="5851965" y="-16616"/>
                          <a:pt x="6097022" y="0"/>
                        </a:cubicBezTo>
                        <a:cubicBezTo>
                          <a:pt x="6085251" y="158721"/>
                          <a:pt x="6109284" y="188157"/>
                          <a:pt x="6097022" y="369332"/>
                        </a:cubicBezTo>
                        <a:cubicBezTo>
                          <a:pt x="5836665" y="374939"/>
                          <a:pt x="5582033" y="374392"/>
                          <a:pt x="5419575" y="369332"/>
                        </a:cubicBezTo>
                        <a:cubicBezTo>
                          <a:pt x="5257117" y="364272"/>
                          <a:pt x="4986869" y="348862"/>
                          <a:pt x="4864069" y="369332"/>
                        </a:cubicBezTo>
                        <a:cubicBezTo>
                          <a:pt x="4741269" y="389802"/>
                          <a:pt x="4566980" y="366907"/>
                          <a:pt x="4369532" y="369332"/>
                        </a:cubicBezTo>
                        <a:cubicBezTo>
                          <a:pt x="4172084" y="371757"/>
                          <a:pt x="4016291" y="397026"/>
                          <a:pt x="3814026" y="369332"/>
                        </a:cubicBezTo>
                        <a:cubicBezTo>
                          <a:pt x="3611761" y="341638"/>
                          <a:pt x="3417785" y="393373"/>
                          <a:pt x="3197549" y="369332"/>
                        </a:cubicBezTo>
                        <a:cubicBezTo>
                          <a:pt x="2977313" y="345291"/>
                          <a:pt x="2760373" y="355150"/>
                          <a:pt x="2642043" y="369332"/>
                        </a:cubicBezTo>
                        <a:cubicBezTo>
                          <a:pt x="2523713" y="383514"/>
                          <a:pt x="2113345" y="337677"/>
                          <a:pt x="1842656" y="369332"/>
                        </a:cubicBezTo>
                        <a:cubicBezTo>
                          <a:pt x="1571967" y="400987"/>
                          <a:pt x="1572914" y="352624"/>
                          <a:pt x="1348119" y="369332"/>
                        </a:cubicBezTo>
                        <a:cubicBezTo>
                          <a:pt x="1123324" y="386040"/>
                          <a:pt x="1011119" y="355339"/>
                          <a:pt x="731643" y="369332"/>
                        </a:cubicBezTo>
                        <a:cubicBezTo>
                          <a:pt x="452167" y="383325"/>
                          <a:pt x="356588" y="367998"/>
                          <a:pt x="0" y="369332"/>
                        </a:cubicBezTo>
                        <a:cubicBezTo>
                          <a:pt x="-497" y="217177"/>
                          <a:pt x="-1272" y="119553"/>
                          <a:pt x="0" y="0"/>
                        </a:cubicBezTo>
                        <a:close/>
                      </a:path>
                    </a:pathLst>
                  </a:custGeom>
                  <ask:type>
                    <ask:lineSketchNone/>
                  </ask:type>
                </ask:lineSketchStyleProps>
              </a:ext>
            </a:extLst>
          </a:ln>
        </p:spPr>
        <p:txBody>
          <a:bodyPr wrap="square">
            <a:spAutoFit/>
          </a:bodyPr>
          <a:lstStyle/>
          <a:p>
            <a:r>
              <a:rPr lang="" dirty="0"/>
              <a:t>1. Witnesses register TESLA keys on-chain.</a:t>
            </a:r>
          </a:p>
        </p:txBody>
      </p:sp>
      <p:sp>
        <p:nvSpPr>
          <p:cNvPr id="6" name="Rectangle 5">
            <a:extLst>
              <a:ext uri="{FF2B5EF4-FFF2-40B4-BE49-F238E27FC236}">
                <a16:creationId xmlns:a16="http://schemas.microsoft.com/office/drawing/2014/main" id="{C40AE2BD-582B-BD67-C90E-8BF73C0F8D8A}"/>
              </a:ext>
            </a:extLst>
          </p:cNvPr>
          <p:cNvSpPr/>
          <p:nvPr/>
        </p:nvSpPr>
        <p:spPr>
          <a:xfrm>
            <a:off x="5027337" y="4676394"/>
            <a:ext cx="1552639" cy="369332"/>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2851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45BE0-1A21-3122-4837-7577F735194C}"/>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A56B677C-01C4-0E65-4513-8F128CCDDD09}"/>
              </a:ext>
            </a:extLst>
          </p:cNvPr>
          <p:cNvPicPr>
            <a:picLocks noGrp="1" noRot="1" noChangeAspect="1" noMove="1" noResize="1" noEditPoints="1" noAdjustHandles="1" noChangeArrowheads="1" noChangeShapeType="1" noCrop="1"/>
          </p:cNvPicPr>
          <p:nvPr/>
        </p:nvPicPr>
        <p:blipFill>
          <a:blip r:embed="rId3"/>
          <a:stretch>
            <a:fillRect/>
          </a:stretch>
        </p:blipFill>
        <p:spPr>
          <a:xfrm>
            <a:off x="2140857" y="1828800"/>
            <a:ext cx="7910287" cy="3200400"/>
          </a:xfrm>
          <a:prstGeom prst="rect">
            <a:avLst/>
          </a:prstGeom>
        </p:spPr>
      </p:pic>
      <p:sp>
        <p:nvSpPr>
          <p:cNvPr id="2" name="Title 1">
            <a:extLst>
              <a:ext uri="{FF2B5EF4-FFF2-40B4-BE49-F238E27FC236}">
                <a16:creationId xmlns:a16="http://schemas.microsoft.com/office/drawing/2014/main" id="{D1F7DD42-4596-8125-D629-A10B497CE631}"/>
              </a:ext>
            </a:extLst>
          </p:cNvPr>
          <p:cNvSpPr>
            <a:spLocks noGrp="1"/>
          </p:cNvSpPr>
          <p:nvPr>
            <p:ph type="title"/>
          </p:nvPr>
        </p:nvSpPr>
        <p:spPr/>
        <p:txBody>
          <a:bodyPr>
            <a:normAutofit/>
          </a:bodyPr>
          <a:lstStyle/>
          <a:p>
            <a:r>
              <a:rPr lang="en-US" sz="3600" b="1" dirty="0">
                <a:latin typeface="Calibri"/>
                <a:ea typeface="Calibri"/>
                <a:cs typeface="Calibri"/>
              </a:rPr>
              <a:t>Protocol Flow</a:t>
            </a:r>
          </a:p>
        </p:txBody>
      </p:sp>
      <p:sp>
        <p:nvSpPr>
          <p:cNvPr id="4" name="TextBox 3">
            <a:extLst>
              <a:ext uri="{FF2B5EF4-FFF2-40B4-BE49-F238E27FC236}">
                <a16:creationId xmlns:a16="http://schemas.microsoft.com/office/drawing/2014/main" id="{F860539C-2973-4099-1638-F27D1E790BE9}"/>
              </a:ext>
            </a:extLst>
          </p:cNvPr>
          <p:cNvSpPr txBox="1"/>
          <p:nvPr/>
        </p:nvSpPr>
        <p:spPr>
          <a:xfrm>
            <a:off x="1109247" y="5461293"/>
            <a:ext cx="6097022" cy="369332"/>
          </a:xfrm>
          <a:prstGeom prst="rect">
            <a:avLst/>
          </a:prstGeom>
          <a:noFill/>
          <a:ln w="28575">
            <a:solidFill>
              <a:srgbClr val="C00000"/>
            </a:solidFill>
            <a:extLst>
              <a:ext uri="{C807C97D-BFC1-408E-A445-0C87EB9F89A2}">
                <ask:lineSketchStyleProps xmlns:ask="http://schemas.microsoft.com/office/drawing/2018/sketchyshapes" sd="1375298759">
                  <a:custGeom>
                    <a:avLst/>
                    <a:gdLst>
                      <a:gd name="csX0" fmla="*/ 0 w 6097022"/>
                      <a:gd name="csY0" fmla="*/ 0 h 369332"/>
                      <a:gd name="csX1" fmla="*/ 677447 w 6097022"/>
                      <a:gd name="csY1" fmla="*/ 0 h 369332"/>
                      <a:gd name="csX2" fmla="*/ 1232953 w 6097022"/>
                      <a:gd name="csY2" fmla="*/ 0 h 369332"/>
                      <a:gd name="csX3" fmla="*/ 1971370 w 6097022"/>
                      <a:gd name="csY3" fmla="*/ 0 h 369332"/>
                      <a:gd name="csX4" fmla="*/ 2709788 w 6097022"/>
                      <a:gd name="csY4" fmla="*/ 0 h 369332"/>
                      <a:gd name="csX5" fmla="*/ 3326264 w 6097022"/>
                      <a:gd name="csY5" fmla="*/ 0 h 369332"/>
                      <a:gd name="csX6" fmla="*/ 3881771 w 6097022"/>
                      <a:gd name="csY6" fmla="*/ 0 h 369332"/>
                      <a:gd name="csX7" fmla="*/ 4681158 w 6097022"/>
                      <a:gd name="csY7" fmla="*/ 0 h 369332"/>
                      <a:gd name="csX8" fmla="*/ 5297635 w 6097022"/>
                      <a:gd name="csY8" fmla="*/ 0 h 369332"/>
                      <a:gd name="csX9" fmla="*/ 6097022 w 6097022"/>
                      <a:gd name="csY9" fmla="*/ 0 h 369332"/>
                      <a:gd name="csX10" fmla="*/ 6097022 w 6097022"/>
                      <a:gd name="csY10" fmla="*/ 369332 h 369332"/>
                      <a:gd name="csX11" fmla="*/ 5419575 w 6097022"/>
                      <a:gd name="csY11" fmla="*/ 369332 h 369332"/>
                      <a:gd name="csX12" fmla="*/ 4864069 w 6097022"/>
                      <a:gd name="csY12" fmla="*/ 369332 h 369332"/>
                      <a:gd name="csX13" fmla="*/ 4369532 w 6097022"/>
                      <a:gd name="csY13" fmla="*/ 369332 h 369332"/>
                      <a:gd name="csX14" fmla="*/ 3814026 w 6097022"/>
                      <a:gd name="csY14" fmla="*/ 369332 h 369332"/>
                      <a:gd name="csX15" fmla="*/ 3197549 w 6097022"/>
                      <a:gd name="csY15" fmla="*/ 369332 h 369332"/>
                      <a:gd name="csX16" fmla="*/ 2642043 w 6097022"/>
                      <a:gd name="csY16" fmla="*/ 369332 h 369332"/>
                      <a:gd name="csX17" fmla="*/ 1842656 w 6097022"/>
                      <a:gd name="csY17" fmla="*/ 369332 h 369332"/>
                      <a:gd name="csX18" fmla="*/ 1348119 w 6097022"/>
                      <a:gd name="csY18" fmla="*/ 369332 h 369332"/>
                      <a:gd name="csX19" fmla="*/ 731643 w 6097022"/>
                      <a:gd name="csY19" fmla="*/ 369332 h 369332"/>
                      <a:gd name="csX20" fmla="*/ 0 w 6097022"/>
                      <a:gd name="csY20" fmla="*/ 369332 h 369332"/>
                      <a:gd name="csX21" fmla="*/ 0 w 6097022"/>
                      <a:gd name="csY21"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6097022" h="369332" extrusionOk="0">
                        <a:moveTo>
                          <a:pt x="0" y="0"/>
                        </a:moveTo>
                        <a:cubicBezTo>
                          <a:pt x="286211" y="15504"/>
                          <a:pt x="522803" y="-16195"/>
                          <a:pt x="677447" y="0"/>
                        </a:cubicBezTo>
                        <a:cubicBezTo>
                          <a:pt x="832091" y="16195"/>
                          <a:pt x="1016832" y="-1986"/>
                          <a:pt x="1232953" y="0"/>
                        </a:cubicBezTo>
                        <a:cubicBezTo>
                          <a:pt x="1449074" y="1986"/>
                          <a:pt x="1760104" y="-17373"/>
                          <a:pt x="1971370" y="0"/>
                        </a:cubicBezTo>
                        <a:cubicBezTo>
                          <a:pt x="2182636" y="17373"/>
                          <a:pt x="2429168" y="27356"/>
                          <a:pt x="2709788" y="0"/>
                        </a:cubicBezTo>
                        <a:cubicBezTo>
                          <a:pt x="2990408" y="-27356"/>
                          <a:pt x="3066017" y="-13590"/>
                          <a:pt x="3326264" y="0"/>
                        </a:cubicBezTo>
                        <a:cubicBezTo>
                          <a:pt x="3586511" y="13590"/>
                          <a:pt x="3751098" y="5199"/>
                          <a:pt x="3881771" y="0"/>
                        </a:cubicBezTo>
                        <a:cubicBezTo>
                          <a:pt x="4012444" y="-5199"/>
                          <a:pt x="4401973" y="-18108"/>
                          <a:pt x="4681158" y="0"/>
                        </a:cubicBezTo>
                        <a:cubicBezTo>
                          <a:pt x="4960343" y="18108"/>
                          <a:pt x="5031832" y="-25747"/>
                          <a:pt x="5297635" y="0"/>
                        </a:cubicBezTo>
                        <a:cubicBezTo>
                          <a:pt x="5563438" y="25747"/>
                          <a:pt x="5851965" y="-16616"/>
                          <a:pt x="6097022" y="0"/>
                        </a:cubicBezTo>
                        <a:cubicBezTo>
                          <a:pt x="6085251" y="158721"/>
                          <a:pt x="6109284" y="188157"/>
                          <a:pt x="6097022" y="369332"/>
                        </a:cubicBezTo>
                        <a:cubicBezTo>
                          <a:pt x="5836665" y="374939"/>
                          <a:pt x="5582033" y="374392"/>
                          <a:pt x="5419575" y="369332"/>
                        </a:cubicBezTo>
                        <a:cubicBezTo>
                          <a:pt x="5257117" y="364272"/>
                          <a:pt x="4986869" y="348862"/>
                          <a:pt x="4864069" y="369332"/>
                        </a:cubicBezTo>
                        <a:cubicBezTo>
                          <a:pt x="4741269" y="389802"/>
                          <a:pt x="4566980" y="366907"/>
                          <a:pt x="4369532" y="369332"/>
                        </a:cubicBezTo>
                        <a:cubicBezTo>
                          <a:pt x="4172084" y="371757"/>
                          <a:pt x="4016291" y="397026"/>
                          <a:pt x="3814026" y="369332"/>
                        </a:cubicBezTo>
                        <a:cubicBezTo>
                          <a:pt x="3611761" y="341638"/>
                          <a:pt x="3417785" y="393373"/>
                          <a:pt x="3197549" y="369332"/>
                        </a:cubicBezTo>
                        <a:cubicBezTo>
                          <a:pt x="2977313" y="345291"/>
                          <a:pt x="2760373" y="355150"/>
                          <a:pt x="2642043" y="369332"/>
                        </a:cubicBezTo>
                        <a:cubicBezTo>
                          <a:pt x="2523713" y="383514"/>
                          <a:pt x="2113345" y="337677"/>
                          <a:pt x="1842656" y="369332"/>
                        </a:cubicBezTo>
                        <a:cubicBezTo>
                          <a:pt x="1571967" y="400987"/>
                          <a:pt x="1572914" y="352624"/>
                          <a:pt x="1348119" y="369332"/>
                        </a:cubicBezTo>
                        <a:cubicBezTo>
                          <a:pt x="1123324" y="386040"/>
                          <a:pt x="1011119" y="355339"/>
                          <a:pt x="731643" y="369332"/>
                        </a:cubicBezTo>
                        <a:cubicBezTo>
                          <a:pt x="452167" y="383325"/>
                          <a:pt x="356588" y="367998"/>
                          <a:pt x="0" y="369332"/>
                        </a:cubicBezTo>
                        <a:cubicBezTo>
                          <a:pt x="-497" y="217177"/>
                          <a:pt x="-1272" y="119553"/>
                          <a:pt x="0" y="0"/>
                        </a:cubicBezTo>
                        <a:close/>
                      </a:path>
                    </a:pathLst>
                  </a:custGeom>
                  <ask:type>
                    <ask:lineSketchNone/>
                  </ask:type>
                </ask:lineSketchStyleProps>
              </a:ext>
            </a:extLst>
          </a:ln>
        </p:spPr>
        <p:txBody>
          <a:bodyPr wrap="square">
            <a:spAutoFit/>
          </a:bodyPr>
          <a:lstStyle/>
          <a:p>
            <a:r>
              <a:rPr lang="" dirty="0"/>
              <a:t>2. Notifier creates a profile with SLA and deposit.</a:t>
            </a:r>
          </a:p>
        </p:txBody>
      </p:sp>
      <p:sp>
        <p:nvSpPr>
          <p:cNvPr id="6" name="Rectangle 5">
            <a:extLst>
              <a:ext uri="{FF2B5EF4-FFF2-40B4-BE49-F238E27FC236}">
                <a16:creationId xmlns:a16="http://schemas.microsoft.com/office/drawing/2014/main" id="{A08D5BBC-A56B-0274-BC72-717869283AD0}"/>
              </a:ext>
            </a:extLst>
          </p:cNvPr>
          <p:cNvSpPr/>
          <p:nvPr/>
        </p:nvSpPr>
        <p:spPr>
          <a:xfrm>
            <a:off x="2672861" y="2469661"/>
            <a:ext cx="1727200" cy="36576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5121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A753D-5E66-5A6A-F968-C79DF63EB7E8}"/>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6C4611F0-D58C-C900-8C9A-240564113537}"/>
              </a:ext>
            </a:extLst>
          </p:cNvPr>
          <p:cNvPicPr>
            <a:picLocks noGrp="1" noRot="1" noChangeAspect="1" noMove="1" noResize="1" noEditPoints="1" noAdjustHandles="1" noChangeArrowheads="1" noChangeShapeType="1" noCrop="1"/>
          </p:cNvPicPr>
          <p:nvPr/>
        </p:nvPicPr>
        <p:blipFill>
          <a:blip r:embed="rId3"/>
          <a:stretch>
            <a:fillRect/>
          </a:stretch>
        </p:blipFill>
        <p:spPr>
          <a:xfrm>
            <a:off x="2140857" y="1828800"/>
            <a:ext cx="7910287" cy="3200400"/>
          </a:xfrm>
          <a:prstGeom prst="rect">
            <a:avLst/>
          </a:prstGeom>
        </p:spPr>
      </p:pic>
      <p:sp>
        <p:nvSpPr>
          <p:cNvPr id="2" name="Title 1">
            <a:extLst>
              <a:ext uri="{FF2B5EF4-FFF2-40B4-BE49-F238E27FC236}">
                <a16:creationId xmlns:a16="http://schemas.microsoft.com/office/drawing/2014/main" id="{F407AA32-E2E3-1544-F367-2313FDB2A25B}"/>
              </a:ext>
            </a:extLst>
          </p:cNvPr>
          <p:cNvSpPr>
            <a:spLocks noGrp="1"/>
          </p:cNvSpPr>
          <p:nvPr>
            <p:ph type="title"/>
          </p:nvPr>
        </p:nvSpPr>
        <p:spPr/>
        <p:txBody>
          <a:bodyPr>
            <a:normAutofit/>
          </a:bodyPr>
          <a:lstStyle/>
          <a:p>
            <a:r>
              <a:rPr lang="en-US" sz="3600" b="1" dirty="0">
                <a:latin typeface="Calibri"/>
                <a:ea typeface="Calibri"/>
                <a:cs typeface="Calibri"/>
              </a:rPr>
              <a:t>Protocol Flow</a:t>
            </a:r>
          </a:p>
        </p:txBody>
      </p:sp>
      <p:sp>
        <p:nvSpPr>
          <p:cNvPr id="4" name="TextBox 3">
            <a:extLst>
              <a:ext uri="{FF2B5EF4-FFF2-40B4-BE49-F238E27FC236}">
                <a16:creationId xmlns:a16="http://schemas.microsoft.com/office/drawing/2014/main" id="{09CC2AF3-2639-C95B-E341-D2EF5C65B91E}"/>
              </a:ext>
            </a:extLst>
          </p:cNvPr>
          <p:cNvSpPr txBox="1"/>
          <p:nvPr/>
        </p:nvSpPr>
        <p:spPr>
          <a:xfrm>
            <a:off x="1109247" y="5461293"/>
            <a:ext cx="6097022" cy="369332"/>
          </a:xfrm>
          <a:prstGeom prst="rect">
            <a:avLst/>
          </a:prstGeom>
          <a:noFill/>
          <a:ln w="28575">
            <a:solidFill>
              <a:srgbClr val="C00000"/>
            </a:solidFill>
            <a:extLst>
              <a:ext uri="{C807C97D-BFC1-408E-A445-0C87EB9F89A2}">
                <ask:lineSketchStyleProps xmlns:ask="http://schemas.microsoft.com/office/drawing/2018/sketchyshapes" sd="1375298759">
                  <a:custGeom>
                    <a:avLst/>
                    <a:gdLst>
                      <a:gd name="csX0" fmla="*/ 0 w 6097022"/>
                      <a:gd name="csY0" fmla="*/ 0 h 369332"/>
                      <a:gd name="csX1" fmla="*/ 677447 w 6097022"/>
                      <a:gd name="csY1" fmla="*/ 0 h 369332"/>
                      <a:gd name="csX2" fmla="*/ 1232953 w 6097022"/>
                      <a:gd name="csY2" fmla="*/ 0 h 369332"/>
                      <a:gd name="csX3" fmla="*/ 1971370 w 6097022"/>
                      <a:gd name="csY3" fmla="*/ 0 h 369332"/>
                      <a:gd name="csX4" fmla="*/ 2709788 w 6097022"/>
                      <a:gd name="csY4" fmla="*/ 0 h 369332"/>
                      <a:gd name="csX5" fmla="*/ 3326264 w 6097022"/>
                      <a:gd name="csY5" fmla="*/ 0 h 369332"/>
                      <a:gd name="csX6" fmla="*/ 3881771 w 6097022"/>
                      <a:gd name="csY6" fmla="*/ 0 h 369332"/>
                      <a:gd name="csX7" fmla="*/ 4681158 w 6097022"/>
                      <a:gd name="csY7" fmla="*/ 0 h 369332"/>
                      <a:gd name="csX8" fmla="*/ 5297635 w 6097022"/>
                      <a:gd name="csY8" fmla="*/ 0 h 369332"/>
                      <a:gd name="csX9" fmla="*/ 6097022 w 6097022"/>
                      <a:gd name="csY9" fmla="*/ 0 h 369332"/>
                      <a:gd name="csX10" fmla="*/ 6097022 w 6097022"/>
                      <a:gd name="csY10" fmla="*/ 369332 h 369332"/>
                      <a:gd name="csX11" fmla="*/ 5419575 w 6097022"/>
                      <a:gd name="csY11" fmla="*/ 369332 h 369332"/>
                      <a:gd name="csX12" fmla="*/ 4864069 w 6097022"/>
                      <a:gd name="csY12" fmla="*/ 369332 h 369332"/>
                      <a:gd name="csX13" fmla="*/ 4369532 w 6097022"/>
                      <a:gd name="csY13" fmla="*/ 369332 h 369332"/>
                      <a:gd name="csX14" fmla="*/ 3814026 w 6097022"/>
                      <a:gd name="csY14" fmla="*/ 369332 h 369332"/>
                      <a:gd name="csX15" fmla="*/ 3197549 w 6097022"/>
                      <a:gd name="csY15" fmla="*/ 369332 h 369332"/>
                      <a:gd name="csX16" fmla="*/ 2642043 w 6097022"/>
                      <a:gd name="csY16" fmla="*/ 369332 h 369332"/>
                      <a:gd name="csX17" fmla="*/ 1842656 w 6097022"/>
                      <a:gd name="csY17" fmla="*/ 369332 h 369332"/>
                      <a:gd name="csX18" fmla="*/ 1348119 w 6097022"/>
                      <a:gd name="csY18" fmla="*/ 369332 h 369332"/>
                      <a:gd name="csX19" fmla="*/ 731643 w 6097022"/>
                      <a:gd name="csY19" fmla="*/ 369332 h 369332"/>
                      <a:gd name="csX20" fmla="*/ 0 w 6097022"/>
                      <a:gd name="csY20" fmla="*/ 369332 h 369332"/>
                      <a:gd name="csX21" fmla="*/ 0 w 6097022"/>
                      <a:gd name="csY21"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6097022" h="369332" extrusionOk="0">
                        <a:moveTo>
                          <a:pt x="0" y="0"/>
                        </a:moveTo>
                        <a:cubicBezTo>
                          <a:pt x="286211" y="15504"/>
                          <a:pt x="522803" y="-16195"/>
                          <a:pt x="677447" y="0"/>
                        </a:cubicBezTo>
                        <a:cubicBezTo>
                          <a:pt x="832091" y="16195"/>
                          <a:pt x="1016832" y="-1986"/>
                          <a:pt x="1232953" y="0"/>
                        </a:cubicBezTo>
                        <a:cubicBezTo>
                          <a:pt x="1449074" y="1986"/>
                          <a:pt x="1760104" y="-17373"/>
                          <a:pt x="1971370" y="0"/>
                        </a:cubicBezTo>
                        <a:cubicBezTo>
                          <a:pt x="2182636" y="17373"/>
                          <a:pt x="2429168" y="27356"/>
                          <a:pt x="2709788" y="0"/>
                        </a:cubicBezTo>
                        <a:cubicBezTo>
                          <a:pt x="2990408" y="-27356"/>
                          <a:pt x="3066017" y="-13590"/>
                          <a:pt x="3326264" y="0"/>
                        </a:cubicBezTo>
                        <a:cubicBezTo>
                          <a:pt x="3586511" y="13590"/>
                          <a:pt x="3751098" y="5199"/>
                          <a:pt x="3881771" y="0"/>
                        </a:cubicBezTo>
                        <a:cubicBezTo>
                          <a:pt x="4012444" y="-5199"/>
                          <a:pt x="4401973" y="-18108"/>
                          <a:pt x="4681158" y="0"/>
                        </a:cubicBezTo>
                        <a:cubicBezTo>
                          <a:pt x="4960343" y="18108"/>
                          <a:pt x="5031832" y="-25747"/>
                          <a:pt x="5297635" y="0"/>
                        </a:cubicBezTo>
                        <a:cubicBezTo>
                          <a:pt x="5563438" y="25747"/>
                          <a:pt x="5851965" y="-16616"/>
                          <a:pt x="6097022" y="0"/>
                        </a:cubicBezTo>
                        <a:cubicBezTo>
                          <a:pt x="6085251" y="158721"/>
                          <a:pt x="6109284" y="188157"/>
                          <a:pt x="6097022" y="369332"/>
                        </a:cubicBezTo>
                        <a:cubicBezTo>
                          <a:pt x="5836665" y="374939"/>
                          <a:pt x="5582033" y="374392"/>
                          <a:pt x="5419575" y="369332"/>
                        </a:cubicBezTo>
                        <a:cubicBezTo>
                          <a:pt x="5257117" y="364272"/>
                          <a:pt x="4986869" y="348862"/>
                          <a:pt x="4864069" y="369332"/>
                        </a:cubicBezTo>
                        <a:cubicBezTo>
                          <a:pt x="4741269" y="389802"/>
                          <a:pt x="4566980" y="366907"/>
                          <a:pt x="4369532" y="369332"/>
                        </a:cubicBezTo>
                        <a:cubicBezTo>
                          <a:pt x="4172084" y="371757"/>
                          <a:pt x="4016291" y="397026"/>
                          <a:pt x="3814026" y="369332"/>
                        </a:cubicBezTo>
                        <a:cubicBezTo>
                          <a:pt x="3611761" y="341638"/>
                          <a:pt x="3417785" y="393373"/>
                          <a:pt x="3197549" y="369332"/>
                        </a:cubicBezTo>
                        <a:cubicBezTo>
                          <a:pt x="2977313" y="345291"/>
                          <a:pt x="2760373" y="355150"/>
                          <a:pt x="2642043" y="369332"/>
                        </a:cubicBezTo>
                        <a:cubicBezTo>
                          <a:pt x="2523713" y="383514"/>
                          <a:pt x="2113345" y="337677"/>
                          <a:pt x="1842656" y="369332"/>
                        </a:cubicBezTo>
                        <a:cubicBezTo>
                          <a:pt x="1571967" y="400987"/>
                          <a:pt x="1572914" y="352624"/>
                          <a:pt x="1348119" y="369332"/>
                        </a:cubicBezTo>
                        <a:cubicBezTo>
                          <a:pt x="1123324" y="386040"/>
                          <a:pt x="1011119" y="355339"/>
                          <a:pt x="731643" y="369332"/>
                        </a:cubicBezTo>
                        <a:cubicBezTo>
                          <a:pt x="452167" y="383325"/>
                          <a:pt x="356588" y="367998"/>
                          <a:pt x="0" y="369332"/>
                        </a:cubicBezTo>
                        <a:cubicBezTo>
                          <a:pt x="-497" y="217177"/>
                          <a:pt x="-1272" y="119553"/>
                          <a:pt x="0" y="0"/>
                        </a:cubicBezTo>
                        <a:close/>
                      </a:path>
                    </a:pathLst>
                  </a:custGeom>
                  <ask:type>
                    <ask:lineSketchNone/>
                  </ask:type>
                </ask:lineSketchStyleProps>
              </a:ext>
            </a:extLst>
          </a:ln>
        </p:spPr>
        <p:txBody>
          <a:bodyPr wrap="square">
            <a:spAutoFit/>
          </a:bodyPr>
          <a:lstStyle/>
          <a:p>
            <a:r>
              <a:rPr lang="" dirty="0"/>
              <a:t>3. Recipient subscribes and selects trusted witnesses.</a:t>
            </a:r>
          </a:p>
        </p:txBody>
      </p:sp>
      <p:sp>
        <p:nvSpPr>
          <p:cNvPr id="6" name="Rectangle 5">
            <a:extLst>
              <a:ext uri="{FF2B5EF4-FFF2-40B4-BE49-F238E27FC236}">
                <a16:creationId xmlns:a16="http://schemas.microsoft.com/office/drawing/2014/main" id="{8BE8D4F3-AA68-AC69-6599-EA3A5EC77898}"/>
              </a:ext>
            </a:extLst>
          </p:cNvPr>
          <p:cNvSpPr/>
          <p:nvPr/>
        </p:nvSpPr>
        <p:spPr>
          <a:xfrm>
            <a:off x="5153120" y="1840677"/>
            <a:ext cx="1415581" cy="36576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5628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C976C-B1FE-E648-A32A-B64FCEB91938}"/>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54C165B-E0A2-A6F6-E74C-5F5CB6462B59}"/>
              </a:ext>
            </a:extLst>
          </p:cNvPr>
          <p:cNvPicPr>
            <a:picLocks noGrp="1" noRot="1" noChangeAspect="1" noMove="1" noResize="1" noEditPoints="1" noAdjustHandles="1" noChangeArrowheads="1" noChangeShapeType="1" noCrop="1"/>
          </p:cNvPicPr>
          <p:nvPr/>
        </p:nvPicPr>
        <p:blipFill>
          <a:blip r:embed="rId3"/>
          <a:stretch>
            <a:fillRect/>
          </a:stretch>
        </p:blipFill>
        <p:spPr>
          <a:xfrm>
            <a:off x="2346566" y="2468880"/>
            <a:ext cx="7662806" cy="2395728"/>
          </a:xfrm>
          <a:prstGeom prst="rect">
            <a:avLst/>
          </a:prstGeom>
        </p:spPr>
      </p:pic>
      <p:sp>
        <p:nvSpPr>
          <p:cNvPr id="2" name="Title 1">
            <a:extLst>
              <a:ext uri="{FF2B5EF4-FFF2-40B4-BE49-F238E27FC236}">
                <a16:creationId xmlns:a16="http://schemas.microsoft.com/office/drawing/2014/main" id="{BF7C2158-3BEF-01ED-BA22-1EC05105A46C}"/>
              </a:ext>
            </a:extLst>
          </p:cNvPr>
          <p:cNvSpPr>
            <a:spLocks noGrp="1"/>
          </p:cNvSpPr>
          <p:nvPr>
            <p:ph type="title"/>
          </p:nvPr>
        </p:nvSpPr>
        <p:spPr/>
        <p:txBody>
          <a:bodyPr>
            <a:normAutofit/>
          </a:bodyPr>
          <a:lstStyle/>
          <a:p>
            <a:r>
              <a:rPr lang="en-US" sz="3600" b="1" dirty="0">
                <a:latin typeface="Calibri"/>
                <a:ea typeface="Calibri"/>
                <a:cs typeface="Calibri"/>
              </a:rPr>
              <a:t>Protocol Flow</a:t>
            </a:r>
          </a:p>
        </p:txBody>
      </p:sp>
      <p:sp>
        <p:nvSpPr>
          <p:cNvPr id="4" name="TextBox 3">
            <a:extLst>
              <a:ext uri="{FF2B5EF4-FFF2-40B4-BE49-F238E27FC236}">
                <a16:creationId xmlns:a16="http://schemas.microsoft.com/office/drawing/2014/main" id="{0ECCCAC4-B2DA-278C-FB84-CB88CC9DEB51}"/>
              </a:ext>
            </a:extLst>
          </p:cNvPr>
          <p:cNvSpPr txBox="1"/>
          <p:nvPr/>
        </p:nvSpPr>
        <p:spPr>
          <a:xfrm>
            <a:off x="1109246" y="5461293"/>
            <a:ext cx="6881013" cy="369332"/>
          </a:xfrm>
          <a:prstGeom prst="rect">
            <a:avLst/>
          </a:prstGeom>
          <a:noFill/>
          <a:ln w="28575">
            <a:solidFill>
              <a:srgbClr val="C00000"/>
            </a:solidFill>
            <a:extLst>
              <a:ext uri="{C807C97D-BFC1-408E-A445-0C87EB9F89A2}">
                <ask:lineSketchStyleProps xmlns:ask="http://schemas.microsoft.com/office/drawing/2018/sketchyshapes" sd="1375298759">
                  <a:custGeom>
                    <a:avLst/>
                    <a:gdLst>
                      <a:gd name="csX0" fmla="*/ 0 w 6097022"/>
                      <a:gd name="csY0" fmla="*/ 0 h 369332"/>
                      <a:gd name="csX1" fmla="*/ 677447 w 6097022"/>
                      <a:gd name="csY1" fmla="*/ 0 h 369332"/>
                      <a:gd name="csX2" fmla="*/ 1232953 w 6097022"/>
                      <a:gd name="csY2" fmla="*/ 0 h 369332"/>
                      <a:gd name="csX3" fmla="*/ 1971370 w 6097022"/>
                      <a:gd name="csY3" fmla="*/ 0 h 369332"/>
                      <a:gd name="csX4" fmla="*/ 2709788 w 6097022"/>
                      <a:gd name="csY4" fmla="*/ 0 h 369332"/>
                      <a:gd name="csX5" fmla="*/ 3326264 w 6097022"/>
                      <a:gd name="csY5" fmla="*/ 0 h 369332"/>
                      <a:gd name="csX6" fmla="*/ 3881771 w 6097022"/>
                      <a:gd name="csY6" fmla="*/ 0 h 369332"/>
                      <a:gd name="csX7" fmla="*/ 4681158 w 6097022"/>
                      <a:gd name="csY7" fmla="*/ 0 h 369332"/>
                      <a:gd name="csX8" fmla="*/ 5297635 w 6097022"/>
                      <a:gd name="csY8" fmla="*/ 0 h 369332"/>
                      <a:gd name="csX9" fmla="*/ 6097022 w 6097022"/>
                      <a:gd name="csY9" fmla="*/ 0 h 369332"/>
                      <a:gd name="csX10" fmla="*/ 6097022 w 6097022"/>
                      <a:gd name="csY10" fmla="*/ 369332 h 369332"/>
                      <a:gd name="csX11" fmla="*/ 5419575 w 6097022"/>
                      <a:gd name="csY11" fmla="*/ 369332 h 369332"/>
                      <a:gd name="csX12" fmla="*/ 4864069 w 6097022"/>
                      <a:gd name="csY12" fmla="*/ 369332 h 369332"/>
                      <a:gd name="csX13" fmla="*/ 4369532 w 6097022"/>
                      <a:gd name="csY13" fmla="*/ 369332 h 369332"/>
                      <a:gd name="csX14" fmla="*/ 3814026 w 6097022"/>
                      <a:gd name="csY14" fmla="*/ 369332 h 369332"/>
                      <a:gd name="csX15" fmla="*/ 3197549 w 6097022"/>
                      <a:gd name="csY15" fmla="*/ 369332 h 369332"/>
                      <a:gd name="csX16" fmla="*/ 2642043 w 6097022"/>
                      <a:gd name="csY16" fmla="*/ 369332 h 369332"/>
                      <a:gd name="csX17" fmla="*/ 1842656 w 6097022"/>
                      <a:gd name="csY17" fmla="*/ 369332 h 369332"/>
                      <a:gd name="csX18" fmla="*/ 1348119 w 6097022"/>
                      <a:gd name="csY18" fmla="*/ 369332 h 369332"/>
                      <a:gd name="csX19" fmla="*/ 731643 w 6097022"/>
                      <a:gd name="csY19" fmla="*/ 369332 h 369332"/>
                      <a:gd name="csX20" fmla="*/ 0 w 6097022"/>
                      <a:gd name="csY20" fmla="*/ 369332 h 369332"/>
                      <a:gd name="csX21" fmla="*/ 0 w 6097022"/>
                      <a:gd name="csY21"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6097022" h="369332" extrusionOk="0">
                        <a:moveTo>
                          <a:pt x="0" y="0"/>
                        </a:moveTo>
                        <a:cubicBezTo>
                          <a:pt x="286211" y="15504"/>
                          <a:pt x="522803" y="-16195"/>
                          <a:pt x="677447" y="0"/>
                        </a:cubicBezTo>
                        <a:cubicBezTo>
                          <a:pt x="832091" y="16195"/>
                          <a:pt x="1016832" y="-1986"/>
                          <a:pt x="1232953" y="0"/>
                        </a:cubicBezTo>
                        <a:cubicBezTo>
                          <a:pt x="1449074" y="1986"/>
                          <a:pt x="1760104" y="-17373"/>
                          <a:pt x="1971370" y="0"/>
                        </a:cubicBezTo>
                        <a:cubicBezTo>
                          <a:pt x="2182636" y="17373"/>
                          <a:pt x="2429168" y="27356"/>
                          <a:pt x="2709788" y="0"/>
                        </a:cubicBezTo>
                        <a:cubicBezTo>
                          <a:pt x="2990408" y="-27356"/>
                          <a:pt x="3066017" y="-13590"/>
                          <a:pt x="3326264" y="0"/>
                        </a:cubicBezTo>
                        <a:cubicBezTo>
                          <a:pt x="3586511" y="13590"/>
                          <a:pt x="3751098" y="5199"/>
                          <a:pt x="3881771" y="0"/>
                        </a:cubicBezTo>
                        <a:cubicBezTo>
                          <a:pt x="4012444" y="-5199"/>
                          <a:pt x="4401973" y="-18108"/>
                          <a:pt x="4681158" y="0"/>
                        </a:cubicBezTo>
                        <a:cubicBezTo>
                          <a:pt x="4960343" y="18108"/>
                          <a:pt x="5031832" y="-25747"/>
                          <a:pt x="5297635" y="0"/>
                        </a:cubicBezTo>
                        <a:cubicBezTo>
                          <a:pt x="5563438" y="25747"/>
                          <a:pt x="5851965" y="-16616"/>
                          <a:pt x="6097022" y="0"/>
                        </a:cubicBezTo>
                        <a:cubicBezTo>
                          <a:pt x="6085251" y="158721"/>
                          <a:pt x="6109284" y="188157"/>
                          <a:pt x="6097022" y="369332"/>
                        </a:cubicBezTo>
                        <a:cubicBezTo>
                          <a:pt x="5836665" y="374939"/>
                          <a:pt x="5582033" y="374392"/>
                          <a:pt x="5419575" y="369332"/>
                        </a:cubicBezTo>
                        <a:cubicBezTo>
                          <a:pt x="5257117" y="364272"/>
                          <a:pt x="4986869" y="348862"/>
                          <a:pt x="4864069" y="369332"/>
                        </a:cubicBezTo>
                        <a:cubicBezTo>
                          <a:pt x="4741269" y="389802"/>
                          <a:pt x="4566980" y="366907"/>
                          <a:pt x="4369532" y="369332"/>
                        </a:cubicBezTo>
                        <a:cubicBezTo>
                          <a:pt x="4172084" y="371757"/>
                          <a:pt x="4016291" y="397026"/>
                          <a:pt x="3814026" y="369332"/>
                        </a:cubicBezTo>
                        <a:cubicBezTo>
                          <a:pt x="3611761" y="341638"/>
                          <a:pt x="3417785" y="393373"/>
                          <a:pt x="3197549" y="369332"/>
                        </a:cubicBezTo>
                        <a:cubicBezTo>
                          <a:pt x="2977313" y="345291"/>
                          <a:pt x="2760373" y="355150"/>
                          <a:pt x="2642043" y="369332"/>
                        </a:cubicBezTo>
                        <a:cubicBezTo>
                          <a:pt x="2523713" y="383514"/>
                          <a:pt x="2113345" y="337677"/>
                          <a:pt x="1842656" y="369332"/>
                        </a:cubicBezTo>
                        <a:cubicBezTo>
                          <a:pt x="1571967" y="400987"/>
                          <a:pt x="1572914" y="352624"/>
                          <a:pt x="1348119" y="369332"/>
                        </a:cubicBezTo>
                        <a:cubicBezTo>
                          <a:pt x="1123324" y="386040"/>
                          <a:pt x="1011119" y="355339"/>
                          <a:pt x="731643" y="369332"/>
                        </a:cubicBezTo>
                        <a:cubicBezTo>
                          <a:pt x="452167" y="383325"/>
                          <a:pt x="356588" y="367998"/>
                          <a:pt x="0" y="369332"/>
                        </a:cubicBezTo>
                        <a:cubicBezTo>
                          <a:pt x="-497" y="217177"/>
                          <a:pt x="-1272" y="119553"/>
                          <a:pt x="0" y="0"/>
                        </a:cubicBezTo>
                        <a:close/>
                      </a:path>
                    </a:pathLst>
                  </a:custGeom>
                  <ask:type>
                    <ask:lineSketchNone/>
                  </ask:type>
                </ask:lineSketchStyleProps>
              </a:ext>
            </a:extLst>
          </a:ln>
        </p:spPr>
        <p:txBody>
          <a:bodyPr wrap="square">
            <a:spAutoFit/>
          </a:bodyPr>
          <a:lstStyle/>
          <a:p>
            <a:r>
              <a:rPr lang="" dirty="0"/>
              <a:t>4. </a:t>
            </a:r>
            <a:r>
              <a:rPr lang="en-US" dirty="0"/>
              <a:t>Notifier sends notification along a path through a witness AS.</a:t>
            </a:r>
            <a:endParaRPr lang="" dirty="0"/>
          </a:p>
        </p:txBody>
      </p:sp>
      <p:sp>
        <p:nvSpPr>
          <p:cNvPr id="6" name="Rectangle 5">
            <a:extLst>
              <a:ext uri="{FF2B5EF4-FFF2-40B4-BE49-F238E27FC236}">
                <a16:creationId xmlns:a16="http://schemas.microsoft.com/office/drawing/2014/main" id="{3F938E9F-5899-6BAD-4CC5-6267AB64AC4C}"/>
              </a:ext>
            </a:extLst>
          </p:cNvPr>
          <p:cNvSpPr/>
          <p:nvPr/>
        </p:nvSpPr>
        <p:spPr>
          <a:xfrm>
            <a:off x="6702243" y="4230844"/>
            <a:ext cx="1325880" cy="36576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7405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9C635-75AB-DACF-BE38-FBAF4130F20E}"/>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4169C5F-0E14-8AEB-B718-A7D7EE791DAD}"/>
              </a:ext>
            </a:extLst>
          </p:cNvPr>
          <p:cNvPicPr>
            <a:picLocks noGrp="1" noRot="1" noChangeAspect="1" noMove="1" noResize="1" noEditPoints="1" noAdjustHandles="1" noChangeArrowheads="1" noChangeShapeType="1" noCrop="1"/>
          </p:cNvPicPr>
          <p:nvPr/>
        </p:nvPicPr>
        <p:blipFill>
          <a:blip r:embed="rId3"/>
          <a:stretch>
            <a:fillRect/>
          </a:stretch>
        </p:blipFill>
        <p:spPr>
          <a:xfrm>
            <a:off x="2346566" y="2468880"/>
            <a:ext cx="7662806" cy="2395728"/>
          </a:xfrm>
          <a:prstGeom prst="rect">
            <a:avLst/>
          </a:prstGeom>
        </p:spPr>
      </p:pic>
      <p:sp>
        <p:nvSpPr>
          <p:cNvPr id="2" name="Title 1">
            <a:extLst>
              <a:ext uri="{FF2B5EF4-FFF2-40B4-BE49-F238E27FC236}">
                <a16:creationId xmlns:a16="http://schemas.microsoft.com/office/drawing/2014/main" id="{A0B77215-4B08-35CA-6E8F-0407967EE251}"/>
              </a:ext>
            </a:extLst>
          </p:cNvPr>
          <p:cNvSpPr>
            <a:spLocks noGrp="1"/>
          </p:cNvSpPr>
          <p:nvPr>
            <p:ph type="title"/>
          </p:nvPr>
        </p:nvSpPr>
        <p:spPr/>
        <p:txBody>
          <a:bodyPr>
            <a:normAutofit/>
          </a:bodyPr>
          <a:lstStyle/>
          <a:p>
            <a:r>
              <a:rPr lang="en-US" sz="3600" b="1" dirty="0">
                <a:latin typeface="Calibri"/>
                <a:ea typeface="Calibri"/>
                <a:cs typeface="Calibri"/>
              </a:rPr>
              <a:t>Protocol Flow</a:t>
            </a:r>
          </a:p>
        </p:txBody>
      </p:sp>
      <p:sp>
        <p:nvSpPr>
          <p:cNvPr id="4" name="TextBox 3">
            <a:extLst>
              <a:ext uri="{FF2B5EF4-FFF2-40B4-BE49-F238E27FC236}">
                <a16:creationId xmlns:a16="http://schemas.microsoft.com/office/drawing/2014/main" id="{147D61EB-DC6B-E7D2-C11D-C37D8A0C0E2C}"/>
              </a:ext>
            </a:extLst>
          </p:cNvPr>
          <p:cNvSpPr txBox="1"/>
          <p:nvPr/>
        </p:nvSpPr>
        <p:spPr>
          <a:xfrm>
            <a:off x="1109246" y="5461293"/>
            <a:ext cx="6881013" cy="369332"/>
          </a:xfrm>
          <a:prstGeom prst="rect">
            <a:avLst/>
          </a:prstGeom>
          <a:noFill/>
          <a:ln w="28575">
            <a:solidFill>
              <a:srgbClr val="C00000"/>
            </a:solidFill>
            <a:extLst>
              <a:ext uri="{C807C97D-BFC1-408E-A445-0C87EB9F89A2}">
                <ask:lineSketchStyleProps xmlns:ask="http://schemas.microsoft.com/office/drawing/2018/sketchyshapes" sd="1375298759">
                  <a:custGeom>
                    <a:avLst/>
                    <a:gdLst>
                      <a:gd name="csX0" fmla="*/ 0 w 6097022"/>
                      <a:gd name="csY0" fmla="*/ 0 h 369332"/>
                      <a:gd name="csX1" fmla="*/ 677447 w 6097022"/>
                      <a:gd name="csY1" fmla="*/ 0 h 369332"/>
                      <a:gd name="csX2" fmla="*/ 1232953 w 6097022"/>
                      <a:gd name="csY2" fmla="*/ 0 h 369332"/>
                      <a:gd name="csX3" fmla="*/ 1971370 w 6097022"/>
                      <a:gd name="csY3" fmla="*/ 0 h 369332"/>
                      <a:gd name="csX4" fmla="*/ 2709788 w 6097022"/>
                      <a:gd name="csY4" fmla="*/ 0 h 369332"/>
                      <a:gd name="csX5" fmla="*/ 3326264 w 6097022"/>
                      <a:gd name="csY5" fmla="*/ 0 h 369332"/>
                      <a:gd name="csX6" fmla="*/ 3881771 w 6097022"/>
                      <a:gd name="csY6" fmla="*/ 0 h 369332"/>
                      <a:gd name="csX7" fmla="*/ 4681158 w 6097022"/>
                      <a:gd name="csY7" fmla="*/ 0 h 369332"/>
                      <a:gd name="csX8" fmla="*/ 5297635 w 6097022"/>
                      <a:gd name="csY8" fmla="*/ 0 h 369332"/>
                      <a:gd name="csX9" fmla="*/ 6097022 w 6097022"/>
                      <a:gd name="csY9" fmla="*/ 0 h 369332"/>
                      <a:gd name="csX10" fmla="*/ 6097022 w 6097022"/>
                      <a:gd name="csY10" fmla="*/ 369332 h 369332"/>
                      <a:gd name="csX11" fmla="*/ 5419575 w 6097022"/>
                      <a:gd name="csY11" fmla="*/ 369332 h 369332"/>
                      <a:gd name="csX12" fmla="*/ 4864069 w 6097022"/>
                      <a:gd name="csY12" fmla="*/ 369332 h 369332"/>
                      <a:gd name="csX13" fmla="*/ 4369532 w 6097022"/>
                      <a:gd name="csY13" fmla="*/ 369332 h 369332"/>
                      <a:gd name="csX14" fmla="*/ 3814026 w 6097022"/>
                      <a:gd name="csY14" fmla="*/ 369332 h 369332"/>
                      <a:gd name="csX15" fmla="*/ 3197549 w 6097022"/>
                      <a:gd name="csY15" fmla="*/ 369332 h 369332"/>
                      <a:gd name="csX16" fmla="*/ 2642043 w 6097022"/>
                      <a:gd name="csY16" fmla="*/ 369332 h 369332"/>
                      <a:gd name="csX17" fmla="*/ 1842656 w 6097022"/>
                      <a:gd name="csY17" fmla="*/ 369332 h 369332"/>
                      <a:gd name="csX18" fmla="*/ 1348119 w 6097022"/>
                      <a:gd name="csY18" fmla="*/ 369332 h 369332"/>
                      <a:gd name="csX19" fmla="*/ 731643 w 6097022"/>
                      <a:gd name="csY19" fmla="*/ 369332 h 369332"/>
                      <a:gd name="csX20" fmla="*/ 0 w 6097022"/>
                      <a:gd name="csY20" fmla="*/ 369332 h 369332"/>
                      <a:gd name="csX21" fmla="*/ 0 w 6097022"/>
                      <a:gd name="csY21"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6097022" h="369332" extrusionOk="0">
                        <a:moveTo>
                          <a:pt x="0" y="0"/>
                        </a:moveTo>
                        <a:cubicBezTo>
                          <a:pt x="286211" y="15504"/>
                          <a:pt x="522803" y="-16195"/>
                          <a:pt x="677447" y="0"/>
                        </a:cubicBezTo>
                        <a:cubicBezTo>
                          <a:pt x="832091" y="16195"/>
                          <a:pt x="1016832" y="-1986"/>
                          <a:pt x="1232953" y="0"/>
                        </a:cubicBezTo>
                        <a:cubicBezTo>
                          <a:pt x="1449074" y="1986"/>
                          <a:pt x="1760104" y="-17373"/>
                          <a:pt x="1971370" y="0"/>
                        </a:cubicBezTo>
                        <a:cubicBezTo>
                          <a:pt x="2182636" y="17373"/>
                          <a:pt x="2429168" y="27356"/>
                          <a:pt x="2709788" y="0"/>
                        </a:cubicBezTo>
                        <a:cubicBezTo>
                          <a:pt x="2990408" y="-27356"/>
                          <a:pt x="3066017" y="-13590"/>
                          <a:pt x="3326264" y="0"/>
                        </a:cubicBezTo>
                        <a:cubicBezTo>
                          <a:pt x="3586511" y="13590"/>
                          <a:pt x="3751098" y="5199"/>
                          <a:pt x="3881771" y="0"/>
                        </a:cubicBezTo>
                        <a:cubicBezTo>
                          <a:pt x="4012444" y="-5199"/>
                          <a:pt x="4401973" y="-18108"/>
                          <a:pt x="4681158" y="0"/>
                        </a:cubicBezTo>
                        <a:cubicBezTo>
                          <a:pt x="4960343" y="18108"/>
                          <a:pt x="5031832" y="-25747"/>
                          <a:pt x="5297635" y="0"/>
                        </a:cubicBezTo>
                        <a:cubicBezTo>
                          <a:pt x="5563438" y="25747"/>
                          <a:pt x="5851965" y="-16616"/>
                          <a:pt x="6097022" y="0"/>
                        </a:cubicBezTo>
                        <a:cubicBezTo>
                          <a:pt x="6085251" y="158721"/>
                          <a:pt x="6109284" y="188157"/>
                          <a:pt x="6097022" y="369332"/>
                        </a:cubicBezTo>
                        <a:cubicBezTo>
                          <a:pt x="5836665" y="374939"/>
                          <a:pt x="5582033" y="374392"/>
                          <a:pt x="5419575" y="369332"/>
                        </a:cubicBezTo>
                        <a:cubicBezTo>
                          <a:pt x="5257117" y="364272"/>
                          <a:pt x="4986869" y="348862"/>
                          <a:pt x="4864069" y="369332"/>
                        </a:cubicBezTo>
                        <a:cubicBezTo>
                          <a:pt x="4741269" y="389802"/>
                          <a:pt x="4566980" y="366907"/>
                          <a:pt x="4369532" y="369332"/>
                        </a:cubicBezTo>
                        <a:cubicBezTo>
                          <a:pt x="4172084" y="371757"/>
                          <a:pt x="4016291" y="397026"/>
                          <a:pt x="3814026" y="369332"/>
                        </a:cubicBezTo>
                        <a:cubicBezTo>
                          <a:pt x="3611761" y="341638"/>
                          <a:pt x="3417785" y="393373"/>
                          <a:pt x="3197549" y="369332"/>
                        </a:cubicBezTo>
                        <a:cubicBezTo>
                          <a:pt x="2977313" y="345291"/>
                          <a:pt x="2760373" y="355150"/>
                          <a:pt x="2642043" y="369332"/>
                        </a:cubicBezTo>
                        <a:cubicBezTo>
                          <a:pt x="2523713" y="383514"/>
                          <a:pt x="2113345" y="337677"/>
                          <a:pt x="1842656" y="369332"/>
                        </a:cubicBezTo>
                        <a:cubicBezTo>
                          <a:pt x="1571967" y="400987"/>
                          <a:pt x="1572914" y="352624"/>
                          <a:pt x="1348119" y="369332"/>
                        </a:cubicBezTo>
                        <a:cubicBezTo>
                          <a:pt x="1123324" y="386040"/>
                          <a:pt x="1011119" y="355339"/>
                          <a:pt x="731643" y="369332"/>
                        </a:cubicBezTo>
                        <a:cubicBezTo>
                          <a:pt x="452167" y="383325"/>
                          <a:pt x="356588" y="367998"/>
                          <a:pt x="0" y="369332"/>
                        </a:cubicBezTo>
                        <a:cubicBezTo>
                          <a:pt x="-497" y="217177"/>
                          <a:pt x="-1272" y="119553"/>
                          <a:pt x="0" y="0"/>
                        </a:cubicBezTo>
                        <a:close/>
                      </a:path>
                    </a:pathLst>
                  </a:custGeom>
                  <ask:type>
                    <ask:lineSketchNone/>
                  </ask:type>
                </ask:lineSketchStyleProps>
              </a:ext>
            </a:extLst>
          </a:ln>
        </p:spPr>
        <p:txBody>
          <a:bodyPr wrap="square">
            <a:spAutoFit/>
          </a:bodyPr>
          <a:lstStyle/>
          <a:p>
            <a:r>
              <a:rPr lang="" dirty="0"/>
              <a:t>5. Witness creates a MAC-based proof and returns it to the notifier.</a:t>
            </a:r>
          </a:p>
        </p:txBody>
      </p:sp>
      <p:sp>
        <p:nvSpPr>
          <p:cNvPr id="6" name="Rectangle 5">
            <a:extLst>
              <a:ext uri="{FF2B5EF4-FFF2-40B4-BE49-F238E27FC236}">
                <a16:creationId xmlns:a16="http://schemas.microsoft.com/office/drawing/2014/main" id="{F0900D7A-B767-938E-8139-3BCC66487838}"/>
              </a:ext>
            </a:extLst>
          </p:cNvPr>
          <p:cNvSpPr/>
          <p:nvPr/>
        </p:nvSpPr>
        <p:spPr>
          <a:xfrm>
            <a:off x="5140060" y="3727311"/>
            <a:ext cx="822346" cy="294572"/>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97646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8D928-423E-DD09-8C07-61EA1BB1F7B3}"/>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2B423A4-BF0A-1123-C954-14E0A13BD39A}"/>
              </a:ext>
            </a:extLst>
          </p:cNvPr>
          <p:cNvPicPr>
            <a:picLocks noGrp="1" noRot="1" noChangeAspect="1" noMove="1" noResize="1" noEditPoints="1" noAdjustHandles="1" noChangeArrowheads="1" noChangeShapeType="1" noCrop="1"/>
          </p:cNvPicPr>
          <p:nvPr/>
        </p:nvPicPr>
        <p:blipFill>
          <a:blip r:embed="rId3"/>
          <a:stretch>
            <a:fillRect/>
          </a:stretch>
        </p:blipFill>
        <p:spPr>
          <a:xfrm>
            <a:off x="2346566" y="2468880"/>
            <a:ext cx="7662806" cy="2395728"/>
          </a:xfrm>
          <a:prstGeom prst="rect">
            <a:avLst/>
          </a:prstGeom>
        </p:spPr>
      </p:pic>
      <p:sp>
        <p:nvSpPr>
          <p:cNvPr id="2" name="Title 1">
            <a:extLst>
              <a:ext uri="{FF2B5EF4-FFF2-40B4-BE49-F238E27FC236}">
                <a16:creationId xmlns:a16="http://schemas.microsoft.com/office/drawing/2014/main" id="{1FE6B666-CFF6-1FCD-08D1-3E3184205F39}"/>
              </a:ext>
            </a:extLst>
          </p:cNvPr>
          <p:cNvSpPr>
            <a:spLocks noGrp="1"/>
          </p:cNvSpPr>
          <p:nvPr>
            <p:ph type="title"/>
          </p:nvPr>
        </p:nvSpPr>
        <p:spPr/>
        <p:txBody>
          <a:bodyPr>
            <a:normAutofit/>
          </a:bodyPr>
          <a:lstStyle/>
          <a:p>
            <a:r>
              <a:rPr lang="en-US" sz="3600" b="1" dirty="0">
                <a:latin typeface="Calibri"/>
                <a:ea typeface="Calibri"/>
                <a:cs typeface="Calibri"/>
              </a:rPr>
              <a:t>Protocol Flow</a:t>
            </a:r>
          </a:p>
        </p:txBody>
      </p:sp>
      <p:sp>
        <p:nvSpPr>
          <p:cNvPr id="4" name="TextBox 3">
            <a:extLst>
              <a:ext uri="{FF2B5EF4-FFF2-40B4-BE49-F238E27FC236}">
                <a16:creationId xmlns:a16="http://schemas.microsoft.com/office/drawing/2014/main" id="{DC433DB3-9B53-6CA2-B412-721BA0362EC2}"/>
              </a:ext>
            </a:extLst>
          </p:cNvPr>
          <p:cNvSpPr txBox="1"/>
          <p:nvPr/>
        </p:nvSpPr>
        <p:spPr>
          <a:xfrm>
            <a:off x="1109246" y="5461293"/>
            <a:ext cx="7457884" cy="369332"/>
          </a:xfrm>
          <a:prstGeom prst="rect">
            <a:avLst/>
          </a:prstGeom>
          <a:noFill/>
          <a:ln w="28575">
            <a:solidFill>
              <a:srgbClr val="C00000"/>
            </a:solidFill>
            <a:extLst>
              <a:ext uri="{C807C97D-BFC1-408E-A445-0C87EB9F89A2}">
                <ask:lineSketchStyleProps xmlns:ask="http://schemas.microsoft.com/office/drawing/2018/sketchyshapes" sd="1375298759">
                  <a:custGeom>
                    <a:avLst/>
                    <a:gdLst>
                      <a:gd name="csX0" fmla="*/ 0 w 6097022"/>
                      <a:gd name="csY0" fmla="*/ 0 h 369332"/>
                      <a:gd name="csX1" fmla="*/ 677447 w 6097022"/>
                      <a:gd name="csY1" fmla="*/ 0 h 369332"/>
                      <a:gd name="csX2" fmla="*/ 1232953 w 6097022"/>
                      <a:gd name="csY2" fmla="*/ 0 h 369332"/>
                      <a:gd name="csX3" fmla="*/ 1971370 w 6097022"/>
                      <a:gd name="csY3" fmla="*/ 0 h 369332"/>
                      <a:gd name="csX4" fmla="*/ 2709788 w 6097022"/>
                      <a:gd name="csY4" fmla="*/ 0 h 369332"/>
                      <a:gd name="csX5" fmla="*/ 3326264 w 6097022"/>
                      <a:gd name="csY5" fmla="*/ 0 h 369332"/>
                      <a:gd name="csX6" fmla="*/ 3881771 w 6097022"/>
                      <a:gd name="csY6" fmla="*/ 0 h 369332"/>
                      <a:gd name="csX7" fmla="*/ 4681158 w 6097022"/>
                      <a:gd name="csY7" fmla="*/ 0 h 369332"/>
                      <a:gd name="csX8" fmla="*/ 5297635 w 6097022"/>
                      <a:gd name="csY8" fmla="*/ 0 h 369332"/>
                      <a:gd name="csX9" fmla="*/ 6097022 w 6097022"/>
                      <a:gd name="csY9" fmla="*/ 0 h 369332"/>
                      <a:gd name="csX10" fmla="*/ 6097022 w 6097022"/>
                      <a:gd name="csY10" fmla="*/ 369332 h 369332"/>
                      <a:gd name="csX11" fmla="*/ 5419575 w 6097022"/>
                      <a:gd name="csY11" fmla="*/ 369332 h 369332"/>
                      <a:gd name="csX12" fmla="*/ 4864069 w 6097022"/>
                      <a:gd name="csY12" fmla="*/ 369332 h 369332"/>
                      <a:gd name="csX13" fmla="*/ 4369532 w 6097022"/>
                      <a:gd name="csY13" fmla="*/ 369332 h 369332"/>
                      <a:gd name="csX14" fmla="*/ 3814026 w 6097022"/>
                      <a:gd name="csY14" fmla="*/ 369332 h 369332"/>
                      <a:gd name="csX15" fmla="*/ 3197549 w 6097022"/>
                      <a:gd name="csY15" fmla="*/ 369332 h 369332"/>
                      <a:gd name="csX16" fmla="*/ 2642043 w 6097022"/>
                      <a:gd name="csY16" fmla="*/ 369332 h 369332"/>
                      <a:gd name="csX17" fmla="*/ 1842656 w 6097022"/>
                      <a:gd name="csY17" fmla="*/ 369332 h 369332"/>
                      <a:gd name="csX18" fmla="*/ 1348119 w 6097022"/>
                      <a:gd name="csY18" fmla="*/ 369332 h 369332"/>
                      <a:gd name="csX19" fmla="*/ 731643 w 6097022"/>
                      <a:gd name="csY19" fmla="*/ 369332 h 369332"/>
                      <a:gd name="csX20" fmla="*/ 0 w 6097022"/>
                      <a:gd name="csY20" fmla="*/ 369332 h 369332"/>
                      <a:gd name="csX21" fmla="*/ 0 w 6097022"/>
                      <a:gd name="csY21"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6097022" h="369332" extrusionOk="0">
                        <a:moveTo>
                          <a:pt x="0" y="0"/>
                        </a:moveTo>
                        <a:cubicBezTo>
                          <a:pt x="286211" y="15504"/>
                          <a:pt x="522803" y="-16195"/>
                          <a:pt x="677447" y="0"/>
                        </a:cubicBezTo>
                        <a:cubicBezTo>
                          <a:pt x="832091" y="16195"/>
                          <a:pt x="1016832" y="-1986"/>
                          <a:pt x="1232953" y="0"/>
                        </a:cubicBezTo>
                        <a:cubicBezTo>
                          <a:pt x="1449074" y="1986"/>
                          <a:pt x="1760104" y="-17373"/>
                          <a:pt x="1971370" y="0"/>
                        </a:cubicBezTo>
                        <a:cubicBezTo>
                          <a:pt x="2182636" y="17373"/>
                          <a:pt x="2429168" y="27356"/>
                          <a:pt x="2709788" y="0"/>
                        </a:cubicBezTo>
                        <a:cubicBezTo>
                          <a:pt x="2990408" y="-27356"/>
                          <a:pt x="3066017" y="-13590"/>
                          <a:pt x="3326264" y="0"/>
                        </a:cubicBezTo>
                        <a:cubicBezTo>
                          <a:pt x="3586511" y="13590"/>
                          <a:pt x="3751098" y="5199"/>
                          <a:pt x="3881771" y="0"/>
                        </a:cubicBezTo>
                        <a:cubicBezTo>
                          <a:pt x="4012444" y="-5199"/>
                          <a:pt x="4401973" y="-18108"/>
                          <a:pt x="4681158" y="0"/>
                        </a:cubicBezTo>
                        <a:cubicBezTo>
                          <a:pt x="4960343" y="18108"/>
                          <a:pt x="5031832" y="-25747"/>
                          <a:pt x="5297635" y="0"/>
                        </a:cubicBezTo>
                        <a:cubicBezTo>
                          <a:pt x="5563438" y="25747"/>
                          <a:pt x="5851965" y="-16616"/>
                          <a:pt x="6097022" y="0"/>
                        </a:cubicBezTo>
                        <a:cubicBezTo>
                          <a:pt x="6085251" y="158721"/>
                          <a:pt x="6109284" y="188157"/>
                          <a:pt x="6097022" y="369332"/>
                        </a:cubicBezTo>
                        <a:cubicBezTo>
                          <a:pt x="5836665" y="374939"/>
                          <a:pt x="5582033" y="374392"/>
                          <a:pt x="5419575" y="369332"/>
                        </a:cubicBezTo>
                        <a:cubicBezTo>
                          <a:pt x="5257117" y="364272"/>
                          <a:pt x="4986869" y="348862"/>
                          <a:pt x="4864069" y="369332"/>
                        </a:cubicBezTo>
                        <a:cubicBezTo>
                          <a:pt x="4741269" y="389802"/>
                          <a:pt x="4566980" y="366907"/>
                          <a:pt x="4369532" y="369332"/>
                        </a:cubicBezTo>
                        <a:cubicBezTo>
                          <a:pt x="4172084" y="371757"/>
                          <a:pt x="4016291" y="397026"/>
                          <a:pt x="3814026" y="369332"/>
                        </a:cubicBezTo>
                        <a:cubicBezTo>
                          <a:pt x="3611761" y="341638"/>
                          <a:pt x="3417785" y="393373"/>
                          <a:pt x="3197549" y="369332"/>
                        </a:cubicBezTo>
                        <a:cubicBezTo>
                          <a:pt x="2977313" y="345291"/>
                          <a:pt x="2760373" y="355150"/>
                          <a:pt x="2642043" y="369332"/>
                        </a:cubicBezTo>
                        <a:cubicBezTo>
                          <a:pt x="2523713" y="383514"/>
                          <a:pt x="2113345" y="337677"/>
                          <a:pt x="1842656" y="369332"/>
                        </a:cubicBezTo>
                        <a:cubicBezTo>
                          <a:pt x="1571967" y="400987"/>
                          <a:pt x="1572914" y="352624"/>
                          <a:pt x="1348119" y="369332"/>
                        </a:cubicBezTo>
                        <a:cubicBezTo>
                          <a:pt x="1123324" y="386040"/>
                          <a:pt x="1011119" y="355339"/>
                          <a:pt x="731643" y="369332"/>
                        </a:cubicBezTo>
                        <a:cubicBezTo>
                          <a:pt x="452167" y="383325"/>
                          <a:pt x="356588" y="367998"/>
                          <a:pt x="0" y="369332"/>
                        </a:cubicBezTo>
                        <a:cubicBezTo>
                          <a:pt x="-497" y="217177"/>
                          <a:pt x="-1272" y="119553"/>
                          <a:pt x="0" y="0"/>
                        </a:cubicBezTo>
                        <a:close/>
                      </a:path>
                    </a:pathLst>
                  </a:custGeom>
                  <ask:type>
                    <ask:lineSketchNone/>
                  </ask:type>
                </ask:lineSketchStyleProps>
              </a:ext>
            </a:extLst>
          </a:ln>
        </p:spPr>
        <p:txBody>
          <a:bodyPr wrap="square">
            <a:spAutoFit/>
          </a:bodyPr>
          <a:lstStyle/>
          <a:p>
            <a:r>
              <a:rPr lang="" dirty="0"/>
              <a:t>6. Notifier batches proofs into a Merkle tree and commits the root on-chain.</a:t>
            </a:r>
          </a:p>
        </p:txBody>
      </p:sp>
      <p:sp>
        <p:nvSpPr>
          <p:cNvPr id="6" name="Rectangle 5">
            <a:extLst>
              <a:ext uri="{FF2B5EF4-FFF2-40B4-BE49-F238E27FC236}">
                <a16:creationId xmlns:a16="http://schemas.microsoft.com/office/drawing/2014/main" id="{1B24A35E-D857-F73C-E24A-E22F3A02CCAB}"/>
              </a:ext>
            </a:extLst>
          </p:cNvPr>
          <p:cNvSpPr/>
          <p:nvPr/>
        </p:nvSpPr>
        <p:spPr>
          <a:xfrm>
            <a:off x="2836983" y="2516554"/>
            <a:ext cx="1391347" cy="310476"/>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6055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87680" y="354366"/>
            <a:ext cx="11216640" cy="731520"/>
          </a:xfrm>
          <a:prstGeom prst="rect">
            <a:avLst/>
          </a:prstGeom>
          <a:noFill/>
          <a:ln/>
        </p:spPr>
        <p:txBody>
          <a:bodyPr wrap="square" lIns="0" tIns="0" rIns="0" bIns="0" rtlCol="0" anchor="ctr"/>
          <a:lstStyle/>
          <a:p>
            <a:r>
              <a:rPr lang="en-US" sz="3600" b="1" dirty="0">
                <a:latin typeface="Calibri" pitchFamily="34" charset="0"/>
                <a:ea typeface="Calibri" pitchFamily="34" charset="-122"/>
                <a:cs typeface="Calibri" pitchFamily="34" charset="-120"/>
              </a:rPr>
              <a:t>Proof Generation with TESLA Authenticator</a:t>
            </a:r>
            <a:endParaRPr lang="en-US" sz="3600" dirty="0"/>
          </a:p>
        </p:txBody>
      </p:sp>
      <p:sp>
        <p:nvSpPr>
          <p:cNvPr id="23" name="Shape 21"/>
          <p:cNvSpPr/>
          <p:nvPr/>
        </p:nvSpPr>
        <p:spPr>
          <a:xfrm>
            <a:off x="2247020" y="2216757"/>
            <a:ext cx="2287496" cy="2121408"/>
          </a:xfrm>
          <a:prstGeom prst="rect">
            <a:avLst/>
          </a:prstGeom>
          <a:solidFill>
            <a:schemeClr val="bg1">
              <a:lumMod val="95000"/>
            </a:schemeClr>
          </a:solidFill>
          <a:ln w="57150">
            <a:solidFill>
              <a:schemeClr val="tx2">
                <a:lumMod val="90000"/>
                <a:lumOff val="10000"/>
              </a:schemeClr>
            </a:solidFill>
            <a:prstDash val="solid"/>
          </a:ln>
        </p:spPr>
        <p:txBody>
          <a:bodyPr/>
          <a:lstStyle/>
          <a:p>
            <a:endParaRPr lang="en-US" sz="2400"/>
          </a:p>
        </p:txBody>
      </p:sp>
      <p:sp>
        <p:nvSpPr>
          <p:cNvPr id="25" name="Text 22"/>
          <p:cNvSpPr/>
          <p:nvPr/>
        </p:nvSpPr>
        <p:spPr>
          <a:xfrm>
            <a:off x="2247019" y="2302000"/>
            <a:ext cx="2220041" cy="463296"/>
          </a:xfrm>
          <a:prstGeom prst="rect">
            <a:avLst/>
          </a:prstGeom>
          <a:noFill/>
          <a:ln/>
        </p:spPr>
        <p:txBody>
          <a:bodyPr wrap="square" lIns="0" tIns="0" rIns="0" bIns="0" rtlCol="0" anchor="ctr"/>
          <a:lstStyle/>
          <a:p>
            <a:pPr algn="ctr"/>
            <a:r>
              <a:rPr lang="en-US" sz="1733" b="1" dirty="0">
                <a:solidFill>
                  <a:schemeClr val="tx2">
                    <a:lumMod val="75000"/>
                    <a:lumOff val="25000"/>
                  </a:schemeClr>
                </a:solidFill>
                <a:latin typeface="Calibri" pitchFamily="34" charset="0"/>
                <a:ea typeface="Calibri" pitchFamily="34" charset="-122"/>
                <a:cs typeface="Calibri" pitchFamily="34" charset="-120"/>
              </a:rPr>
              <a:t>During interval i</a:t>
            </a:r>
            <a:endParaRPr lang="en-US" sz="1733" dirty="0">
              <a:solidFill>
                <a:schemeClr val="tx2">
                  <a:lumMod val="75000"/>
                  <a:lumOff val="25000"/>
                </a:schemeClr>
              </a:solidFill>
            </a:endParaRPr>
          </a:p>
        </p:txBody>
      </p:sp>
      <p:sp>
        <p:nvSpPr>
          <p:cNvPr id="26" name="Text 23"/>
          <p:cNvSpPr/>
          <p:nvPr/>
        </p:nvSpPr>
        <p:spPr>
          <a:xfrm>
            <a:off x="2247019" y="2789680"/>
            <a:ext cx="2220041" cy="1463040"/>
          </a:xfrm>
          <a:prstGeom prst="rect">
            <a:avLst/>
          </a:prstGeom>
          <a:noFill/>
          <a:ln/>
        </p:spPr>
        <p:txBody>
          <a:bodyPr wrap="square" lIns="0" tIns="0" rIns="0" bIns="0" rtlCol="0" anchor="ctr"/>
          <a:lstStyle/>
          <a:p>
            <a:pPr algn="ctr"/>
            <a:r>
              <a:rPr lang="en-US" dirty="0">
                <a:latin typeface="Calibri" pitchFamily="34" charset="0"/>
                <a:ea typeface="Calibri" pitchFamily="34" charset="-122"/>
                <a:cs typeface="Calibri" pitchFamily="34" charset="-120"/>
              </a:rPr>
              <a:t>AS computes</a:t>
            </a:r>
            <a:endParaRPr lang="en-US" dirty="0"/>
          </a:p>
          <a:p>
            <a:pPr algn="ctr"/>
            <a:r>
              <a:rPr lang="en-US" dirty="0">
                <a:latin typeface="Calibri" pitchFamily="34" charset="0"/>
                <a:ea typeface="Calibri" pitchFamily="34" charset="-122"/>
                <a:cs typeface="Calibri" pitchFamily="34" charset="-120"/>
              </a:rPr>
              <a:t>MAC(Kᵢ, m, </a:t>
            </a:r>
            <a:r>
              <a:rPr lang="en-US" dirty="0" err="1">
                <a:latin typeface="Calibri" pitchFamily="34" charset="0"/>
                <a:ea typeface="Calibri" pitchFamily="34" charset="-122"/>
                <a:cs typeface="Calibri" pitchFamily="34" charset="-120"/>
              </a:rPr>
              <a:t>ts</a:t>
            </a:r>
            <a:r>
              <a:rPr lang="en-US" dirty="0">
                <a:latin typeface="Calibri" pitchFamily="34" charset="0"/>
                <a:ea typeface="Calibri" pitchFamily="34" charset="-122"/>
                <a:cs typeface="Calibri" pitchFamily="34" charset="-120"/>
              </a:rPr>
              <a:t>)</a:t>
            </a:r>
            <a:endParaRPr lang="en-US" dirty="0"/>
          </a:p>
          <a:p>
            <a:pPr algn="ctr"/>
            <a:r>
              <a:rPr lang="en-US" dirty="0">
                <a:latin typeface="Calibri" pitchFamily="34" charset="0"/>
                <a:ea typeface="Calibri" pitchFamily="34" charset="-122"/>
                <a:cs typeface="Calibri" pitchFamily="34" charset="-120"/>
              </a:rPr>
              <a:t>Key Kᵢ is still secret.</a:t>
            </a:r>
            <a:endParaRPr lang="en-US" dirty="0"/>
          </a:p>
        </p:txBody>
      </p:sp>
      <p:sp>
        <p:nvSpPr>
          <p:cNvPr id="27" name="Shape 24"/>
          <p:cNvSpPr/>
          <p:nvPr/>
        </p:nvSpPr>
        <p:spPr>
          <a:xfrm>
            <a:off x="5009213" y="2216757"/>
            <a:ext cx="2287496" cy="2121408"/>
          </a:xfrm>
          <a:prstGeom prst="rect">
            <a:avLst/>
          </a:prstGeom>
          <a:solidFill>
            <a:schemeClr val="bg1">
              <a:lumMod val="95000"/>
            </a:schemeClr>
          </a:solidFill>
          <a:ln w="57150">
            <a:solidFill>
              <a:schemeClr val="tx2">
                <a:lumMod val="90000"/>
                <a:lumOff val="10000"/>
              </a:schemeClr>
            </a:solidFill>
            <a:prstDash val="solid"/>
          </a:ln>
        </p:spPr>
        <p:txBody>
          <a:bodyPr/>
          <a:lstStyle/>
          <a:p>
            <a:endParaRPr lang="en-US" sz="2400"/>
          </a:p>
        </p:txBody>
      </p:sp>
      <p:sp>
        <p:nvSpPr>
          <p:cNvPr id="29" name="Text 25"/>
          <p:cNvSpPr/>
          <p:nvPr/>
        </p:nvSpPr>
        <p:spPr>
          <a:xfrm>
            <a:off x="5171601" y="2302000"/>
            <a:ext cx="1978708" cy="463296"/>
          </a:xfrm>
          <a:prstGeom prst="rect">
            <a:avLst/>
          </a:prstGeom>
          <a:noFill/>
          <a:ln/>
        </p:spPr>
        <p:txBody>
          <a:bodyPr wrap="square" lIns="0" tIns="0" rIns="0" bIns="0" rtlCol="0" anchor="ctr"/>
          <a:lstStyle/>
          <a:p>
            <a:pPr algn="ctr"/>
            <a:r>
              <a:rPr lang="en-US" sz="1733" b="1" dirty="0">
                <a:solidFill>
                  <a:schemeClr val="tx2">
                    <a:lumMod val="75000"/>
                    <a:lumOff val="25000"/>
                  </a:schemeClr>
                </a:solidFill>
                <a:latin typeface="Calibri" pitchFamily="34" charset="0"/>
                <a:ea typeface="Calibri" pitchFamily="34" charset="-122"/>
                <a:cs typeface="Calibri" pitchFamily="34" charset="-120"/>
              </a:rPr>
              <a:t>Before disclosure</a:t>
            </a:r>
            <a:endParaRPr lang="en-US" sz="1733" dirty="0">
              <a:solidFill>
                <a:schemeClr val="tx2">
                  <a:lumMod val="75000"/>
                  <a:lumOff val="25000"/>
                </a:schemeClr>
              </a:solidFill>
            </a:endParaRPr>
          </a:p>
        </p:txBody>
      </p:sp>
      <p:sp>
        <p:nvSpPr>
          <p:cNvPr id="30" name="Text 26"/>
          <p:cNvSpPr/>
          <p:nvPr/>
        </p:nvSpPr>
        <p:spPr>
          <a:xfrm>
            <a:off x="5171601" y="2789680"/>
            <a:ext cx="1889760" cy="1463040"/>
          </a:xfrm>
          <a:prstGeom prst="rect">
            <a:avLst/>
          </a:prstGeom>
          <a:noFill/>
          <a:ln/>
        </p:spPr>
        <p:txBody>
          <a:bodyPr wrap="square" lIns="0" tIns="0" rIns="0" bIns="0" rtlCol="0" anchor="ctr"/>
          <a:lstStyle/>
          <a:p>
            <a:pPr algn="ctr"/>
            <a:r>
              <a:rPr lang="en-US" dirty="0">
                <a:latin typeface="Calibri" pitchFamily="34" charset="0"/>
                <a:ea typeface="Calibri" pitchFamily="34" charset="-122"/>
                <a:cs typeface="Calibri" pitchFamily="34" charset="-120"/>
              </a:rPr>
              <a:t>The notifier commits the proof on-chain.</a:t>
            </a:r>
            <a:endParaRPr lang="en-US" dirty="0"/>
          </a:p>
        </p:txBody>
      </p:sp>
      <p:sp>
        <p:nvSpPr>
          <p:cNvPr id="31" name="Shape 27"/>
          <p:cNvSpPr/>
          <p:nvPr/>
        </p:nvSpPr>
        <p:spPr>
          <a:xfrm>
            <a:off x="7741427" y="2216757"/>
            <a:ext cx="2287496" cy="2121408"/>
          </a:xfrm>
          <a:prstGeom prst="rect">
            <a:avLst/>
          </a:prstGeom>
          <a:solidFill>
            <a:schemeClr val="bg1">
              <a:lumMod val="95000"/>
            </a:schemeClr>
          </a:solidFill>
          <a:ln w="57150">
            <a:solidFill>
              <a:schemeClr val="tx2">
                <a:lumMod val="90000"/>
                <a:lumOff val="10000"/>
              </a:schemeClr>
            </a:solidFill>
            <a:prstDash val="solid"/>
          </a:ln>
        </p:spPr>
        <p:txBody>
          <a:bodyPr/>
          <a:lstStyle/>
          <a:p>
            <a:endParaRPr lang="en-US" sz="2400"/>
          </a:p>
        </p:txBody>
      </p:sp>
      <p:sp>
        <p:nvSpPr>
          <p:cNvPr id="33" name="Text 28"/>
          <p:cNvSpPr/>
          <p:nvPr/>
        </p:nvSpPr>
        <p:spPr>
          <a:xfrm>
            <a:off x="7944790" y="2302000"/>
            <a:ext cx="1902755" cy="463296"/>
          </a:xfrm>
          <a:prstGeom prst="rect">
            <a:avLst/>
          </a:prstGeom>
          <a:noFill/>
          <a:ln/>
        </p:spPr>
        <p:txBody>
          <a:bodyPr wrap="square" lIns="0" tIns="0" rIns="0" bIns="0" rtlCol="0" anchor="ctr"/>
          <a:lstStyle/>
          <a:p>
            <a:pPr algn="ctr"/>
            <a:r>
              <a:rPr lang="en-US" sz="1733" b="1" dirty="0">
                <a:solidFill>
                  <a:schemeClr val="tx2">
                    <a:lumMod val="75000"/>
                    <a:lumOff val="25000"/>
                  </a:schemeClr>
                </a:solidFill>
                <a:latin typeface="Calibri" pitchFamily="34" charset="0"/>
                <a:ea typeface="Calibri" pitchFamily="34" charset="-122"/>
                <a:cs typeface="Calibri" pitchFamily="34" charset="-120"/>
              </a:rPr>
              <a:t>After key release</a:t>
            </a:r>
            <a:endParaRPr lang="en-US" sz="1733" dirty="0">
              <a:solidFill>
                <a:schemeClr val="tx2">
                  <a:lumMod val="75000"/>
                  <a:lumOff val="25000"/>
                </a:schemeClr>
              </a:solidFill>
            </a:endParaRPr>
          </a:p>
        </p:txBody>
      </p:sp>
      <p:sp>
        <p:nvSpPr>
          <p:cNvPr id="34" name="Text 29"/>
          <p:cNvSpPr/>
          <p:nvPr/>
        </p:nvSpPr>
        <p:spPr>
          <a:xfrm>
            <a:off x="7763416" y="2789680"/>
            <a:ext cx="2265507" cy="1463040"/>
          </a:xfrm>
          <a:prstGeom prst="rect">
            <a:avLst/>
          </a:prstGeom>
          <a:noFill/>
          <a:ln/>
        </p:spPr>
        <p:txBody>
          <a:bodyPr wrap="square" lIns="0" tIns="0" rIns="0" bIns="0" rtlCol="0" anchor="ctr"/>
          <a:lstStyle/>
          <a:p>
            <a:pPr algn="ctr"/>
            <a:r>
              <a:rPr lang="en-US" dirty="0">
                <a:latin typeface="Calibri" pitchFamily="34" charset="0"/>
                <a:ea typeface="Calibri" pitchFamily="34" charset="-122"/>
                <a:cs typeface="Calibri" pitchFamily="34" charset="-120"/>
              </a:rPr>
              <a:t>Anyone can verify</a:t>
            </a:r>
            <a:endParaRPr lang="en-US" dirty="0"/>
          </a:p>
          <a:p>
            <a:pPr algn="ctr"/>
            <a:r>
              <a:rPr lang="en-US" dirty="0">
                <a:latin typeface="Calibri" pitchFamily="34" charset="0"/>
                <a:ea typeface="Calibri" pitchFamily="34" charset="-122"/>
                <a:cs typeface="Calibri" pitchFamily="34" charset="-120"/>
              </a:rPr>
              <a:t>MAC authenticity and freshness.</a:t>
            </a:r>
            <a:endParaRPr lang="en-US" dirty="0"/>
          </a:p>
        </p:txBody>
      </p:sp>
      <p:sp>
        <p:nvSpPr>
          <p:cNvPr id="35" name="Text 30"/>
          <p:cNvSpPr/>
          <p:nvPr/>
        </p:nvSpPr>
        <p:spPr>
          <a:xfrm>
            <a:off x="698549" y="5014621"/>
            <a:ext cx="11216640" cy="463296"/>
          </a:xfrm>
          <a:prstGeom prst="rect">
            <a:avLst/>
          </a:prstGeom>
          <a:noFill/>
          <a:ln/>
        </p:spPr>
        <p:txBody>
          <a:bodyPr wrap="square" lIns="0" tIns="0" rIns="0" bIns="0" rtlCol="0" anchor="ctr"/>
          <a:lstStyle/>
          <a:p>
            <a:pPr algn="ctr"/>
            <a:r>
              <a:rPr lang="en-US" sz="2000" i="1" dirty="0">
                <a:solidFill>
                  <a:srgbClr val="0EA5E9"/>
                </a:solidFill>
                <a:latin typeface="Calibri" pitchFamily="34" charset="0"/>
                <a:ea typeface="Calibri" pitchFamily="34" charset="-122"/>
                <a:cs typeface="Calibri" pitchFamily="34" charset="-120"/>
              </a:rPr>
              <a:t>No public-key operations on the critical path, Symmetric MACs instead → wire-speed proof generation</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5E161-E47F-EC85-30F8-D0208372646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1A6E752-7C37-FCE4-6893-D6A882EB6378}"/>
              </a:ext>
            </a:extLst>
          </p:cNvPr>
          <p:cNvPicPr>
            <a:picLocks noGrp="1" noRot="1" noChangeAspect="1" noMove="1" noResize="1" noEditPoints="1" noAdjustHandles="1" noChangeArrowheads="1" noChangeShapeType="1" noCrop="1"/>
          </p:cNvPicPr>
          <p:nvPr/>
        </p:nvPicPr>
        <p:blipFill>
          <a:blip r:embed="rId3"/>
          <a:stretch>
            <a:fillRect/>
          </a:stretch>
        </p:blipFill>
        <p:spPr>
          <a:xfrm>
            <a:off x="2222493" y="2067290"/>
            <a:ext cx="7747015" cy="2957886"/>
          </a:xfrm>
          <a:prstGeom prst="rect">
            <a:avLst/>
          </a:prstGeom>
        </p:spPr>
      </p:pic>
      <p:sp>
        <p:nvSpPr>
          <p:cNvPr id="2" name="Title 1">
            <a:extLst>
              <a:ext uri="{FF2B5EF4-FFF2-40B4-BE49-F238E27FC236}">
                <a16:creationId xmlns:a16="http://schemas.microsoft.com/office/drawing/2014/main" id="{046C75D2-ED59-4014-AF8C-5A91CB353EBC}"/>
              </a:ext>
            </a:extLst>
          </p:cNvPr>
          <p:cNvSpPr>
            <a:spLocks noGrp="1"/>
          </p:cNvSpPr>
          <p:nvPr>
            <p:ph type="title"/>
          </p:nvPr>
        </p:nvSpPr>
        <p:spPr/>
        <p:txBody>
          <a:bodyPr>
            <a:normAutofit/>
          </a:bodyPr>
          <a:lstStyle/>
          <a:p>
            <a:r>
              <a:rPr lang="en-US" sz="3600" b="1" dirty="0">
                <a:latin typeface="Calibri"/>
                <a:ea typeface="Calibri"/>
                <a:cs typeface="Calibri"/>
              </a:rPr>
              <a:t>Protocol Flow</a:t>
            </a:r>
          </a:p>
        </p:txBody>
      </p:sp>
      <p:sp>
        <p:nvSpPr>
          <p:cNvPr id="4" name="TextBox 3">
            <a:extLst>
              <a:ext uri="{FF2B5EF4-FFF2-40B4-BE49-F238E27FC236}">
                <a16:creationId xmlns:a16="http://schemas.microsoft.com/office/drawing/2014/main" id="{2F46D1E1-8C25-BBBB-CC00-06E9BAC7460A}"/>
              </a:ext>
            </a:extLst>
          </p:cNvPr>
          <p:cNvSpPr txBox="1"/>
          <p:nvPr/>
        </p:nvSpPr>
        <p:spPr>
          <a:xfrm>
            <a:off x="1109246" y="5461293"/>
            <a:ext cx="5506346" cy="369332"/>
          </a:xfrm>
          <a:prstGeom prst="rect">
            <a:avLst/>
          </a:prstGeom>
          <a:noFill/>
          <a:ln w="28575">
            <a:solidFill>
              <a:srgbClr val="C00000"/>
            </a:solidFill>
            <a:extLst>
              <a:ext uri="{C807C97D-BFC1-408E-A445-0C87EB9F89A2}">
                <ask:lineSketchStyleProps xmlns:ask="http://schemas.microsoft.com/office/drawing/2018/sketchyshapes" sd="1375298759">
                  <a:custGeom>
                    <a:avLst/>
                    <a:gdLst>
                      <a:gd name="csX0" fmla="*/ 0 w 6097022"/>
                      <a:gd name="csY0" fmla="*/ 0 h 369332"/>
                      <a:gd name="csX1" fmla="*/ 677447 w 6097022"/>
                      <a:gd name="csY1" fmla="*/ 0 h 369332"/>
                      <a:gd name="csX2" fmla="*/ 1232953 w 6097022"/>
                      <a:gd name="csY2" fmla="*/ 0 h 369332"/>
                      <a:gd name="csX3" fmla="*/ 1971370 w 6097022"/>
                      <a:gd name="csY3" fmla="*/ 0 h 369332"/>
                      <a:gd name="csX4" fmla="*/ 2709788 w 6097022"/>
                      <a:gd name="csY4" fmla="*/ 0 h 369332"/>
                      <a:gd name="csX5" fmla="*/ 3326264 w 6097022"/>
                      <a:gd name="csY5" fmla="*/ 0 h 369332"/>
                      <a:gd name="csX6" fmla="*/ 3881771 w 6097022"/>
                      <a:gd name="csY6" fmla="*/ 0 h 369332"/>
                      <a:gd name="csX7" fmla="*/ 4681158 w 6097022"/>
                      <a:gd name="csY7" fmla="*/ 0 h 369332"/>
                      <a:gd name="csX8" fmla="*/ 5297635 w 6097022"/>
                      <a:gd name="csY8" fmla="*/ 0 h 369332"/>
                      <a:gd name="csX9" fmla="*/ 6097022 w 6097022"/>
                      <a:gd name="csY9" fmla="*/ 0 h 369332"/>
                      <a:gd name="csX10" fmla="*/ 6097022 w 6097022"/>
                      <a:gd name="csY10" fmla="*/ 369332 h 369332"/>
                      <a:gd name="csX11" fmla="*/ 5419575 w 6097022"/>
                      <a:gd name="csY11" fmla="*/ 369332 h 369332"/>
                      <a:gd name="csX12" fmla="*/ 4864069 w 6097022"/>
                      <a:gd name="csY12" fmla="*/ 369332 h 369332"/>
                      <a:gd name="csX13" fmla="*/ 4369532 w 6097022"/>
                      <a:gd name="csY13" fmla="*/ 369332 h 369332"/>
                      <a:gd name="csX14" fmla="*/ 3814026 w 6097022"/>
                      <a:gd name="csY14" fmla="*/ 369332 h 369332"/>
                      <a:gd name="csX15" fmla="*/ 3197549 w 6097022"/>
                      <a:gd name="csY15" fmla="*/ 369332 h 369332"/>
                      <a:gd name="csX16" fmla="*/ 2642043 w 6097022"/>
                      <a:gd name="csY16" fmla="*/ 369332 h 369332"/>
                      <a:gd name="csX17" fmla="*/ 1842656 w 6097022"/>
                      <a:gd name="csY17" fmla="*/ 369332 h 369332"/>
                      <a:gd name="csX18" fmla="*/ 1348119 w 6097022"/>
                      <a:gd name="csY18" fmla="*/ 369332 h 369332"/>
                      <a:gd name="csX19" fmla="*/ 731643 w 6097022"/>
                      <a:gd name="csY19" fmla="*/ 369332 h 369332"/>
                      <a:gd name="csX20" fmla="*/ 0 w 6097022"/>
                      <a:gd name="csY20" fmla="*/ 369332 h 369332"/>
                      <a:gd name="csX21" fmla="*/ 0 w 6097022"/>
                      <a:gd name="csY21"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6097022" h="369332" extrusionOk="0">
                        <a:moveTo>
                          <a:pt x="0" y="0"/>
                        </a:moveTo>
                        <a:cubicBezTo>
                          <a:pt x="286211" y="15504"/>
                          <a:pt x="522803" y="-16195"/>
                          <a:pt x="677447" y="0"/>
                        </a:cubicBezTo>
                        <a:cubicBezTo>
                          <a:pt x="832091" y="16195"/>
                          <a:pt x="1016832" y="-1986"/>
                          <a:pt x="1232953" y="0"/>
                        </a:cubicBezTo>
                        <a:cubicBezTo>
                          <a:pt x="1449074" y="1986"/>
                          <a:pt x="1760104" y="-17373"/>
                          <a:pt x="1971370" y="0"/>
                        </a:cubicBezTo>
                        <a:cubicBezTo>
                          <a:pt x="2182636" y="17373"/>
                          <a:pt x="2429168" y="27356"/>
                          <a:pt x="2709788" y="0"/>
                        </a:cubicBezTo>
                        <a:cubicBezTo>
                          <a:pt x="2990408" y="-27356"/>
                          <a:pt x="3066017" y="-13590"/>
                          <a:pt x="3326264" y="0"/>
                        </a:cubicBezTo>
                        <a:cubicBezTo>
                          <a:pt x="3586511" y="13590"/>
                          <a:pt x="3751098" y="5199"/>
                          <a:pt x="3881771" y="0"/>
                        </a:cubicBezTo>
                        <a:cubicBezTo>
                          <a:pt x="4012444" y="-5199"/>
                          <a:pt x="4401973" y="-18108"/>
                          <a:pt x="4681158" y="0"/>
                        </a:cubicBezTo>
                        <a:cubicBezTo>
                          <a:pt x="4960343" y="18108"/>
                          <a:pt x="5031832" y="-25747"/>
                          <a:pt x="5297635" y="0"/>
                        </a:cubicBezTo>
                        <a:cubicBezTo>
                          <a:pt x="5563438" y="25747"/>
                          <a:pt x="5851965" y="-16616"/>
                          <a:pt x="6097022" y="0"/>
                        </a:cubicBezTo>
                        <a:cubicBezTo>
                          <a:pt x="6085251" y="158721"/>
                          <a:pt x="6109284" y="188157"/>
                          <a:pt x="6097022" y="369332"/>
                        </a:cubicBezTo>
                        <a:cubicBezTo>
                          <a:pt x="5836665" y="374939"/>
                          <a:pt x="5582033" y="374392"/>
                          <a:pt x="5419575" y="369332"/>
                        </a:cubicBezTo>
                        <a:cubicBezTo>
                          <a:pt x="5257117" y="364272"/>
                          <a:pt x="4986869" y="348862"/>
                          <a:pt x="4864069" y="369332"/>
                        </a:cubicBezTo>
                        <a:cubicBezTo>
                          <a:pt x="4741269" y="389802"/>
                          <a:pt x="4566980" y="366907"/>
                          <a:pt x="4369532" y="369332"/>
                        </a:cubicBezTo>
                        <a:cubicBezTo>
                          <a:pt x="4172084" y="371757"/>
                          <a:pt x="4016291" y="397026"/>
                          <a:pt x="3814026" y="369332"/>
                        </a:cubicBezTo>
                        <a:cubicBezTo>
                          <a:pt x="3611761" y="341638"/>
                          <a:pt x="3417785" y="393373"/>
                          <a:pt x="3197549" y="369332"/>
                        </a:cubicBezTo>
                        <a:cubicBezTo>
                          <a:pt x="2977313" y="345291"/>
                          <a:pt x="2760373" y="355150"/>
                          <a:pt x="2642043" y="369332"/>
                        </a:cubicBezTo>
                        <a:cubicBezTo>
                          <a:pt x="2523713" y="383514"/>
                          <a:pt x="2113345" y="337677"/>
                          <a:pt x="1842656" y="369332"/>
                        </a:cubicBezTo>
                        <a:cubicBezTo>
                          <a:pt x="1571967" y="400987"/>
                          <a:pt x="1572914" y="352624"/>
                          <a:pt x="1348119" y="369332"/>
                        </a:cubicBezTo>
                        <a:cubicBezTo>
                          <a:pt x="1123324" y="386040"/>
                          <a:pt x="1011119" y="355339"/>
                          <a:pt x="731643" y="369332"/>
                        </a:cubicBezTo>
                        <a:cubicBezTo>
                          <a:pt x="452167" y="383325"/>
                          <a:pt x="356588" y="367998"/>
                          <a:pt x="0" y="369332"/>
                        </a:cubicBezTo>
                        <a:cubicBezTo>
                          <a:pt x="-497" y="217177"/>
                          <a:pt x="-1272" y="119553"/>
                          <a:pt x="0" y="0"/>
                        </a:cubicBezTo>
                        <a:close/>
                      </a:path>
                    </a:pathLst>
                  </a:custGeom>
                  <ask:type>
                    <ask:lineSketchNone/>
                  </ask:type>
                </ask:lineSketchStyleProps>
              </a:ext>
            </a:extLst>
          </a:ln>
        </p:spPr>
        <p:txBody>
          <a:bodyPr wrap="square">
            <a:spAutoFit/>
          </a:bodyPr>
          <a:lstStyle/>
          <a:p>
            <a:r>
              <a:rPr lang="" dirty="0"/>
              <a:t>7. If notification is missed, recipient raises a challenge.</a:t>
            </a:r>
          </a:p>
        </p:txBody>
      </p:sp>
      <p:sp>
        <p:nvSpPr>
          <p:cNvPr id="6" name="Rectangle 5">
            <a:extLst>
              <a:ext uri="{FF2B5EF4-FFF2-40B4-BE49-F238E27FC236}">
                <a16:creationId xmlns:a16="http://schemas.microsoft.com/office/drawing/2014/main" id="{2114F96F-5B10-1F3B-83AA-8989F807AE5B}"/>
              </a:ext>
            </a:extLst>
          </p:cNvPr>
          <p:cNvSpPr/>
          <p:nvPr/>
        </p:nvSpPr>
        <p:spPr>
          <a:xfrm>
            <a:off x="4445537" y="2075105"/>
            <a:ext cx="1244063" cy="294569"/>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33071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673DA-217D-44C7-0417-1A09D071F0B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DC12AB2-5036-B13C-B880-8B3674012D12}"/>
              </a:ext>
            </a:extLst>
          </p:cNvPr>
          <p:cNvPicPr>
            <a:picLocks noChangeAspect="1"/>
          </p:cNvPicPr>
          <p:nvPr/>
        </p:nvPicPr>
        <p:blipFill>
          <a:blip r:embed="rId3"/>
          <a:stretch>
            <a:fillRect/>
          </a:stretch>
        </p:blipFill>
        <p:spPr>
          <a:xfrm>
            <a:off x="2222493" y="2067290"/>
            <a:ext cx="7747015" cy="2957886"/>
          </a:xfrm>
          <a:prstGeom prst="rect">
            <a:avLst/>
          </a:prstGeom>
        </p:spPr>
      </p:pic>
      <p:sp>
        <p:nvSpPr>
          <p:cNvPr id="2" name="Title 1">
            <a:extLst>
              <a:ext uri="{FF2B5EF4-FFF2-40B4-BE49-F238E27FC236}">
                <a16:creationId xmlns:a16="http://schemas.microsoft.com/office/drawing/2014/main" id="{45CD610A-ABD6-5E08-5302-C974C6F15773}"/>
              </a:ext>
            </a:extLst>
          </p:cNvPr>
          <p:cNvSpPr>
            <a:spLocks noGrp="1"/>
          </p:cNvSpPr>
          <p:nvPr>
            <p:ph type="title"/>
          </p:nvPr>
        </p:nvSpPr>
        <p:spPr/>
        <p:txBody>
          <a:bodyPr>
            <a:normAutofit/>
          </a:bodyPr>
          <a:lstStyle/>
          <a:p>
            <a:r>
              <a:rPr lang="en-US" sz="3600" b="1" dirty="0">
                <a:latin typeface="Calibri"/>
                <a:ea typeface="Calibri"/>
                <a:cs typeface="Calibri"/>
              </a:rPr>
              <a:t>Protocol Flow</a:t>
            </a:r>
          </a:p>
        </p:txBody>
      </p:sp>
      <p:sp>
        <p:nvSpPr>
          <p:cNvPr id="4" name="TextBox 3">
            <a:extLst>
              <a:ext uri="{FF2B5EF4-FFF2-40B4-BE49-F238E27FC236}">
                <a16:creationId xmlns:a16="http://schemas.microsoft.com/office/drawing/2014/main" id="{FCD1EC2A-A116-AF3A-9F50-12752FD868C5}"/>
              </a:ext>
            </a:extLst>
          </p:cNvPr>
          <p:cNvSpPr txBox="1"/>
          <p:nvPr/>
        </p:nvSpPr>
        <p:spPr>
          <a:xfrm>
            <a:off x="1109246" y="5461293"/>
            <a:ext cx="5506346" cy="369332"/>
          </a:xfrm>
          <a:prstGeom prst="rect">
            <a:avLst/>
          </a:prstGeom>
          <a:noFill/>
          <a:ln w="28575">
            <a:solidFill>
              <a:srgbClr val="C00000"/>
            </a:solidFill>
            <a:extLst>
              <a:ext uri="{C807C97D-BFC1-408E-A445-0C87EB9F89A2}">
                <ask:lineSketchStyleProps xmlns:ask="http://schemas.microsoft.com/office/drawing/2018/sketchyshapes" sd="1375298759">
                  <a:custGeom>
                    <a:avLst/>
                    <a:gdLst>
                      <a:gd name="csX0" fmla="*/ 0 w 6097022"/>
                      <a:gd name="csY0" fmla="*/ 0 h 369332"/>
                      <a:gd name="csX1" fmla="*/ 677447 w 6097022"/>
                      <a:gd name="csY1" fmla="*/ 0 h 369332"/>
                      <a:gd name="csX2" fmla="*/ 1232953 w 6097022"/>
                      <a:gd name="csY2" fmla="*/ 0 h 369332"/>
                      <a:gd name="csX3" fmla="*/ 1971370 w 6097022"/>
                      <a:gd name="csY3" fmla="*/ 0 h 369332"/>
                      <a:gd name="csX4" fmla="*/ 2709788 w 6097022"/>
                      <a:gd name="csY4" fmla="*/ 0 h 369332"/>
                      <a:gd name="csX5" fmla="*/ 3326264 w 6097022"/>
                      <a:gd name="csY5" fmla="*/ 0 h 369332"/>
                      <a:gd name="csX6" fmla="*/ 3881771 w 6097022"/>
                      <a:gd name="csY6" fmla="*/ 0 h 369332"/>
                      <a:gd name="csX7" fmla="*/ 4681158 w 6097022"/>
                      <a:gd name="csY7" fmla="*/ 0 h 369332"/>
                      <a:gd name="csX8" fmla="*/ 5297635 w 6097022"/>
                      <a:gd name="csY8" fmla="*/ 0 h 369332"/>
                      <a:gd name="csX9" fmla="*/ 6097022 w 6097022"/>
                      <a:gd name="csY9" fmla="*/ 0 h 369332"/>
                      <a:gd name="csX10" fmla="*/ 6097022 w 6097022"/>
                      <a:gd name="csY10" fmla="*/ 369332 h 369332"/>
                      <a:gd name="csX11" fmla="*/ 5419575 w 6097022"/>
                      <a:gd name="csY11" fmla="*/ 369332 h 369332"/>
                      <a:gd name="csX12" fmla="*/ 4864069 w 6097022"/>
                      <a:gd name="csY12" fmla="*/ 369332 h 369332"/>
                      <a:gd name="csX13" fmla="*/ 4369532 w 6097022"/>
                      <a:gd name="csY13" fmla="*/ 369332 h 369332"/>
                      <a:gd name="csX14" fmla="*/ 3814026 w 6097022"/>
                      <a:gd name="csY14" fmla="*/ 369332 h 369332"/>
                      <a:gd name="csX15" fmla="*/ 3197549 w 6097022"/>
                      <a:gd name="csY15" fmla="*/ 369332 h 369332"/>
                      <a:gd name="csX16" fmla="*/ 2642043 w 6097022"/>
                      <a:gd name="csY16" fmla="*/ 369332 h 369332"/>
                      <a:gd name="csX17" fmla="*/ 1842656 w 6097022"/>
                      <a:gd name="csY17" fmla="*/ 369332 h 369332"/>
                      <a:gd name="csX18" fmla="*/ 1348119 w 6097022"/>
                      <a:gd name="csY18" fmla="*/ 369332 h 369332"/>
                      <a:gd name="csX19" fmla="*/ 731643 w 6097022"/>
                      <a:gd name="csY19" fmla="*/ 369332 h 369332"/>
                      <a:gd name="csX20" fmla="*/ 0 w 6097022"/>
                      <a:gd name="csY20" fmla="*/ 369332 h 369332"/>
                      <a:gd name="csX21" fmla="*/ 0 w 6097022"/>
                      <a:gd name="csY21"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6097022" h="369332" extrusionOk="0">
                        <a:moveTo>
                          <a:pt x="0" y="0"/>
                        </a:moveTo>
                        <a:cubicBezTo>
                          <a:pt x="286211" y="15504"/>
                          <a:pt x="522803" y="-16195"/>
                          <a:pt x="677447" y="0"/>
                        </a:cubicBezTo>
                        <a:cubicBezTo>
                          <a:pt x="832091" y="16195"/>
                          <a:pt x="1016832" y="-1986"/>
                          <a:pt x="1232953" y="0"/>
                        </a:cubicBezTo>
                        <a:cubicBezTo>
                          <a:pt x="1449074" y="1986"/>
                          <a:pt x="1760104" y="-17373"/>
                          <a:pt x="1971370" y="0"/>
                        </a:cubicBezTo>
                        <a:cubicBezTo>
                          <a:pt x="2182636" y="17373"/>
                          <a:pt x="2429168" y="27356"/>
                          <a:pt x="2709788" y="0"/>
                        </a:cubicBezTo>
                        <a:cubicBezTo>
                          <a:pt x="2990408" y="-27356"/>
                          <a:pt x="3066017" y="-13590"/>
                          <a:pt x="3326264" y="0"/>
                        </a:cubicBezTo>
                        <a:cubicBezTo>
                          <a:pt x="3586511" y="13590"/>
                          <a:pt x="3751098" y="5199"/>
                          <a:pt x="3881771" y="0"/>
                        </a:cubicBezTo>
                        <a:cubicBezTo>
                          <a:pt x="4012444" y="-5199"/>
                          <a:pt x="4401973" y="-18108"/>
                          <a:pt x="4681158" y="0"/>
                        </a:cubicBezTo>
                        <a:cubicBezTo>
                          <a:pt x="4960343" y="18108"/>
                          <a:pt x="5031832" y="-25747"/>
                          <a:pt x="5297635" y="0"/>
                        </a:cubicBezTo>
                        <a:cubicBezTo>
                          <a:pt x="5563438" y="25747"/>
                          <a:pt x="5851965" y="-16616"/>
                          <a:pt x="6097022" y="0"/>
                        </a:cubicBezTo>
                        <a:cubicBezTo>
                          <a:pt x="6085251" y="158721"/>
                          <a:pt x="6109284" y="188157"/>
                          <a:pt x="6097022" y="369332"/>
                        </a:cubicBezTo>
                        <a:cubicBezTo>
                          <a:pt x="5836665" y="374939"/>
                          <a:pt x="5582033" y="374392"/>
                          <a:pt x="5419575" y="369332"/>
                        </a:cubicBezTo>
                        <a:cubicBezTo>
                          <a:pt x="5257117" y="364272"/>
                          <a:pt x="4986869" y="348862"/>
                          <a:pt x="4864069" y="369332"/>
                        </a:cubicBezTo>
                        <a:cubicBezTo>
                          <a:pt x="4741269" y="389802"/>
                          <a:pt x="4566980" y="366907"/>
                          <a:pt x="4369532" y="369332"/>
                        </a:cubicBezTo>
                        <a:cubicBezTo>
                          <a:pt x="4172084" y="371757"/>
                          <a:pt x="4016291" y="397026"/>
                          <a:pt x="3814026" y="369332"/>
                        </a:cubicBezTo>
                        <a:cubicBezTo>
                          <a:pt x="3611761" y="341638"/>
                          <a:pt x="3417785" y="393373"/>
                          <a:pt x="3197549" y="369332"/>
                        </a:cubicBezTo>
                        <a:cubicBezTo>
                          <a:pt x="2977313" y="345291"/>
                          <a:pt x="2760373" y="355150"/>
                          <a:pt x="2642043" y="369332"/>
                        </a:cubicBezTo>
                        <a:cubicBezTo>
                          <a:pt x="2523713" y="383514"/>
                          <a:pt x="2113345" y="337677"/>
                          <a:pt x="1842656" y="369332"/>
                        </a:cubicBezTo>
                        <a:cubicBezTo>
                          <a:pt x="1571967" y="400987"/>
                          <a:pt x="1572914" y="352624"/>
                          <a:pt x="1348119" y="369332"/>
                        </a:cubicBezTo>
                        <a:cubicBezTo>
                          <a:pt x="1123324" y="386040"/>
                          <a:pt x="1011119" y="355339"/>
                          <a:pt x="731643" y="369332"/>
                        </a:cubicBezTo>
                        <a:cubicBezTo>
                          <a:pt x="452167" y="383325"/>
                          <a:pt x="356588" y="367998"/>
                          <a:pt x="0" y="369332"/>
                        </a:cubicBezTo>
                        <a:cubicBezTo>
                          <a:pt x="-497" y="217177"/>
                          <a:pt x="-1272" y="119553"/>
                          <a:pt x="0" y="0"/>
                        </a:cubicBezTo>
                        <a:close/>
                      </a:path>
                    </a:pathLst>
                  </a:custGeom>
                  <ask:type>
                    <ask:lineSketchNone/>
                  </ask:type>
                </ask:lineSketchStyleProps>
              </a:ext>
            </a:extLst>
          </a:ln>
        </p:spPr>
        <p:txBody>
          <a:bodyPr wrap="square">
            <a:spAutoFit/>
          </a:bodyPr>
          <a:lstStyle/>
          <a:p>
            <a:r>
              <a:rPr lang="" dirty="0"/>
              <a:t>8. Notifier disputes with the Merkle proof.</a:t>
            </a:r>
          </a:p>
        </p:txBody>
      </p:sp>
      <p:sp>
        <p:nvSpPr>
          <p:cNvPr id="6" name="Rectangle 5">
            <a:extLst>
              <a:ext uri="{FF2B5EF4-FFF2-40B4-BE49-F238E27FC236}">
                <a16:creationId xmlns:a16="http://schemas.microsoft.com/office/drawing/2014/main" id="{DDE9D458-07FD-1EC4-755E-5769010BC957}"/>
              </a:ext>
            </a:extLst>
          </p:cNvPr>
          <p:cNvSpPr/>
          <p:nvPr/>
        </p:nvSpPr>
        <p:spPr>
          <a:xfrm>
            <a:off x="3134859" y="2696308"/>
            <a:ext cx="952588" cy="301702"/>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0532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458D1-E070-1D0D-09DC-70FED1F6245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078339D-00C9-FDA7-7B14-BC131DDF97CE}"/>
              </a:ext>
            </a:extLst>
          </p:cNvPr>
          <p:cNvPicPr>
            <a:picLocks noChangeAspect="1"/>
          </p:cNvPicPr>
          <p:nvPr/>
        </p:nvPicPr>
        <p:blipFill>
          <a:blip r:embed="rId3"/>
          <a:stretch>
            <a:fillRect/>
          </a:stretch>
        </p:blipFill>
        <p:spPr>
          <a:xfrm>
            <a:off x="2222493" y="2067290"/>
            <a:ext cx="7747015" cy="2957886"/>
          </a:xfrm>
          <a:prstGeom prst="rect">
            <a:avLst/>
          </a:prstGeom>
        </p:spPr>
      </p:pic>
      <p:sp>
        <p:nvSpPr>
          <p:cNvPr id="2" name="Title 1">
            <a:extLst>
              <a:ext uri="{FF2B5EF4-FFF2-40B4-BE49-F238E27FC236}">
                <a16:creationId xmlns:a16="http://schemas.microsoft.com/office/drawing/2014/main" id="{3443BCEC-DD28-ACA1-4E28-164E7387656F}"/>
              </a:ext>
            </a:extLst>
          </p:cNvPr>
          <p:cNvSpPr>
            <a:spLocks noGrp="1"/>
          </p:cNvSpPr>
          <p:nvPr>
            <p:ph type="title"/>
          </p:nvPr>
        </p:nvSpPr>
        <p:spPr/>
        <p:txBody>
          <a:bodyPr>
            <a:normAutofit/>
          </a:bodyPr>
          <a:lstStyle/>
          <a:p>
            <a:r>
              <a:rPr lang="en-US" sz="3600" b="1" dirty="0">
                <a:latin typeface="Calibri"/>
                <a:ea typeface="Calibri"/>
                <a:cs typeface="Calibri"/>
              </a:rPr>
              <a:t>Protocol Flow</a:t>
            </a:r>
          </a:p>
        </p:txBody>
      </p:sp>
      <p:sp>
        <p:nvSpPr>
          <p:cNvPr id="4" name="TextBox 3">
            <a:extLst>
              <a:ext uri="{FF2B5EF4-FFF2-40B4-BE49-F238E27FC236}">
                <a16:creationId xmlns:a16="http://schemas.microsoft.com/office/drawing/2014/main" id="{51DD74E9-11B6-B896-AC29-0B062725C87F}"/>
              </a:ext>
            </a:extLst>
          </p:cNvPr>
          <p:cNvSpPr txBox="1"/>
          <p:nvPr/>
        </p:nvSpPr>
        <p:spPr>
          <a:xfrm>
            <a:off x="1109246" y="5461293"/>
            <a:ext cx="8077712" cy="369332"/>
          </a:xfrm>
          <a:prstGeom prst="rect">
            <a:avLst/>
          </a:prstGeom>
          <a:noFill/>
          <a:ln w="28575">
            <a:solidFill>
              <a:srgbClr val="C00000"/>
            </a:solidFill>
            <a:extLst>
              <a:ext uri="{C807C97D-BFC1-408E-A445-0C87EB9F89A2}">
                <ask:lineSketchStyleProps xmlns:ask="http://schemas.microsoft.com/office/drawing/2018/sketchyshapes" sd="1375298759">
                  <a:custGeom>
                    <a:avLst/>
                    <a:gdLst>
                      <a:gd name="csX0" fmla="*/ 0 w 6097022"/>
                      <a:gd name="csY0" fmla="*/ 0 h 369332"/>
                      <a:gd name="csX1" fmla="*/ 677447 w 6097022"/>
                      <a:gd name="csY1" fmla="*/ 0 h 369332"/>
                      <a:gd name="csX2" fmla="*/ 1232953 w 6097022"/>
                      <a:gd name="csY2" fmla="*/ 0 h 369332"/>
                      <a:gd name="csX3" fmla="*/ 1971370 w 6097022"/>
                      <a:gd name="csY3" fmla="*/ 0 h 369332"/>
                      <a:gd name="csX4" fmla="*/ 2709788 w 6097022"/>
                      <a:gd name="csY4" fmla="*/ 0 h 369332"/>
                      <a:gd name="csX5" fmla="*/ 3326264 w 6097022"/>
                      <a:gd name="csY5" fmla="*/ 0 h 369332"/>
                      <a:gd name="csX6" fmla="*/ 3881771 w 6097022"/>
                      <a:gd name="csY6" fmla="*/ 0 h 369332"/>
                      <a:gd name="csX7" fmla="*/ 4681158 w 6097022"/>
                      <a:gd name="csY7" fmla="*/ 0 h 369332"/>
                      <a:gd name="csX8" fmla="*/ 5297635 w 6097022"/>
                      <a:gd name="csY8" fmla="*/ 0 h 369332"/>
                      <a:gd name="csX9" fmla="*/ 6097022 w 6097022"/>
                      <a:gd name="csY9" fmla="*/ 0 h 369332"/>
                      <a:gd name="csX10" fmla="*/ 6097022 w 6097022"/>
                      <a:gd name="csY10" fmla="*/ 369332 h 369332"/>
                      <a:gd name="csX11" fmla="*/ 5419575 w 6097022"/>
                      <a:gd name="csY11" fmla="*/ 369332 h 369332"/>
                      <a:gd name="csX12" fmla="*/ 4864069 w 6097022"/>
                      <a:gd name="csY12" fmla="*/ 369332 h 369332"/>
                      <a:gd name="csX13" fmla="*/ 4369532 w 6097022"/>
                      <a:gd name="csY13" fmla="*/ 369332 h 369332"/>
                      <a:gd name="csX14" fmla="*/ 3814026 w 6097022"/>
                      <a:gd name="csY14" fmla="*/ 369332 h 369332"/>
                      <a:gd name="csX15" fmla="*/ 3197549 w 6097022"/>
                      <a:gd name="csY15" fmla="*/ 369332 h 369332"/>
                      <a:gd name="csX16" fmla="*/ 2642043 w 6097022"/>
                      <a:gd name="csY16" fmla="*/ 369332 h 369332"/>
                      <a:gd name="csX17" fmla="*/ 1842656 w 6097022"/>
                      <a:gd name="csY17" fmla="*/ 369332 h 369332"/>
                      <a:gd name="csX18" fmla="*/ 1348119 w 6097022"/>
                      <a:gd name="csY18" fmla="*/ 369332 h 369332"/>
                      <a:gd name="csX19" fmla="*/ 731643 w 6097022"/>
                      <a:gd name="csY19" fmla="*/ 369332 h 369332"/>
                      <a:gd name="csX20" fmla="*/ 0 w 6097022"/>
                      <a:gd name="csY20" fmla="*/ 369332 h 369332"/>
                      <a:gd name="csX21" fmla="*/ 0 w 6097022"/>
                      <a:gd name="csY21"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6097022" h="369332" extrusionOk="0">
                        <a:moveTo>
                          <a:pt x="0" y="0"/>
                        </a:moveTo>
                        <a:cubicBezTo>
                          <a:pt x="286211" y="15504"/>
                          <a:pt x="522803" y="-16195"/>
                          <a:pt x="677447" y="0"/>
                        </a:cubicBezTo>
                        <a:cubicBezTo>
                          <a:pt x="832091" y="16195"/>
                          <a:pt x="1016832" y="-1986"/>
                          <a:pt x="1232953" y="0"/>
                        </a:cubicBezTo>
                        <a:cubicBezTo>
                          <a:pt x="1449074" y="1986"/>
                          <a:pt x="1760104" y="-17373"/>
                          <a:pt x="1971370" y="0"/>
                        </a:cubicBezTo>
                        <a:cubicBezTo>
                          <a:pt x="2182636" y="17373"/>
                          <a:pt x="2429168" y="27356"/>
                          <a:pt x="2709788" y="0"/>
                        </a:cubicBezTo>
                        <a:cubicBezTo>
                          <a:pt x="2990408" y="-27356"/>
                          <a:pt x="3066017" y="-13590"/>
                          <a:pt x="3326264" y="0"/>
                        </a:cubicBezTo>
                        <a:cubicBezTo>
                          <a:pt x="3586511" y="13590"/>
                          <a:pt x="3751098" y="5199"/>
                          <a:pt x="3881771" y="0"/>
                        </a:cubicBezTo>
                        <a:cubicBezTo>
                          <a:pt x="4012444" y="-5199"/>
                          <a:pt x="4401973" y="-18108"/>
                          <a:pt x="4681158" y="0"/>
                        </a:cubicBezTo>
                        <a:cubicBezTo>
                          <a:pt x="4960343" y="18108"/>
                          <a:pt x="5031832" y="-25747"/>
                          <a:pt x="5297635" y="0"/>
                        </a:cubicBezTo>
                        <a:cubicBezTo>
                          <a:pt x="5563438" y="25747"/>
                          <a:pt x="5851965" y="-16616"/>
                          <a:pt x="6097022" y="0"/>
                        </a:cubicBezTo>
                        <a:cubicBezTo>
                          <a:pt x="6085251" y="158721"/>
                          <a:pt x="6109284" y="188157"/>
                          <a:pt x="6097022" y="369332"/>
                        </a:cubicBezTo>
                        <a:cubicBezTo>
                          <a:pt x="5836665" y="374939"/>
                          <a:pt x="5582033" y="374392"/>
                          <a:pt x="5419575" y="369332"/>
                        </a:cubicBezTo>
                        <a:cubicBezTo>
                          <a:pt x="5257117" y="364272"/>
                          <a:pt x="4986869" y="348862"/>
                          <a:pt x="4864069" y="369332"/>
                        </a:cubicBezTo>
                        <a:cubicBezTo>
                          <a:pt x="4741269" y="389802"/>
                          <a:pt x="4566980" y="366907"/>
                          <a:pt x="4369532" y="369332"/>
                        </a:cubicBezTo>
                        <a:cubicBezTo>
                          <a:pt x="4172084" y="371757"/>
                          <a:pt x="4016291" y="397026"/>
                          <a:pt x="3814026" y="369332"/>
                        </a:cubicBezTo>
                        <a:cubicBezTo>
                          <a:pt x="3611761" y="341638"/>
                          <a:pt x="3417785" y="393373"/>
                          <a:pt x="3197549" y="369332"/>
                        </a:cubicBezTo>
                        <a:cubicBezTo>
                          <a:pt x="2977313" y="345291"/>
                          <a:pt x="2760373" y="355150"/>
                          <a:pt x="2642043" y="369332"/>
                        </a:cubicBezTo>
                        <a:cubicBezTo>
                          <a:pt x="2523713" y="383514"/>
                          <a:pt x="2113345" y="337677"/>
                          <a:pt x="1842656" y="369332"/>
                        </a:cubicBezTo>
                        <a:cubicBezTo>
                          <a:pt x="1571967" y="400987"/>
                          <a:pt x="1572914" y="352624"/>
                          <a:pt x="1348119" y="369332"/>
                        </a:cubicBezTo>
                        <a:cubicBezTo>
                          <a:pt x="1123324" y="386040"/>
                          <a:pt x="1011119" y="355339"/>
                          <a:pt x="731643" y="369332"/>
                        </a:cubicBezTo>
                        <a:cubicBezTo>
                          <a:pt x="452167" y="383325"/>
                          <a:pt x="356588" y="367998"/>
                          <a:pt x="0" y="369332"/>
                        </a:cubicBezTo>
                        <a:cubicBezTo>
                          <a:pt x="-497" y="217177"/>
                          <a:pt x="-1272" y="119553"/>
                          <a:pt x="0" y="0"/>
                        </a:cubicBezTo>
                        <a:close/>
                      </a:path>
                    </a:pathLst>
                  </a:custGeom>
                  <ask:type>
                    <ask:lineSketchNone/>
                  </ask:type>
                </ask:lineSketchStyleProps>
              </a:ext>
            </a:extLst>
          </a:ln>
        </p:spPr>
        <p:txBody>
          <a:bodyPr wrap="square">
            <a:spAutoFit/>
          </a:bodyPr>
          <a:lstStyle/>
          <a:p>
            <a:r>
              <a:rPr lang="" dirty="0"/>
              <a:t>9. Smart contract verifies and either drops the challenge or transfers the deposit.</a:t>
            </a:r>
          </a:p>
        </p:txBody>
      </p:sp>
      <p:sp>
        <p:nvSpPr>
          <p:cNvPr id="6" name="Rectangle 5">
            <a:extLst>
              <a:ext uri="{FF2B5EF4-FFF2-40B4-BE49-F238E27FC236}">
                <a16:creationId xmlns:a16="http://schemas.microsoft.com/office/drawing/2014/main" id="{98CE76E3-DF39-99BD-4922-F3440D7ADAFE}"/>
              </a:ext>
            </a:extLst>
          </p:cNvPr>
          <p:cNvSpPr/>
          <p:nvPr/>
        </p:nvSpPr>
        <p:spPr>
          <a:xfrm>
            <a:off x="5680262" y="2067290"/>
            <a:ext cx="1509891" cy="28928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0427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1"/>
          <p:cNvSpPr/>
          <p:nvPr/>
        </p:nvSpPr>
        <p:spPr>
          <a:xfrm>
            <a:off x="487680" y="219456"/>
            <a:ext cx="11216640" cy="707136"/>
          </a:xfrm>
          <a:prstGeom prst="rect">
            <a:avLst/>
          </a:prstGeom>
          <a:noFill/>
          <a:ln/>
        </p:spPr>
        <p:txBody>
          <a:bodyPr wrap="square" lIns="0" tIns="0" rIns="0" bIns="0" rtlCol="0" anchor="ctr"/>
          <a:lstStyle/>
          <a:p>
            <a:pPr defTabSz="1219170"/>
            <a:r>
              <a:rPr lang="en-US" sz="3200" b="1" dirty="0">
                <a:latin typeface="Calibri" pitchFamily="34" charset="0"/>
                <a:ea typeface="Calibri" pitchFamily="34" charset="-122"/>
                <a:cs typeface="Calibri" pitchFamily="34" charset="-120"/>
              </a:rPr>
              <a:t>Security Analysis: Properties</a:t>
            </a:r>
            <a:endParaRPr lang="en-US" sz="3200" dirty="0">
              <a:latin typeface="Calibri" panose="020F0502020204030204"/>
            </a:endParaRPr>
          </a:p>
        </p:txBody>
      </p:sp>
      <p:sp>
        <p:nvSpPr>
          <p:cNvPr id="4" name="Shape 2"/>
          <p:cNvSpPr/>
          <p:nvPr/>
        </p:nvSpPr>
        <p:spPr>
          <a:xfrm>
            <a:off x="304800" y="1097280"/>
            <a:ext cx="11582400" cy="1267968"/>
          </a:xfrm>
          <a:prstGeom prst="rect">
            <a:avLst/>
          </a:prstGeom>
          <a:solidFill>
            <a:schemeClr val="bg1">
              <a:lumMod val="95000"/>
            </a:schemeClr>
          </a:solidFill>
          <a:ln w="12700">
            <a:solidFill>
              <a:srgbClr val="22D3EE"/>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304800" y="1097280"/>
            <a:ext cx="792480" cy="1267968"/>
          </a:xfrm>
          <a:prstGeom prst="rect">
            <a:avLst/>
          </a:prstGeom>
          <a:solidFill>
            <a:srgbClr val="22D3EE"/>
          </a:solidFill>
          <a:ln w="12700">
            <a:solidFill>
              <a:srgbClr val="22D3EE"/>
            </a:solidFill>
            <a:prstDash val="solid"/>
          </a:ln>
        </p:spPr>
        <p:txBody>
          <a:bodyPr/>
          <a:lstStyle/>
          <a:p>
            <a:pPr defTabSz="1219170"/>
            <a:endParaRPr lang="en-US" sz="2400">
              <a:solidFill>
                <a:prstClr val="black"/>
              </a:solidFill>
              <a:latin typeface="Calibri" panose="020F0502020204030204"/>
            </a:endParaRPr>
          </a:p>
        </p:txBody>
      </p:sp>
      <p:sp>
        <p:nvSpPr>
          <p:cNvPr id="6" name="Text 4"/>
          <p:cNvSpPr/>
          <p:nvPr/>
        </p:nvSpPr>
        <p:spPr>
          <a:xfrm>
            <a:off x="304800" y="1097280"/>
            <a:ext cx="792480" cy="1267968"/>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I</a:t>
            </a:r>
            <a:endParaRPr lang="en-US" sz="1867" dirty="0">
              <a:solidFill>
                <a:prstClr val="black"/>
              </a:solidFill>
              <a:latin typeface="Calibri" panose="020F0502020204030204"/>
            </a:endParaRPr>
          </a:p>
        </p:txBody>
      </p:sp>
      <p:sp>
        <p:nvSpPr>
          <p:cNvPr id="7" name="Text 5"/>
          <p:cNvSpPr/>
          <p:nvPr/>
        </p:nvSpPr>
        <p:spPr>
          <a:xfrm>
            <a:off x="1219200" y="1170432"/>
            <a:ext cx="10485120" cy="414528"/>
          </a:xfrm>
          <a:prstGeom prst="rect">
            <a:avLst/>
          </a:prstGeom>
          <a:noFill/>
          <a:ln/>
        </p:spPr>
        <p:txBody>
          <a:bodyPr wrap="square" lIns="0" tIns="0" rIns="0" bIns="0" rtlCol="0" anchor="ctr"/>
          <a:lstStyle/>
          <a:p>
            <a:pPr defTabSz="1219170"/>
            <a:r>
              <a:rPr lang="en-US" sz="2000" b="1" dirty="0">
                <a:solidFill>
                  <a:srgbClr val="002060"/>
                </a:solidFill>
                <a:latin typeface="Calibri" pitchFamily="34" charset="0"/>
                <a:ea typeface="Calibri" pitchFamily="34" charset="-122"/>
                <a:cs typeface="Calibri" pitchFamily="34" charset="-120"/>
              </a:rPr>
              <a:t>No Byzantine recipient can claim the deposit of an honest notifier.</a:t>
            </a:r>
            <a:endParaRPr lang="en-US" sz="2000" dirty="0">
              <a:solidFill>
                <a:srgbClr val="002060"/>
              </a:solidFill>
              <a:latin typeface="Calibri" panose="020F0502020204030204"/>
            </a:endParaRPr>
          </a:p>
        </p:txBody>
      </p:sp>
      <p:sp>
        <p:nvSpPr>
          <p:cNvPr id="8" name="Text 6"/>
          <p:cNvSpPr/>
          <p:nvPr/>
        </p:nvSpPr>
        <p:spPr>
          <a:xfrm>
            <a:off x="1219200" y="1609344"/>
            <a:ext cx="10485120" cy="316992"/>
          </a:xfrm>
          <a:prstGeom prst="rect">
            <a:avLst/>
          </a:prstGeom>
          <a:noFill/>
          <a:ln/>
        </p:spPr>
        <p:txBody>
          <a:bodyPr wrap="square" lIns="0" tIns="0" rIns="0" bIns="0" rtlCol="0" anchor="ctr"/>
          <a:lstStyle/>
          <a:p>
            <a:pPr defTabSz="1219170"/>
            <a:r>
              <a:rPr lang="en-US" sz="1467" dirty="0">
                <a:solidFill>
                  <a:schemeClr val="accent1">
                    <a:lumMod val="75000"/>
                  </a:schemeClr>
                </a:solidFill>
                <a:latin typeface="Calibri" pitchFamily="34" charset="0"/>
                <a:ea typeface="Calibri" pitchFamily="34" charset="-122"/>
                <a:cs typeface="Calibri" pitchFamily="34" charset="-120"/>
              </a:rPr>
              <a:t>▸ False challenge: smart contract rejects non-existent events; valid proof MAC disputes any real event.</a:t>
            </a:r>
            <a:endParaRPr lang="en-US" sz="1467" dirty="0">
              <a:solidFill>
                <a:schemeClr val="accent1">
                  <a:lumMod val="75000"/>
                </a:schemeClr>
              </a:solidFill>
              <a:latin typeface="Calibri" panose="020F0502020204030204"/>
            </a:endParaRPr>
          </a:p>
        </p:txBody>
      </p:sp>
      <p:sp>
        <p:nvSpPr>
          <p:cNvPr id="9" name="Text 7"/>
          <p:cNvSpPr/>
          <p:nvPr/>
        </p:nvSpPr>
        <p:spPr>
          <a:xfrm>
            <a:off x="1219200" y="1926336"/>
            <a:ext cx="10485120" cy="316992"/>
          </a:xfrm>
          <a:prstGeom prst="rect">
            <a:avLst/>
          </a:prstGeom>
          <a:noFill/>
          <a:ln/>
        </p:spPr>
        <p:txBody>
          <a:bodyPr wrap="square" lIns="0" tIns="0" rIns="0" bIns="0" rtlCol="0" anchor="ctr"/>
          <a:lstStyle/>
          <a:p>
            <a:pPr defTabSz="1219170"/>
            <a:r>
              <a:rPr lang="en-US" sz="1467" dirty="0">
                <a:solidFill>
                  <a:schemeClr val="accent1">
                    <a:lumMod val="75000"/>
                  </a:schemeClr>
                </a:solidFill>
                <a:latin typeface="Calibri" pitchFamily="34" charset="0"/>
                <a:ea typeface="Calibri" pitchFamily="34" charset="-122"/>
                <a:cs typeface="Calibri" pitchFamily="34" charset="-120"/>
              </a:rPr>
              <a:t>▸ Impersonation: source authentication blocks fabricated proofs from fake witnesses.</a:t>
            </a:r>
            <a:endParaRPr lang="en-US" sz="1467" dirty="0">
              <a:solidFill>
                <a:schemeClr val="accent1">
                  <a:lumMod val="75000"/>
                </a:schemeClr>
              </a:solidFill>
              <a:latin typeface="Calibri" panose="020F0502020204030204"/>
            </a:endParaRPr>
          </a:p>
        </p:txBody>
      </p:sp>
      <p:sp>
        <p:nvSpPr>
          <p:cNvPr id="10" name="Shape 8"/>
          <p:cNvSpPr/>
          <p:nvPr/>
        </p:nvSpPr>
        <p:spPr>
          <a:xfrm>
            <a:off x="304800" y="2511552"/>
            <a:ext cx="11582400" cy="1267968"/>
          </a:xfrm>
          <a:prstGeom prst="rect">
            <a:avLst/>
          </a:prstGeom>
          <a:solidFill>
            <a:schemeClr val="bg1">
              <a:lumMod val="95000"/>
            </a:schemeClr>
          </a:solidFill>
          <a:ln w="12700">
            <a:solidFill>
              <a:srgbClr val="0EA5E9"/>
            </a:solidFill>
            <a:prstDash val="solid"/>
          </a:ln>
        </p:spPr>
        <p:txBody>
          <a:bodyPr/>
          <a:lstStyle/>
          <a:p>
            <a:pPr defTabSz="1219170"/>
            <a:endParaRPr lang="en-US" sz="2400">
              <a:solidFill>
                <a:prstClr val="black"/>
              </a:solidFill>
              <a:latin typeface="Calibri" panose="020F0502020204030204"/>
            </a:endParaRPr>
          </a:p>
        </p:txBody>
      </p:sp>
      <p:sp>
        <p:nvSpPr>
          <p:cNvPr id="11" name="Shape 9"/>
          <p:cNvSpPr/>
          <p:nvPr/>
        </p:nvSpPr>
        <p:spPr>
          <a:xfrm>
            <a:off x="304800" y="2511552"/>
            <a:ext cx="792480" cy="1267968"/>
          </a:xfrm>
          <a:prstGeom prst="rect">
            <a:avLst/>
          </a:prstGeom>
          <a:solidFill>
            <a:srgbClr val="0EA5E9"/>
          </a:solidFill>
          <a:ln w="12700">
            <a:solidFill>
              <a:srgbClr val="0EA5E9"/>
            </a:solidFill>
            <a:prstDash val="solid"/>
          </a:ln>
        </p:spPr>
        <p:txBody>
          <a:bodyPr/>
          <a:lstStyle/>
          <a:p>
            <a:pPr defTabSz="1219170"/>
            <a:endParaRPr lang="en-US" sz="2400">
              <a:solidFill>
                <a:prstClr val="black"/>
              </a:solidFill>
              <a:latin typeface="Calibri" panose="020F0502020204030204"/>
            </a:endParaRPr>
          </a:p>
        </p:txBody>
      </p:sp>
      <p:sp>
        <p:nvSpPr>
          <p:cNvPr id="12" name="Text 10"/>
          <p:cNvSpPr/>
          <p:nvPr/>
        </p:nvSpPr>
        <p:spPr>
          <a:xfrm>
            <a:off x="304800" y="2511552"/>
            <a:ext cx="792480" cy="1267968"/>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II</a:t>
            </a:r>
            <a:endParaRPr lang="en-US" sz="1867" dirty="0">
              <a:solidFill>
                <a:prstClr val="black"/>
              </a:solidFill>
              <a:latin typeface="Calibri" panose="020F0502020204030204"/>
            </a:endParaRPr>
          </a:p>
        </p:txBody>
      </p:sp>
      <p:sp>
        <p:nvSpPr>
          <p:cNvPr id="13" name="Text 11"/>
          <p:cNvSpPr/>
          <p:nvPr/>
        </p:nvSpPr>
        <p:spPr>
          <a:xfrm>
            <a:off x="1219200" y="2584704"/>
            <a:ext cx="10485120" cy="414528"/>
          </a:xfrm>
          <a:prstGeom prst="rect">
            <a:avLst/>
          </a:prstGeom>
          <a:noFill/>
          <a:ln/>
        </p:spPr>
        <p:txBody>
          <a:bodyPr wrap="square" lIns="0" tIns="0" rIns="0" bIns="0" rtlCol="0" anchor="ctr"/>
          <a:lstStyle/>
          <a:p>
            <a:pPr defTabSz="1219170"/>
            <a:r>
              <a:rPr lang="en-US" sz="1733" b="1" dirty="0">
                <a:solidFill>
                  <a:srgbClr val="002060"/>
                </a:solidFill>
                <a:latin typeface="Calibri" pitchFamily="34" charset="0"/>
                <a:ea typeface="Calibri" pitchFamily="34" charset="-122"/>
                <a:cs typeface="Calibri" pitchFamily="34" charset="-120"/>
              </a:rPr>
              <a:t>An honest recipient can always claim the deposit of a misbehaving Byzantine notifier.</a:t>
            </a:r>
            <a:endParaRPr lang="en-US" sz="1733" dirty="0">
              <a:solidFill>
                <a:srgbClr val="002060"/>
              </a:solidFill>
              <a:latin typeface="Calibri" panose="020F0502020204030204"/>
            </a:endParaRPr>
          </a:p>
        </p:txBody>
      </p:sp>
      <p:sp>
        <p:nvSpPr>
          <p:cNvPr id="14" name="Text 12"/>
          <p:cNvSpPr/>
          <p:nvPr/>
        </p:nvSpPr>
        <p:spPr>
          <a:xfrm>
            <a:off x="1219200" y="3023616"/>
            <a:ext cx="10485120" cy="316992"/>
          </a:xfrm>
          <a:prstGeom prst="rect">
            <a:avLst/>
          </a:prstGeom>
          <a:noFill/>
          <a:ln/>
        </p:spPr>
        <p:txBody>
          <a:bodyPr wrap="square" lIns="0" tIns="0" rIns="0" bIns="0" rtlCol="0" anchor="ctr"/>
          <a:lstStyle/>
          <a:p>
            <a:pPr defTabSz="1219170"/>
            <a:r>
              <a:rPr lang="en-US" sz="1467" dirty="0">
                <a:solidFill>
                  <a:schemeClr val="accent1">
                    <a:lumMod val="75000"/>
                  </a:schemeClr>
                </a:solidFill>
                <a:latin typeface="Calibri" pitchFamily="34" charset="0"/>
                <a:ea typeface="Calibri" pitchFamily="34" charset="-122"/>
                <a:cs typeface="Calibri" pitchFamily="34" charset="-120"/>
              </a:rPr>
              <a:t>▸ Omitted notification: notifier cannot forge a MAC without sending; deposit lost.</a:t>
            </a:r>
            <a:endParaRPr lang="en-US" sz="1467" dirty="0">
              <a:solidFill>
                <a:schemeClr val="accent1">
                  <a:lumMod val="75000"/>
                </a:schemeClr>
              </a:solidFill>
              <a:latin typeface="Calibri" panose="020F0502020204030204"/>
            </a:endParaRPr>
          </a:p>
        </p:txBody>
      </p:sp>
      <p:sp>
        <p:nvSpPr>
          <p:cNvPr id="15" name="Text 13"/>
          <p:cNvSpPr/>
          <p:nvPr/>
        </p:nvSpPr>
        <p:spPr>
          <a:xfrm>
            <a:off x="1219200" y="3340608"/>
            <a:ext cx="10485120" cy="316992"/>
          </a:xfrm>
          <a:prstGeom prst="rect">
            <a:avLst/>
          </a:prstGeom>
          <a:noFill/>
          <a:ln/>
        </p:spPr>
        <p:txBody>
          <a:bodyPr wrap="square" lIns="0" tIns="0" rIns="0" bIns="0" rtlCol="0" anchor="ctr"/>
          <a:lstStyle/>
          <a:p>
            <a:pPr defTabSz="1219170"/>
            <a:r>
              <a:rPr lang="en-US" sz="1467" dirty="0">
                <a:solidFill>
                  <a:schemeClr val="accent1">
                    <a:lumMod val="75000"/>
                  </a:schemeClr>
                </a:solidFill>
                <a:latin typeface="Calibri" pitchFamily="34" charset="0"/>
                <a:ea typeface="Calibri" pitchFamily="34" charset="-122"/>
                <a:cs typeface="Calibri" pitchFamily="34" charset="-120"/>
              </a:rPr>
              <a:t>▸ Delayed notification: observation timestamp, non-repudiable via key anchoring.</a:t>
            </a:r>
            <a:endParaRPr lang="en-US" sz="1467" dirty="0">
              <a:solidFill>
                <a:schemeClr val="accent1">
                  <a:lumMod val="75000"/>
                </a:schemeClr>
              </a:solidFill>
              <a:latin typeface="Calibri" panose="020F0502020204030204"/>
            </a:endParaRPr>
          </a:p>
        </p:txBody>
      </p:sp>
      <p:sp>
        <p:nvSpPr>
          <p:cNvPr id="16" name="Shape 14"/>
          <p:cNvSpPr/>
          <p:nvPr/>
        </p:nvSpPr>
        <p:spPr>
          <a:xfrm>
            <a:off x="304800" y="3925824"/>
            <a:ext cx="11582400" cy="1267968"/>
          </a:xfrm>
          <a:prstGeom prst="rect">
            <a:avLst/>
          </a:prstGeom>
          <a:solidFill>
            <a:schemeClr val="bg1">
              <a:lumMod val="95000"/>
            </a:schemeClr>
          </a:solidFill>
          <a:ln w="12700">
            <a:solidFill>
              <a:srgbClr val="0369A1"/>
            </a:solidFill>
            <a:prstDash val="solid"/>
          </a:ln>
        </p:spPr>
        <p:txBody>
          <a:bodyPr/>
          <a:lstStyle/>
          <a:p>
            <a:pPr defTabSz="1219170"/>
            <a:endParaRPr lang="en-US" sz="2400">
              <a:solidFill>
                <a:prstClr val="black"/>
              </a:solidFill>
              <a:latin typeface="Calibri" panose="020F0502020204030204"/>
            </a:endParaRPr>
          </a:p>
        </p:txBody>
      </p:sp>
      <p:sp>
        <p:nvSpPr>
          <p:cNvPr id="17" name="Shape 15"/>
          <p:cNvSpPr/>
          <p:nvPr/>
        </p:nvSpPr>
        <p:spPr>
          <a:xfrm>
            <a:off x="304800" y="3925824"/>
            <a:ext cx="792480" cy="1267968"/>
          </a:xfrm>
          <a:prstGeom prst="rect">
            <a:avLst/>
          </a:prstGeom>
          <a:solidFill>
            <a:srgbClr val="0369A1"/>
          </a:solidFill>
          <a:ln w="12700">
            <a:solidFill>
              <a:srgbClr val="0369A1"/>
            </a:solidFill>
            <a:prstDash val="solid"/>
          </a:ln>
        </p:spPr>
        <p:txBody>
          <a:bodyPr/>
          <a:lstStyle/>
          <a:p>
            <a:pPr defTabSz="1219170"/>
            <a:endParaRPr lang="en-US" sz="2400">
              <a:solidFill>
                <a:prstClr val="black"/>
              </a:solidFill>
              <a:latin typeface="Calibri" panose="020F0502020204030204"/>
            </a:endParaRPr>
          </a:p>
        </p:txBody>
      </p:sp>
      <p:sp>
        <p:nvSpPr>
          <p:cNvPr id="18" name="Text 16"/>
          <p:cNvSpPr/>
          <p:nvPr/>
        </p:nvSpPr>
        <p:spPr>
          <a:xfrm>
            <a:off x="304800" y="3925824"/>
            <a:ext cx="792480" cy="1267968"/>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III</a:t>
            </a:r>
            <a:endParaRPr lang="en-US" sz="1867" dirty="0">
              <a:solidFill>
                <a:prstClr val="black"/>
              </a:solidFill>
              <a:latin typeface="Calibri" panose="020F0502020204030204"/>
            </a:endParaRPr>
          </a:p>
        </p:txBody>
      </p:sp>
      <p:sp>
        <p:nvSpPr>
          <p:cNvPr id="19" name="Text 17"/>
          <p:cNvSpPr/>
          <p:nvPr/>
        </p:nvSpPr>
        <p:spPr>
          <a:xfrm>
            <a:off x="1219200" y="3998976"/>
            <a:ext cx="10485120" cy="414528"/>
          </a:xfrm>
          <a:prstGeom prst="rect">
            <a:avLst/>
          </a:prstGeom>
          <a:noFill/>
          <a:ln/>
        </p:spPr>
        <p:txBody>
          <a:bodyPr wrap="square" lIns="0" tIns="0" rIns="0" bIns="0" rtlCol="0" anchor="ctr"/>
          <a:lstStyle/>
          <a:p>
            <a:pPr defTabSz="1219170"/>
            <a:r>
              <a:rPr lang="en-US" sz="1733" b="1" dirty="0">
                <a:solidFill>
                  <a:srgbClr val="002060"/>
                </a:solidFill>
                <a:latin typeface="Calibri" pitchFamily="34" charset="0"/>
                <a:ea typeface="Calibri" pitchFamily="34" charset="-122"/>
                <a:cs typeface="Calibri" pitchFamily="34" charset="-120"/>
              </a:rPr>
              <a:t>A faulty witness is detectable by notifiers.</a:t>
            </a:r>
            <a:endParaRPr lang="en-US" sz="1733" dirty="0">
              <a:solidFill>
                <a:srgbClr val="002060"/>
              </a:solidFill>
              <a:latin typeface="Calibri" panose="020F0502020204030204"/>
            </a:endParaRPr>
          </a:p>
        </p:txBody>
      </p:sp>
      <p:sp>
        <p:nvSpPr>
          <p:cNvPr id="20" name="Text 18"/>
          <p:cNvSpPr/>
          <p:nvPr/>
        </p:nvSpPr>
        <p:spPr>
          <a:xfrm>
            <a:off x="1219200" y="4437888"/>
            <a:ext cx="10485120" cy="316992"/>
          </a:xfrm>
          <a:prstGeom prst="rect">
            <a:avLst/>
          </a:prstGeom>
          <a:noFill/>
          <a:ln/>
        </p:spPr>
        <p:txBody>
          <a:bodyPr wrap="square" lIns="0" tIns="0" rIns="0" bIns="0" rtlCol="0" anchor="ctr"/>
          <a:lstStyle/>
          <a:p>
            <a:pPr defTabSz="1219170"/>
            <a:r>
              <a:rPr lang="en-US" sz="1467" dirty="0">
                <a:solidFill>
                  <a:schemeClr val="accent1">
                    <a:lumMod val="75000"/>
                  </a:schemeClr>
                </a:solidFill>
                <a:latin typeface="Calibri" pitchFamily="34" charset="0"/>
                <a:ea typeface="Calibri" pitchFamily="34" charset="-122"/>
                <a:cs typeface="Calibri" pitchFamily="34" charset="-120"/>
              </a:rPr>
              <a:t>▸ After key disclosure, notifier verifies all MACs of that interval: invalid proofs identified.</a:t>
            </a:r>
            <a:endParaRPr lang="en-US" sz="1467" dirty="0">
              <a:solidFill>
                <a:schemeClr val="accent1">
                  <a:lumMod val="75000"/>
                </a:schemeClr>
              </a:solidFill>
              <a:latin typeface="Calibri" panose="020F0502020204030204"/>
            </a:endParaRPr>
          </a:p>
        </p:txBody>
      </p:sp>
      <p:sp>
        <p:nvSpPr>
          <p:cNvPr id="21" name="Text 19"/>
          <p:cNvSpPr/>
          <p:nvPr/>
        </p:nvSpPr>
        <p:spPr>
          <a:xfrm>
            <a:off x="1219200" y="4754880"/>
            <a:ext cx="10485120" cy="316992"/>
          </a:xfrm>
          <a:prstGeom prst="rect">
            <a:avLst/>
          </a:prstGeom>
          <a:noFill/>
          <a:ln/>
        </p:spPr>
        <p:txBody>
          <a:bodyPr wrap="square" lIns="0" tIns="0" rIns="0" bIns="0" rtlCol="0" anchor="ctr"/>
          <a:lstStyle/>
          <a:p>
            <a:pPr defTabSz="1219170"/>
            <a:r>
              <a:rPr lang="en-US" sz="1467" dirty="0">
                <a:solidFill>
                  <a:schemeClr val="accent1">
                    <a:lumMod val="75000"/>
                  </a:schemeClr>
                </a:solidFill>
                <a:latin typeface="Calibri" pitchFamily="34" charset="0"/>
                <a:ea typeface="Calibri" pitchFamily="34" charset="-122"/>
                <a:cs typeface="Calibri" pitchFamily="34" charset="-120"/>
              </a:rPr>
              <a:t>▸ Misbehaving witnesses are detected and excluded.</a:t>
            </a:r>
            <a:endParaRPr lang="en-US" sz="1467" dirty="0">
              <a:solidFill>
                <a:schemeClr val="accent1">
                  <a:lumMod val="75000"/>
                </a:schemeClr>
              </a:solidFill>
              <a:latin typeface="Calibri" panose="020F0502020204030204"/>
            </a:endParaRPr>
          </a:p>
        </p:txBody>
      </p:sp>
      <p:sp>
        <p:nvSpPr>
          <p:cNvPr id="22" name="Shape 20"/>
          <p:cNvSpPr/>
          <p:nvPr/>
        </p:nvSpPr>
        <p:spPr>
          <a:xfrm>
            <a:off x="304800" y="5340096"/>
            <a:ext cx="11582400" cy="1267968"/>
          </a:xfrm>
          <a:prstGeom prst="rect">
            <a:avLst/>
          </a:prstGeom>
          <a:solidFill>
            <a:schemeClr val="bg1">
              <a:lumMod val="95000"/>
            </a:schemeClr>
          </a:solidFill>
          <a:ln w="12700">
            <a:solidFill>
              <a:srgbClr val="1E3A5F"/>
            </a:solidFill>
            <a:prstDash val="solid"/>
          </a:ln>
        </p:spPr>
        <p:txBody>
          <a:bodyPr/>
          <a:lstStyle/>
          <a:p>
            <a:pPr defTabSz="1219170"/>
            <a:endParaRPr lang="en-US" sz="2400">
              <a:solidFill>
                <a:prstClr val="black"/>
              </a:solidFill>
              <a:latin typeface="Calibri" panose="020F0502020204030204"/>
            </a:endParaRPr>
          </a:p>
        </p:txBody>
      </p:sp>
      <p:sp>
        <p:nvSpPr>
          <p:cNvPr id="23" name="Shape 21"/>
          <p:cNvSpPr/>
          <p:nvPr/>
        </p:nvSpPr>
        <p:spPr>
          <a:xfrm>
            <a:off x="304800" y="5340096"/>
            <a:ext cx="792480" cy="1267968"/>
          </a:xfrm>
          <a:prstGeom prst="rect">
            <a:avLst/>
          </a:prstGeom>
          <a:solidFill>
            <a:srgbClr val="1E3A5F"/>
          </a:solidFill>
          <a:ln w="12700">
            <a:solidFill>
              <a:srgbClr val="1E3A5F"/>
            </a:solidFill>
            <a:prstDash val="solid"/>
          </a:ln>
        </p:spPr>
        <p:txBody>
          <a:bodyPr/>
          <a:lstStyle/>
          <a:p>
            <a:pPr defTabSz="1219170"/>
            <a:endParaRPr lang="en-US" sz="2400">
              <a:solidFill>
                <a:prstClr val="black"/>
              </a:solidFill>
              <a:latin typeface="Calibri" panose="020F0502020204030204"/>
            </a:endParaRPr>
          </a:p>
        </p:txBody>
      </p:sp>
      <p:sp>
        <p:nvSpPr>
          <p:cNvPr id="24" name="Text 22"/>
          <p:cNvSpPr/>
          <p:nvPr/>
        </p:nvSpPr>
        <p:spPr>
          <a:xfrm>
            <a:off x="304800" y="5340096"/>
            <a:ext cx="792480" cy="1267968"/>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IV</a:t>
            </a:r>
            <a:endParaRPr lang="en-US" sz="1867" dirty="0">
              <a:solidFill>
                <a:prstClr val="black"/>
              </a:solidFill>
              <a:latin typeface="Calibri" panose="020F0502020204030204"/>
            </a:endParaRPr>
          </a:p>
        </p:txBody>
      </p:sp>
      <p:sp>
        <p:nvSpPr>
          <p:cNvPr id="25" name="Text 23"/>
          <p:cNvSpPr/>
          <p:nvPr/>
        </p:nvSpPr>
        <p:spPr>
          <a:xfrm>
            <a:off x="1219200" y="5413248"/>
            <a:ext cx="10485120" cy="414528"/>
          </a:xfrm>
          <a:prstGeom prst="rect">
            <a:avLst/>
          </a:prstGeom>
          <a:noFill/>
          <a:ln/>
        </p:spPr>
        <p:txBody>
          <a:bodyPr wrap="square" lIns="0" tIns="0" rIns="0" bIns="0" rtlCol="0" anchor="ctr"/>
          <a:lstStyle/>
          <a:p>
            <a:pPr defTabSz="1219170"/>
            <a:r>
              <a:rPr lang="en-US" sz="1733" b="1" dirty="0">
                <a:solidFill>
                  <a:srgbClr val="002060"/>
                </a:solidFill>
                <a:latin typeface="Calibri" pitchFamily="34" charset="0"/>
                <a:ea typeface="Calibri" pitchFamily="34" charset="-122"/>
                <a:cs typeface="Calibri" pitchFamily="34" charset="-120"/>
              </a:rPr>
              <a:t>A false notification is detectable by recipients.</a:t>
            </a:r>
            <a:endParaRPr lang="en-US" sz="1733" dirty="0">
              <a:solidFill>
                <a:srgbClr val="002060"/>
              </a:solidFill>
              <a:latin typeface="Calibri" panose="020F0502020204030204"/>
            </a:endParaRPr>
          </a:p>
        </p:txBody>
      </p:sp>
      <p:sp>
        <p:nvSpPr>
          <p:cNvPr id="26" name="Text 24"/>
          <p:cNvSpPr/>
          <p:nvPr/>
        </p:nvSpPr>
        <p:spPr>
          <a:xfrm>
            <a:off x="1219200" y="5852160"/>
            <a:ext cx="10485120" cy="316992"/>
          </a:xfrm>
          <a:prstGeom prst="rect">
            <a:avLst/>
          </a:prstGeom>
          <a:noFill/>
          <a:ln/>
        </p:spPr>
        <p:txBody>
          <a:bodyPr wrap="square" lIns="0" tIns="0" rIns="0" bIns="0" rtlCol="0" anchor="ctr"/>
          <a:lstStyle/>
          <a:p>
            <a:pPr defTabSz="1219170"/>
            <a:r>
              <a:rPr lang="en-US" sz="1467" dirty="0">
                <a:solidFill>
                  <a:schemeClr val="accent1">
                    <a:lumMod val="75000"/>
                  </a:schemeClr>
                </a:solidFill>
                <a:latin typeface="Calibri" pitchFamily="34" charset="0"/>
                <a:ea typeface="Calibri" pitchFamily="34" charset="-122"/>
                <a:cs typeface="Calibri" pitchFamily="34" charset="-120"/>
              </a:rPr>
              <a:t>▸ Recipient queries indexer for blockchain inclusion proof of the event.</a:t>
            </a:r>
            <a:endParaRPr lang="en-US" sz="1467" dirty="0">
              <a:solidFill>
                <a:schemeClr val="accent1">
                  <a:lumMod val="75000"/>
                </a:schemeClr>
              </a:solidFill>
              <a:latin typeface="Calibri" panose="020F0502020204030204"/>
            </a:endParaRPr>
          </a:p>
        </p:txBody>
      </p:sp>
      <p:sp>
        <p:nvSpPr>
          <p:cNvPr id="27" name="Text 25"/>
          <p:cNvSpPr/>
          <p:nvPr/>
        </p:nvSpPr>
        <p:spPr>
          <a:xfrm>
            <a:off x="1219200" y="6169152"/>
            <a:ext cx="10485120" cy="316992"/>
          </a:xfrm>
          <a:prstGeom prst="rect">
            <a:avLst/>
          </a:prstGeom>
          <a:noFill/>
          <a:ln/>
        </p:spPr>
        <p:txBody>
          <a:bodyPr wrap="square" lIns="0" tIns="0" rIns="0" bIns="0" rtlCol="0" anchor="ctr"/>
          <a:lstStyle/>
          <a:p>
            <a:pPr defTabSz="1219170"/>
            <a:r>
              <a:rPr lang="en-US" sz="1467" dirty="0">
                <a:solidFill>
                  <a:schemeClr val="accent1">
                    <a:lumMod val="75000"/>
                  </a:schemeClr>
                </a:solidFill>
                <a:latin typeface="Calibri" pitchFamily="34" charset="0"/>
                <a:ea typeface="Calibri" pitchFamily="34" charset="-122"/>
                <a:cs typeface="Calibri" pitchFamily="34" charset="-120"/>
              </a:rPr>
              <a:t>▸ Double notifications harmless: recipients not charged per notification.</a:t>
            </a:r>
            <a:endParaRPr lang="en-US" sz="1467" dirty="0">
              <a:solidFill>
                <a:schemeClr val="accent1">
                  <a:lumMod val="75000"/>
                </a:schemeClr>
              </a:solidFill>
              <a:latin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1"/>
          <p:cNvSpPr/>
          <p:nvPr/>
        </p:nvSpPr>
        <p:spPr>
          <a:xfrm>
            <a:off x="487680" y="219456"/>
            <a:ext cx="11216640" cy="707136"/>
          </a:xfrm>
          <a:prstGeom prst="rect">
            <a:avLst/>
          </a:prstGeom>
          <a:noFill/>
          <a:ln/>
        </p:spPr>
        <p:txBody>
          <a:bodyPr wrap="square" lIns="0" tIns="0" rIns="0" bIns="0" rtlCol="0" anchor="ctr"/>
          <a:lstStyle/>
          <a:p>
            <a:pPr defTabSz="1219170"/>
            <a:r>
              <a:rPr lang="en-US" sz="3200" b="1" dirty="0">
                <a:solidFill>
                  <a:srgbClr val="0D1B2A"/>
                </a:solidFill>
                <a:latin typeface="Calibri" pitchFamily="34" charset="0"/>
                <a:ea typeface="Calibri" pitchFamily="34" charset="-122"/>
                <a:cs typeface="Calibri" pitchFamily="34" charset="-120"/>
              </a:rPr>
              <a:t>Evaluation: Data Plane (Router Throughput)</a:t>
            </a:r>
            <a:endParaRPr lang="en-US" sz="3200" dirty="0">
              <a:solidFill>
                <a:prstClr val="black"/>
              </a:solidFill>
              <a:latin typeface="Calibri" panose="020F0502020204030204"/>
            </a:endParaRPr>
          </a:p>
        </p:txBody>
      </p:sp>
      <p:sp>
        <p:nvSpPr>
          <p:cNvPr id="4" name="Text 2"/>
          <p:cNvSpPr/>
          <p:nvPr/>
        </p:nvSpPr>
        <p:spPr>
          <a:xfrm>
            <a:off x="487680" y="999744"/>
            <a:ext cx="11216640" cy="341376"/>
          </a:xfrm>
          <a:prstGeom prst="rect">
            <a:avLst/>
          </a:prstGeom>
          <a:noFill/>
          <a:ln/>
        </p:spPr>
        <p:txBody>
          <a:bodyPr wrap="square" lIns="0" tIns="0" rIns="0" bIns="0" rtlCol="0" anchor="ctr"/>
          <a:lstStyle/>
          <a:p>
            <a:pPr defTabSz="1219170"/>
            <a:r>
              <a:rPr lang="en-US" sz="1467" i="1" dirty="0">
                <a:solidFill>
                  <a:schemeClr val="accent1">
                    <a:lumMod val="75000"/>
                  </a:schemeClr>
                </a:solidFill>
                <a:latin typeface="Calibri" pitchFamily="34" charset="0"/>
                <a:ea typeface="Calibri" pitchFamily="34" charset="-122"/>
                <a:cs typeface="Calibri" pitchFamily="34" charset="-120"/>
              </a:rPr>
              <a:t>Setup: Intel Xeon 2.1 GHz · Spirent SPT-N4U · 40 Gbps bidirectional · DPDK · SCION/EPIC router</a:t>
            </a:r>
            <a:endParaRPr lang="en-US" sz="1467" dirty="0">
              <a:solidFill>
                <a:schemeClr val="accent1">
                  <a:lumMod val="75000"/>
                </a:schemeClr>
              </a:solidFill>
              <a:latin typeface="Calibri" panose="020F0502020204030204"/>
            </a:endParaRPr>
          </a:p>
        </p:txBody>
      </p:sp>
      <p:sp>
        <p:nvSpPr>
          <p:cNvPr id="6" name="Shape 3"/>
          <p:cNvSpPr/>
          <p:nvPr/>
        </p:nvSpPr>
        <p:spPr>
          <a:xfrm>
            <a:off x="7239080" y="1494645"/>
            <a:ext cx="3697307" cy="846841"/>
          </a:xfrm>
          <a:prstGeom prst="rect">
            <a:avLst/>
          </a:prstGeom>
          <a:solidFill>
            <a:schemeClr val="bg1">
              <a:lumMod val="95000"/>
            </a:schemeClr>
          </a:solidFill>
          <a:ln w="28575">
            <a:solidFill>
              <a:srgbClr val="1B4F72"/>
            </a:solidFill>
            <a:prstDash val="solid"/>
            <a:extLst>
              <a:ext uri="{C807C97D-BFC1-408E-A445-0C87EB9F89A2}">
                <ask:lineSketchStyleProps xmlns:ask="http://schemas.microsoft.com/office/drawing/2018/sketchyshapes" sd="3353909064">
                  <a:custGeom>
                    <a:avLst/>
                    <a:gdLst>
                      <a:gd name="csX0" fmla="*/ 0 w 3697307"/>
                      <a:gd name="csY0" fmla="*/ 0 h 846841"/>
                      <a:gd name="csX1" fmla="*/ 653191 w 3697307"/>
                      <a:gd name="csY1" fmla="*/ 0 h 846841"/>
                      <a:gd name="csX2" fmla="*/ 1343355 w 3697307"/>
                      <a:gd name="csY2" fmla="*/ 0 h 846841"/>
                      <a:gd name="csX3" fmla="*/ 1959573 w 3697307"/>
                      <a:gd name="csY3" fmla="*/ 0 h 846841"/>
                      <a:gd name="csX4" fmla="*/ 2464871 w 3697307"/>
                      <a:gd name="csY4" fmla="*/ 0 h 846841"/>
                      <a:gd name="csX5" fmla="*/ 2970170 w 3697307"/>
                      <a:gd name="csY5" fmla="*/ 0 h 846841"/>
                      <a:gd name="csX6" fmla="*/ 3697307 w 3697307"/>
                      <a:gd name="csY6" fmla="*/ 0 h 846841"/>
                      <a:gd name="csX7" fmla="*/ 3697307 w 3697307"/>
                      <a:gd name="csY7" fmla="*/ 440357 h 846841"/>
                      <a:gd name="csX8" fmla="*/ 3697307 w 3697307"/>
                      <a:gd name="csY8" fmla="*/ 846841 h 846841"/>
                      <a:gd name="csX9" fmla="*/ 3192008 w 3697307"/>
                      <a:gd name="csY9" fmla="*/ 846841 h 846841"/>
                      <a:gd name="csX10" fmla="*/ 2612764 w 3697307"/>
                      <a:gd name="csY10" fmla="*/ 846841 h 846841"/>
                      <a:gd name="csX11" fmla="*/ 1996546 w 3697307"/>
                      <a:gd name="csY11" fmla="*/ 846841 h 846841"/>
                      <a:gd name="csX12" fmla="*/ 1380328 w 3697307"/>
                      <a:gd name="csY12" fmla="*/ 846841 h 846841"/>
                      <a:gd name="csX13" fmla="*/ 875029 w 3697307"/>
                      <a:gd name="csY13" fmla="*/ 846841 h 846841"/>
                      <a:gd name="csX14" fmla="*/ 0 w 3697307"/>
                      <a:gd name="csY14" fmla="*/ 846841 h 846841"/>
                      <a:gd name="csX15" fmla="*/ 0 w 3697307"/>
                      <a:gd name="csY15" fmla="*/ 406484 h 846841"/>
                      <a:gd name="csX16" fmla="*/ 0 w 3697307"/>
                      <a:gd name="csY16" fmla="*/ 0 h 8468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697307" h="846841" fill="none" extrusionOk="0">
                        <a:moveTo>
                          <a:pt x="0" y="0"/>
                        </a:moveTo>
                        <a:cubicBezTo>
                          <a:pt x="267248" y="-23108"/>
                          <a:pt x="374812" y="-16932"/>
                          <a:pt x="653191" y="0"/>
                        </a:cubicBezTo>
                        <a:cubicBezTo>
                          <a:pt x="931570" y="16932"/>
                          <a:pt x="1084264" y="16546"/>
                          <a:pt x="1343355" y="0"/>
                        </a:cubicBezTo>
                        <a:cubicBezTo>
                          <a:pt x="1602446" y="-16546"/>
                          <a:pt x="1773030" y="-17944"/>
                          <a:pt x="1959573" y="0"/>
                        </a:cubicBezTo>
                        <a:cubicBezTo>
                          <a:pt x="2146116" y="17944"/>
                          <a:pt x="2297848" y="25189"/>
                          <a:pt x="2464871" y="0"/>
                        </a:cubicBezTo>
                        <a:cubicBezTo>
                          <a:pt x="2631894" y="-25189"/>
                          <a:pt x="2758097" y="-2405"/>
                          <a:pt x="2970170" y="0"/>
                        </a:cubicBezTo>
                        <a:cubicBezTo>
                          <a:pt x="3182243" y="2405"/>
                          <a:pt x="3508635" y="20758"/>
                          <a:pt x="3697307" y="0"/>
                        </a:cubicBezTo>
                        <a:cubicBezTo>
                          <a:pt x="3683092" y="180345"/>
                          <a:pt x="3680846" y="265414"/>
                          <a:pt x="3697307" y="440357"/>
                        </a:cubicBezTo>
                        <a:cubicBezTo>
                          <a:pt x="3713768" y="615300"/>
                          <a:pt x="3689543" y="739408"/>
                          <a:pt x="3697307" y="846841"/>
                        </a:cubicBezTo>
                        <a:cubicBezTo>
                          <a:pt x="3530126" y="821680"/>
                          <a:pt x="3363183" y="830990"/>
                          <a:pt x="3192008" y="846841"/>
                        </a:cubicBezTo>
                        <a:cubicBezTo>
                          <a:pt x="3020833" y="862692"/>
                          <a:pt x="2847117" y="820406"/>
                          <a:pt x="2612764" y="846841"/>
                        </a:cubicBezTo>
                        <a:cubicBezTo>
                          <a:pt x="2378411" y="873276"/>
                          <a:pt x="2184570" y="827178"/>
                          <a:pt x="1996546" y="846841"/>
                        </a:cubicBezTo>
                        <a:cubicBezTo>
                          <a:pt x="1808522" y="866504"/>
                          <a:pt x="1623882" y="832249"/>
                          <a:pt x="1380328" y="846841"/>
                        </a:cubicBezTo>
                        <a:cubicBezTo>
                          <a:pt x="1136774" y="861433"/>
                          <a:pt x="981076" y="844541"/>
                          <a:pt x="875029" y="846841"/>
                        </a:cubicBezTo>
                        <a:cubicBezTo>
                          <a:pt x="768982" y="849141"/>
                          <a:pt x="359731" y="869977"/>
                          <a:pt x="0" y="846841"/>
                        </a:cubicBezTo>
                        <a:cubicBezTo>
                          <a:pt x="-16076" y="714386"/>
                          <a:pt x="-17504" y="577975"/>
                          <a:pt x="0" y="406484"/>
                        </a:cubicBezTo>
                        <a:cubicBezTo>
                          <a:pt x="17504" y="234993"/>
                          <a:pt x="9564" y="145778"/>
                          <a:pt x="0" y="0"/>
                        </a:cubicBezTo>
                        <a:close/>
                      </a:path>
                      <a:path w="3697307" h="846841" stroke="0" extrusionOk="0">
                        <a:moveTo>
                          <a:pt x="0" y="0"/>
                        </a:moveTo>
                        <a:cubicBezTo>
                          <a:pt x="101700" y="-6074"/>
                          <a:pt x="333911" y="-6513"/>
                          <a:pt x="505299" y="0"/>
                        </a:cubicBezTo>
                        <a:cubicBezTo>
                          <a:pt x="676687" y="6513"/>
                          <a:pt x="876462" y="-22739"/>
                          <a:pt x="1084543" y="0"/>
                        </a:cubicBezTo>
                        <a:cubicBezTo>
                          <a:pt x="1292624" y="22739"/>
                          <a:pt x="1514946" y="28651"/>
                          <a:pt x="1663788" y="0"/>
                        </a:cubicBezTo>
                        <a:cubicBezTo>
                          <a:pt x="1812630" y="-28651"/>
                          <a:pt x="2041126" y="-8028"/>
                          <a:pt x="2316979" y="0"/>
                        </a:cubicBezTo>
                        <a:cubicBezTo>
                          <a:pt x="2592832" y="8028"/>
                          <a:pt x="2667183" y="-10408"/>
                          <a:pt x="2859251" y="0"/>
                        </a:cubicBezTo>
                        <a:cubicBezTo>
                          <a:pt x="3051319" y="10408"/>
                          <a:pt x="3472938" y="-33251"/>
                          <a:pt x="3697307" y="0"/>
                        </a:cubicBezTo>
                        <a:cubicBezTo>
                          <a:pt x="3689780" y="181746"/>
                          <a:pt x="3683643" y="273326"/>
                          <a:pt x="3697307" y="440357"/>
                        </a:cubicBezTo>
                        <a:cubicBezTo>
                          <a:pt x="3710971" y="607388"/>
                          <a:pt x="3683715" y="728188"/>
                          <a:pt x="3697307" y="846841"/>
                        </a:cubicBezTo>
                        <a:cubicBezTo>
                          <a:pt x="3506336" y="857797"/>
                          <a:pt x="3311398" y="849483"/>
                          <a:pt x="3192008" y="846841"/>
                        </a:cubicBezTo>
                        <a:cubicBezTo>
                          <a:pt x="3072618" y="844199"/>
                          <a:pt x="2855745" y="851971"/>
                          <a:pt x="2575791" y="846841"/>
                        </a:cubicBezTo>
                        <a:cubicBezTo>
                          <a:pt x="2295837" y="841711"/>
                          <a:pt x="2250618" y="844828"/>
                          <a:pt x="2070492" y="846841"/>
                        </a:cubicBezTo>
                        <a:cubicBezTo>
                          <a:pt x="1890366" y="848854"/>
                          <a:pt x="1732405" y="835689"/>
                          <a:pt x="1565193" y="846841"/>
                        </a:cubicBezTo>
                        <a:cubicBezTo>
                          <a:pt x="1397981" y="857993"/>
                          <a:pt x="1150369" y="847241"/>
                          <a:pt x="912002" y="846841"/>
                        </a:cubicBezTo>
                        <a:cubicBezTo>
                          <a:pt x="673635" y="846441"/>
                          <a:pt x="299560" y="863274"/>
                          <a:pt x="0" y="846841"/>
                        </a:cubicBezTo>
                        <a:cubicBezTo>
                          <a:pt x="12670" y="642325"/>
                          <a:pt x="7550" y="594133"/>
                          <a:pt x="0" y="414952"/>
                        </a:cubicBezTo>
                        <a:cubicBezTo>
                          <a:pt x="-7550" y="235771"/>
                          <a:pt x="-16815" y="120770"/>
                          <a:pt x="0" y="0"/>
                        </a:cubicBezTo>
                        <a:close/>
                      </a:path>
                    </a:pathLst>
                  </a:custGeom>
                  <ask:type>
                    <ask:lineSketchNone/>
                  </ask:type>
                </ask:lineSketchStyleProps>
              </a:ext>
            </a:extLst>
          </a:ln>
        </p:spPr>
        <p:txBody>
          <a:bodyPr/>
          <a:lstStyle/>
          <a:p>
            <a:pPr defTabSz="1219170"/>
            <a:endParaRPr lang="en-US" sz="2400">
              <a:solidFill>
                <a:schemeClr val="tx2">
                  <a:lumMod val="90000"/>
                  <a:lumOff val="10000"/>
                </a:schemeClr>
              </a:solidFill>
              <a:latin typeface="Calibri" panose="020F0502020204030204"/>
            </a:endParaRPr>
          </a:p>
        </p:txBody>
      </p:sp>
      <p:sp>
        <p:nvSpPr>
          <p:cNvPr id="7" name="Text 4"/>
          <p:cNvSpPr/>
          <p:nvPr/>
        </p:nvSpPr>
        <p:spPr>
          <a:xfrm>
            <a:off x="7713347" y="1504398"/>
            <a:ext cx="1676112" cy="495712"/>
          </a:xfrm>
          <a:prstGeom prst="rect">
            <a:avLst/>
          </a:prstGeom>
          <a:noFill/>
          <a:ln/>
        </p:spPr>
        <p:txBody>
          <a:bodyPr wrap="square" lIns="0" tIns="0" rIns="0" bIns="0" rtlCol="0" anchor="ctr"/>
          <a:lstStyle/>
          <a:p>
            <a:pPr defTabSz="1219170"/>
            <a:r>
              <a:rPr lang="en-US" sz="2933" b="1" dirty="0">
                <a:solidFill>
                  <a:schemeClr val="tx2">
                    <a:lumMod val="90000"/>
                    <a:lumOff val="10000"/>
                  </a:schemeClr>
                </a:solidFill>
                <a:latin typeface="Calibri" pitchFamily="34" charset="0"/>
                <a:ea typeface="Calibri" pitchFamily="34" charset="-122"/>
                <a:cs typeface="Calibri" pitchFamily="34" charset="-120"/>
              </a:rPr>
              <a:t>1</a:t>
            </a:r>
            <a:r>
              <a:rPr lang="fa-IR" sz="2933" b="1" dirty="0">
                <a:solidFill>
                  <a:schemeClr val="tx2">
                    <a:lumMod val="90000"/>
                    <a:lumOff val="10000"/>
                  </a:schemeClr>
                </a:solidFill>
                <a:latin typeface="Calibri" pitchFamily="34" charset="0"/>
                <a:ea typeface="Calibri" pitchFamily="34" charset="-122"/>
                <a:cs typeface="Calibri" pitchFamily="34" charset="-120"/>
              </a:rPr>
              <a:t>.6</a:t>
            </a:r>
            <a:r>
              <a:rPr lang="en-US" sz="2933" b="1" dirty="0">
                <a:solidFill>
                  <a:schemeClr val="tx2">
                    <a:lumMod val="90000"/>
                    <a:lumOff val="10000"/>
                  </a:schemeClr>
                </a:solidFill>
                <a:latin typeface="Calibri" pitchFamily="34" charset="0"/>
                <a:ea typeface="Calibri" pitchFamily="34" charset="-122"/>
                <a:cs typeface="Calibri" pitchFamily="34" charset="-120"/>
              </a:rPr>
              <a:t>M</a:t>
            </a:r>
            <a:endParaRPr lang="en-US" sz="2933" dirty="0">
              <a:solidFill>
                <a:schemeClr val="tx2">
                  <a:lumMod val="90000"/>
                  <a:lumOff val="10000"/>
                </a:schemeClr>
              </a:solidFill>
              <a:latin typeface="Calibri" panose="020F0502020204030204"/>
            </a:endParaRPr>
          </a:p>
        </p:txBody>
      </p:sp>
      <p:sp>
        <p:nvSpPr>
          <p:cNvPr id="8" name="Text 5"/>
          <p:cNvSpPr/>
          <p:nvPr/>
        </p:nvSpPr>
        <p:spPr>
          <a:xfrm>
            <a:off x="7713347" y="2030128"/>
            <a:ext cx="1676112" cy="227201"/>
          </a:xfrm>
          <a:prstGeom prst="rect">
            <a:avLst/>
          </a:prstGeom>
          <a:noFill/>
          <a:ln/>
        </p:spPr>
        <p:txBody>
          <a:bodyPr wrap="square" lIns="0" tIns="0" rIns="0" bIns="0" rtlCol="0" anchor="ctr"/>
          <a:lstStyle/>
          <a:p>
            <a:pPr defTabSz="1219170"/>
            <a:r>
              <a:rPr lang="en-US" dirty="0" err="1">
                <a:solidFill>
                  <a:schemeClr val="tx2">
                    <a:lumMod val="90000"/>
                    <a:lumOff val="10000"/>
                  </a:schemeClr>
                </a:solidFill>
                <a:latin typeface="Calibri" pitchFamily="34" charset="0"/>
                <a:ea typeface="Calibri" pitchFamily="34" charset="-122"/>
                <a:cs typeface="Calibri" pitchFamily="34" charset="-120"/>
              </a:rPr>
              <a:t>pps</a:t>
            </a:r>
            <a:endParaRPr lang="en-US" dirty="0">
              <a:solidFill>
                <a:schemeClr val="tx2">
                  <a:lumMod val="90000"/>
                  <a:lumOff val="10000"/>
                </a:schemeClr>
              </a:solidFill>
              <a:latin typeface="Calibri" panose="020F0502020204030204"/>
            </a:endParaRPr>
          </a:p>
        </p:txBody>
      </p:sp>
      <p:sp>
        <p:nvSpPr>
          <p:cNvPr id="9" name="Text 6"/>
          <p:cNvSpPr/>
          <p:nvPr/>
        </p:nvSpPr>
        <p:spPr>
          <a:xfrm>
            <a:off x="8941166" y="1677095"/>
            <a:ext cx="1873302" cy="371784"/>
          </a:xfrm>
          <a:prstGeom prst="rect">
            <a:avLst/>
          </a:prstGeom>
          <a:noFill/>
          <a:ln/>
        </p:spPr>
        <p:txBody>
          <a:bodyPr wrap="square" lIns="0" tIns="0" rIns="0" bIns="0" rtlCol="0" anchor="ctr"/>
          <a:lstStyle/>
          <a:p>
            <a:pPr defTabSz="1219170"/>
            <a:r>
              <a:rPr lang="en-US" dirty="0">
                <a:solidFill>
                  <a:schemeClr val="tx2">
                    <a:lumMod val="90000"/>
                    <a:lumOff val="10000"/>
                  </a:schemeClr>
                </a:solidFill>
                <a:latin typeface="Calibri" pitchFamily="34" charset="0"/>
                <a:ea typeface="Calibri" pitchFamily="34" charset="-122"/>
                <a:cs typeface="Calibri" pitchFamily="34" charset="-120"/>
              </a:rPr>
              <a:t>16B packets</a:t>
            </a:r>
          </a:p>
          <a:p>
            <a:pPr defTabSz="1219170"/>
            <a:r>
              <a:rPr lang="en-US" dirty="0">
                <a:solidFill>
                  <a:schemeClr val="tx2">
                    <a:lumMod val="90000"/>
                    <a:lumOff val="10000"/>
                  </a:schemeClr>
                </a:solidFill>
                <a:latin typeface="Calibri" pitchFamily="34" charset="0"/>
                <a:ea typeface="Calibri" pitchFamily="34" charset="-122"/>
                <a:cs typeface="Calibri" pitchFamily="34" charset="-120"/>
              </a:rPr>
              <a:t>1 core</a:t>
            </a:r>
            <a:endParaRPr lang="en-US" dirty="0">
              <a:solidFill>
                <a:schemeClr val="tx2">
                  <a:lumMod val="90000"/>
                  <a:lumOff val="10000"/>
                </a:schemeClr>
              </a:solidFill>
              <a:latin typeface="Calibri" panose="020F0502020204030204"/>
            </a:endParaRPr>
          </a:p>
        </p:txBody>
      </p:sp>
      <p:sp>
        <p:nvSpPr>
          <p:cNvPr id="10" name="Shape 7"/>
          <p:cNvSpPr/>
          <p:nvPr/>
        </p:nvSpPr>
        <p:spPr>
          <a:xfrm>
            <a:off x="7239080" y="2493494"/>
            <a:ext cx="3697307" cy="846841"/>
          </a:xfrm>
          <a:prstGeom prst="rect">
            <a:avLst/>
          </a:prstGeom>
          <a:solidFill>
            <a:schemeClr val="bg1">
              <a:lumMod val="95000"/>
            </a:schemeClr>
          </a:solidFill>
          <a:ln w="28575">
            <a:solidFill>
              <a:srgbClr val="1B4F72"/>
            </a:solidFill>
            <a:prstDash val="solid"/>
            <a:extLst>
              <a:ext uri="{C807C97D-BFC1-408E-A445-0C87EB9F89A2}">
                <ask:lineSketchStyleProps xmlns:ask="http://schemas.microsoft.com/office/drawing/2018/sketchyshapes" sd="4235947196">
                  <a:custGeom>
                    <a:avLst/>
                    <a:gdLst>
                      <a:gd name="csX0" fmla="*/ 0 w 3697307"/>
                      <a:gd name="csY0" fmla="*/ 0 h 846841"/>
                      <a:gd name="csX1" fmla="*/ 505299 w 3697307"/>
                      <a:gd name="csY1" fmla="*/ 0 h 846841"/>
                      <a:gd name="csX2" fmla="*/ 1010597 w 3697307"/>
                      <a:gd name="csY2" fmla="*/ 0 h 846841"/>
                      <a:gd name="csX3" fmla="*/ 1515896 w 3697307"/>
                      <a:gd name="csY3" fmla="*/ 0 h 846841"/>
                      <a:gd name="csX4" fmla="*/ 2206060 w 3697307"/>
                      <a:gd name="csY4" fmla="*/ 0 h 846841"/>
                      <a:gd name="csX5" fmla="*/ 2711358 w 3697307"/>
                      <a:gd name="csY5" fmla="*/ 0 h 846841"/>
                      <a:gd name="csX6" fmla="*/ 3697307 w 3697307"/>
                      <a:gd name="csY6" fmla="*/ 0 h 846841"/>
                      <a:gd name="csX7" fmla="*/ 3697307 w 3697307"/>
                      <a:gd name="csY7" fmla="*/ 431889 h 846841"/>
                      <a:gd name="csX8" fmla="*/ 3697307 w 3697307"/>
                      <a:gd name="csY8" fmla="*/ 846841 h 846841"/>
                      <a:gd name="csX9" fmla="*/ 3007143 w 3697307"/>
                      <a:gd name="csY9" fmla="*/ 846841 h 846841"/>
                      <a:gd name="csX10" fmla="*/ 2390925 w 3697307"/>
                      <a:gd name="csY10" fmla="*/ 846841 h 846841"/>
                      <a:gd name="csX11" fmla="*/ 1700761 w 3697307"/>
                      <a:gd name="csY11" fmla="*/ 846841 h 846841"/>
                      <a:gd name="csX12" fmla="*/ 1195463 w 3697307"/>
                      <a:gd name="csY12" fmla="*/ 846841 h 846841"/>
                      <a:gd name="csX13" fmla="*/ 542272 w 3697307"/>
                      <a:gd name="csY13" fmla="*/ 846841 h 846841"/>
                      <a:gd name="csX14" fmla="*/ 0 w 3697307"/>
                      <a:gd name="csY14" fmla="*/ 846841 h 846841"/>
                      <a:gd name="csX15" fmla="*/ 0 w 3697307"/>
                      <a:gd name="csY15" fmla="*/ 414952 h 846841"/>
                      <a:gd name="csX16" fmla="*/ 0 w 3697307"/>
                      <a:gd name="csY16" fmla="*/ 0 h 8468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697307" h="846841" fill="none" extrusionOk="0">
                        <a:moveTo>
                          <a:pt x="0" y="0"/>
                        </a:moveTo>
                        <a:cubicBezTo>
                          <a:pt x="215991" y="15038"/>
                          <a:pt x="276825" y="1339"/>
                          <a:pt x="505299" y="0"/>
                        </a:cubicBezTo>
                        <a:cubicBezTo>
                          <a:pt x="733773" y="-1339"/>
                          <a:pt x="873019" y="-18570"/>
                          <a:pt x="1010597" y="0"/>
                        </a:cubicBezTo>
                        <a:cubicBezTo>
                          <a:pt x="1148175" y="18570"/>
                          <a:pt x="1351698" y="-5360"/>
                          <a:pt x="1515896" y="0"/>
                        </a:cubicBezTo>
                        <a:cubicBezTo>
                          <a:pt x="1680094" y="5360"/>
                          <a:pt x="1925220" y="693"/>
                          <a:pt x="2206060" y="0"/>
                        </a:cubicBezTo>
                        <a:cubicBezTo>
                          <a:pt x="2486900" y="-693"/>
                          <a:pt x="2463785" y="11456"/>
                          <a:pt x="2711358" y="0"/>
                        </a:cubicBezTo>
                        <a:cubicBezTo>
                          <a:pt x="2958931" y="-11456"/>
                          <a:pt x="3335640" y="-2812"/>
                          <a:pt x="3697307" y="0"/>
                        </a:cubicBezTo>
                        <a:cubicBezTo>
                          <a:pt x="3680667" y="143981"/>
                          <a:pt x="3709521" y="265945"/>
                          <a:pt x="3697307" y="431889"/>
                        </a:cubicBezTo>
                        <a:cubicBezTo>
                          <a:pt x="3685093" y="597833"/>
                          <a:pt x="3688403" y="728333"/>
                          <a:pt x="3697307" y="846841"/>
                        </a:cubicBezTo>
                        <a:cubicBezTo>
                          <a:pt x="3546667" y="847921"/>
                          <a:pt x="3168639" y="878073"/>
                          <a:pt x="3007143" y="846841"/>
                        </a:cubicBezTo>
                        <a:cubicBezTo>
                          <a:pt x="2845647" y="815609"/>
                          <a:pt x="2537644" y="858715"/>
                          <a:pt x="2390925" y="846841"/>
                        </a:cubicBezTo>
                        <a:cubicBezTo>
                          <a:pt x="2244206" y="834967"/>
                          <a:pt x="1850593" y="820880"/>
                          <a:pt x="1700761" y="846841"/>
                        </a:cubicBezTo>
                        <a:cubicBezTo>
                          <a:pt x="1550929" y="872802"/>
                          <a:pt x="1393857" y="858382"/>
                          <a:pt x="1195463" y="846841"/>
                        </a:cubicBezTo>
                        <a:cubicBezTo>
                          <a:pt x="997069" y="835300"/>
                          <a:pt x="812544" y="836302"/>
                          <a:pt x="542272" y="846841"/>
                        </a:cubicBezTo>
                        <a:cubicBezTo>
                          <a:pt x="272000" y="857380"/>
                          <a:pt x="255391" y="824994"/>
                          <a:pt x="0" y="846841"/>
                        </a:cubicBezTo>
                        <a:cubicBezTo>
                          <a:pt x="20133" y="638198"/>
                          <a:pt x="18748" y="617533"/>
                          <a:pt x="0" y="414952"/>
                        </a:cubicBezTo>
                        <a:cubicBezTo>
                          <a:pt x="-18748" y="212371"/>
                          <a:pt x="14824" y="114349"/>
                          <a:pt x="0" y="0"/>
                        </a:cubicBezTo>
                        <a:close/>
                      </a:path>
                      <a:path w="3697307" h="846841" stroke="0" extrusionOk="0">
                        <a:moveTo>
                          <a:pt x="0" y="0"/>
                        </a:moveTo>
                        <a:cubicBezTo>
                          <a:pt x="196115" y="11567"/>
                          <a:pt x="343850" y="-29706"/>
                          <a:pt x="616218" y="0"/>
                        </a:cubicBezTo>
                        <a:cubicBezTo>
                          <a:pt x="888586" y="29706"/>
                          <a:pt x="1033987" y="-2755"/>
                          <a:pt x="1306382" y="0"/>
                        </a:cubicBezTo>
                        <a:cubicBezTo>
                          <a:pt x="1578777" y="2755"/>
                          <a:pt x="1665101" y="-13145"/>
                          <a:pt x="1885627" y="0"/>
                        </a:cubicBezTo>
                        <a:cubicBezTo>
                          <a:pt x="2106154" y="13145"/>
                          <a:pt x="2317162" y="7493"/>
                          <a:pt x="2464871" y="0"/>
                        </a:cubicBezTo>
                        <a:cubicBezTo>
                          <a:pt x="2612580" y="-7493"/>
                          <a:pt x="2835064" y="-26457"/>
                          <a:pt x="3044116" y="0"/>
                        </a:cubicBezTo>
                        <a:cubicBezTo>
                          <a:pt x="3253169" y="26457"/>
                          <a:pt x="3442204" y="-13882"/>
                          <a:pt x="3697307" y="0"/>
                        </a:cubicBezTo>
                        <a:cubicBezTo>
                          <a:pt x="3699669" y="186981"/>
                          <a:pt x="3688110" y="331605"/>
                          <a:pt x="3697307" y="414952"/>
                        </a:cubicBezTo>
                        <a:cubicBezTo>
                          <a:pt x="3706504" y="498299"/>
                          <a:pt x="3709879" y="636662"/>
                          <a:pt x="3697307" y="846841"/>
                        </a:cubicBezTo>
                        <a:cubicBezTo>
                          <a:pt x="3397712" y="852513"/>
                          <a:pt x="3216051" y="830660"/>
                          <a:pt x="3044116" y="846841"/>
                        </a:cubicBezTo>
                        <a:cubicBezTo>
                          <a:pt x="2872181" y="863022"/>
                          <a:pt x="2598061" y="854931"/>
                          <a:pt x="2427898" y="846841"/>
                        </a:cubicBezTo>
                        <a:cubicBezTo>
                          <a:pt x="2257735" y="838751"/>
                          <a:pt x="2092621" y="826957"/>
                          <a:pt x="1848654" y="846841"/>
                        </a:cubicBezTo>
                        <a:cubicBezTo>
                          <a:pt x="1604687" y="866725"/>
                          <a:pt x="1595177" y="838906"/>
                          <a:pt x="1343355" y="846841"/>
                        </a:cubicBezTo>
                        <a:cubicBezTo>
                          <a:pt x="1091533" y="854776"/>
                          <a:pt x="1031275" y="838721"/>
                          <a:pt x="764110" y="846841"/>
                        </a:cubicBezTo>
                        <a:cubicBezTo>
                          <a:pt x="496946" y="854961"/>
                          <a:pt x="334410" y="829497"/>
                          <a:pt x="0" y="846841"/>
                        </a:cubicBezTo>
                        <a:cubicBezTo>
                          <a:pt x="-7857" y="683433"/>
                          <a:pt x="-20903" y="500523"/>
                          <a:pt x="0" y="406484"/>
                        </a:cubicBezTo>
                        <a:cubicBezTo>
                          <a:pt x="20903" y="312445"/>
                          <a:pt x="11313" y="142092"/>
                          <a:pt x="0" y="0"/>
                        </a:cubicBezTo>
                        <a:close/>
                      </a:path>
                    </a:pathLst>
                  </a:custGeom>
                  <ask:type>
                    <ask:lineSketchNone/>
                  </ask:type>
                </ask:lineSketchStyleProps>
              </a:ext>
            </a:extLst>
          </a:ln>
        </p:spPr>
        <p:txBody>
          <a:bodyPr/>
          <a:lstStyle/>
          <a:p>
            <a:pPr defTabSz="1219170"/>
            <a:endParaRPr lang="en-US" sz="2400">
              <a:solidFill>
                <a:schemeClr val="tx2">
                  <a:lumMod val="90000"/>
                  <a:lumOff val="10000"/>
                </a:schemeClr>
              </a:solidFill>
              <a:latin typeface="Calibri" panose="020F0502020204030204"/>
            </a:endParaRPr>
          </a:p>
        </p:txBody>
      </p:sp>
      <p:sp>
        <p:nvSpPr>
          <p:cNvPr id="11" name="Text 8"/>
          <p:cNvSpPr/>
          <p:nvPr/>
        </p:nvSpPr>
        <p:spPr>
          <a:xfrm>
            <a:off x="7713347" y="2503247"/>
            <a:ext cx="1676112" cy="495712"/>
          </a:xfrm>
          <a:prstGeom prst="rect">
            <a:avLst/>
          </a:prstGeom>
          <a:noFill/>
          <a:ln/>
        </p:spPr>
        <p:txBody>
          <a:bodyPr wrap="square" lIns="0" tIns="0" rIns="0" bIns="0" rtlCol="0" anchor="ctr"/>
          <a:lstStyle/>
          <a:p>
            <a:pPr defTabSz="1219170"/>
            <a:r>
              <a:rPr lang="en-US" sz="2933" b="1" dirty="0">
                <a:solidFill>
                  <a:schemeClr val="tx2">
                    <a:lumMod val="90000"/>
                    <a:lumOff val="10000"/>
                  </a:schemeClr>
                </a:solidFill>
                <a:latin typeface="Calibri" pitchFamily="34" charset="0"/>
                <a:ea typeface="Calibri" pitchFamily="34" charset="-122"/>
                <a:cs typeface="Calibri" pitchFamily="34" charset="-120"/>
              </a:rPr>
              <a:t>17.4M</a:t>
            </a:r>
            <a:endParaRPr lang="en-US" sz="2933" dirty="0">
              <a:solidFill>
                <a:schemeClr val="tx2">
                  <a:lumMod val="90000"/>
                  <a:lumOff val="10000"/>
                </a:schemeClr>
              </a:solidFill>
              <a:latin typeface="Calibri" panose="020F0502020204030204"/>
            </a:endParaRPr>
          </a:p>
        </p:txBody>
      </p:sp>
      <p:sp>
        <p:nvSpPr>
          <p:cNvPr id="12" name="Text 9"/>
          <p:cNvSpPr/>
          <p:nvPr/>
        </p:nvSpPr>
        <p:spPr>
          <a:xfrm>
            <a:off x="7713347" y="3039982"/>
            <a:ext cx="1676112" cy="227201"/>
          </a:xfrm>
          <a:prstGeom prst="rect">
            <a:avLst/>
          </a:prstGeom>
          <a:noFill/>
          <a:ln/>
        </p:spPr>
        <p:txBody>
          <a:bodyPr wrap="square" lIns="0" tIns="0" rIns="0" bIns="0" rtlCol="0" anchor="ctr"/>
          <a:lstStyle/>
          <a:p>
            <a:pPr defTabSz="1219170"/>
            <a:r>
              <a:rPr lang="en-US" dirty="0">
                <a:solidFill>
                  <a:schemeClr val="tx2">
                    <a:lumMod val="90000"/>
                    <a:lumOff val="10000"/>
                  </a:schemeClr>
                </a:solidFill>
                <a:latin typeface="Calibri" pitchFamily="34" charset="0"/>
                <a:ea typeface="Calibri" pitchFamily="34" charset="-122"/>
                <a:cs typeface="Calibri" pitchFamily="34" charset="-120"/>
              </a:rPr>
              <a:t>pps</a:t>
            </a:r>
            <a:endParaRPr lang="en-US" dirty="0">
              <a:solidFill>
                <a:schemeClr val="tx2">
                  <a:lumMod val="90000"/>
                  <a:lumOff val="10000"/>
                </a:schemeClr>
              </a:solidFill>
              <a:latin typeface="Calibri" panose="020F0502020204030204"/>
            </a:endParaRPr>
          </a:p>
        </p:txBody>
      </p:sp>
      <p:sp>
        <p:nvSpPr>
          <p:cNvPr id="13" name="Text 10"/>
          <p:cNvSpPr/>
          <p:nvPr/>
        </p:nvSpPr>
        <p:spPr>
          <a:xfrm>
            <a:off x="8941166" y="2675944"/>
            <a:ext cx="1873302" cy="371784"/>
          </a:xfrm>
          <a:prstGeom prst="rect">
            <a:avLst/>
          </a:prstGeom>
          <a:noFill/>
          <a:ln/>
        </p:spPr>
        <p:txBody>
          <a:bodyPr wrap="square" lIns="0" tIns="0" rIns="0" bIns="0" rtlCol="0" anchor="ctr"/>
          <a:lstStyle/>
          <a:p>
            <a:pPr defTabSz="1219170"/>
            <a:r>
              <a:rPr lang="en-US" dirty="0">
                <a:solidFill>
                  <a:schemeClr val="tx2">
                    <a:lumMod val="90000"/>
                    <a:lumOff val="10000"/>
                  </a:schemeClr>
                </a:solidFill>
                <a:latin typeface="Calibri" pitchFamily="34" charset="0"/>
                <a:ea typeface="Calibri" pitchFamily="34" charset="-122"/>
                <a:cs typeface="Calibri" pitchFamily="34" charset="-120"/>
              </a:rPr>
              <a:t>16B packets</a:t>
            </a:r>
          </a:p>
          <a:p>
            <a:pPr defTabSz="1219170"/>
            <a:r>
              <a:rPr lang="en-US" dirty="0">
                <a:solidFill>
                  <a:schemeClr val="tx2">
                    <a:lumMod val="90000"/>
                    <a:lumOff val="10000"/>
                  </a:schemeClr>
                </a:solidFill>
                <a:latin typeface="Calibri" pitchFamily="34" charset="0"/>
                <a:ea typeface="Calibri" pitchFamily="34" charset="-122"/>
                <a:cs typeface="Calibri" pitchFamily="34" charset="-120"/>
              </a:rPr>
              <a:t>16 cores</a:t>
            </a:r>
            <a:endParaRPr lang="en-US" dirty="0">
              <a:solidFill>
                <a:schemeClr val="tx2">
                  <a:lumMod val="90000"/>
                  <a:lumOff val="10000"/>
                </a:schemeClr>
              </a:solidFill>
              <a:latin typeface="Calibri" panose="020F0502020204030204"/>
            </a:endParaRPr>
          </a:p>
        </p:txBody>
      </p:sp>
      <p:sp>
        <p:nvSpPr>
          <p:cNvPr id="14" name="Shape 11"/>
          <p:cNvSpPr/>
          <p:nvPr/>
        </p:nvSpPr>
        <p:spPr>
          <a:xfrm>
            <a:off x="7239080" y="3509121"/>
            <a:ext cx="3697307" cy="846841"/>
          </a:xfrm>
          <a:prstGeom prst="rect">
            <a:avLst/>
          </a:prstGeom>
          <a:solidFill>
            <a:schemeClr val="bg1">
              <a:lumMod val="95000"/>
            </a:schemeClr>
          </a:solidFill>
          <a:ln w="28575">
            <a:solidFill>
              <a:srgbClr val="1B4F72"/>
            </a:solidFill>
            <a:prstDash val="solid"/>
            <a:extLst>
              <a:ext uri="{C807C97D-BFC1-408E-A445-0C87EB9F89A2}">
                <ask:lineSketchStyleProps xmlns:ask="http://schemas.microsoft.com/office/drawing/2018/sketchyshapes" sd="3038958519">
                  <a:custGeom>
                    <a:avLst/>
                    <a:gdLst>
                      <a:gd name="csX0" fmla="*/ 0 w 3697307"/>
                      <a:gd name="csY0" fmla="*/ 0 h 846841"/>
                      <a:gd name="csX1" fmla="*/ 653191 w 3697307"/>
                      <a:gd name="csY1" fmla="*/ 0 h 846841"/>
                      <a:gd name="csX2" fmla="*/ 1158490 w 3697307"/>
                      <a:gd name="csY2" fmla="*/ 0 h 846841"/>
                      <a:gd name="csX3" fmla="*/ 1811680 w 3697307"/>
                      <a:gd name="csY3" fmla="*/ 0 h 846841"/>
                      <a:gd name="csX4" fmla="*/ 2464871 w 3697307"/>
                      <a:gd name="csY4" fmla="*/ 0 h 846841"/>
                      <a:gd name="csX5" fmla="*/ 3118062 w 3697307"/>
                      <a:gd name="csY5" fmla="*/ 0 h 846841"/>
                      <a:gd name="csX6" fmla="*/ 3697307 w 3697307"/>
                      <a:gd name="csY6" fmla="*/ 0 h 846841"/>
                      <a:gd name="csX7" fmla="*/ 3697307 w 3697307"/>
                      <a:gd name="csY7" fmla="*/ 440357 h 846841"/>
                      <a:gd name="csX8" fmla="*/ 3697307 w 3697307"/>
                      <a:gd name="csY8" fmla="*/ 846841 h 846841"/>
                      <a:gd name="csX9" fmla="*/ 3192008 w 3697307"/>
                      <a:gd name="csY9" fmla="*/ 846841 h 846841"/>
                      <a:gd name="csX10" fmla="*/ 2612764 w 3697307"/>
                      <a:gd name="csY10" fmla="*/ 846841 h 846841"/>
                      <a:gd name="csX11" fmla="*/ 2107465 w 3697307"/>
                      <a:gd name="csY11" fmla="*/ 846841 h 846841"/>
                      <a:gd name="csX12" fmla="*/ 1565193 w 3697307"/>
                      <a:gd name="csY12" fmla="*/ 846841 h 846841"/>
                      <a:gd name="csX13" fmla="*/ 875029 w 3697307"/>
                      <a:gd name="csY13" fmla="*/ 846841 h 846841"/>
                      <a:gd name="csX14" fmla="*/ 0 w 3697307"/>
                      <a:gd name="csY14" fmla="*/ 846841 h 846841"/>
                      <a:gd name="csX15" fmla="*/ 0 w 3697307"/>
                      <a:gd name="csY15" fmla="*/ 431889 h 846841"/>
                      <a:gd name="csX16" fmla="*/ 0 w 3697307"/>
                      <a:gd name="csY16" fmla="*/ 0 h 8468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697307" h="846841" fill="none" extrusionOk="0">
                        <a:moveTo>
                          <a:pt x="0" y="0"/>
                        </a:moveTo>
                        <a:cubicBezTo>
                          <a:pt x="325397" y="24230"/>
                          <a:pt x="413275" y="-27919"/>
                          <a:pt x="653191" y="0"/>
                        </a:cubicBezTo>
                        <a:cubicBezTo>
                          <a:pt x="893107" y="27919"/>
                          <a:pt x="922012" y="-13218"/>
                          <a:pt x="1158490" y="0"/>
                        </a:cubicBezTo>
                        <a:cubicBezTo>
                          <a:pt x="1394968" y="13218"/>
                          <a:pt x="1613447" y="-6803"/>
                          <a:pt x="1811680" y="0"/>
                        </a:cubicBezTo>
                        <a:cubicBezTo>
                          <a:pt x="2009913" y="6803"/>
                          <a:pt x="2276504" y="-30225"/>
                          <a:pt x="2464871" y="0"/>
                        </a:cubicBezTo>
                        <a:cubicBezTo>
                          <a:pt x="2653238" y="30225"/>
                          <a:pt x="2899154" y="-3173"/>
                          <a:pt x="3118062" y="0"/>
                        </a:cubicBezTo>
                        <a:cubicBezTo>
                          <a:pt x="3336970" y="3173"/>
                          <a:pt x="3529928" y="13924"/>
                          <a:pt x="3697307" y="0"/>
                        </a:cubicBezTo>
                        <a:cubicBezTo>
                          <a:pt x="3684041" y="111560"/>
                          <a:pt x="3693455" y="237476"/>
                          <a:pt x="3697307" y="440357"/>
                        </a:cubicBezTo>
                        <a:cubicBezTo>
                          <a:pt x="3701159" y="643238"/>
                          <a:pt x="3688974" y="694198"/>
                          <a:pt x="3697307" y="846841"/>
                        </a:cubicBezTo>
                        <a:cubicBezTo>
                          <a:pt x="3545846" y="854044"/>
                          <a:pt x="3432332" y="867283"/>
                          <a:pt x="3192008" y="846841"/>
                        </a:cubicBezTo>
                        <a:cubicBezTo>
                          <a:pt x="2951684" y="826399"/>
                          <a:pt x="2769849" y="829898"/>
                          <a:pt x="2612764" y="846841"/>
                        </a:cubicBezTo>
                        <a:cubicBezTo>
                          <a:pt x="2455679" y="863784"/>
                          <a:pt x="2348818" y="824107"/>
                          <a:pt x="2107465" y="846841"/>
                        </a:cubicBezTo>
                        <a:cubicBezTo>
                          <a:pt x="1866112" y="869575"/>
                          <a:pt x="1764155" y="825426"/>
                          <a:pt x="1565193" y="846841"/>
                        </a:cubicBezTo>
                        <a:cubicBezTo>
                          <a:pt x="1366231" y="868256"/>
                          <a:pt x="1090113" y="857697"/>
                          <a:pt x="875029" y="846841"/>
                        </a:cubicBezTo>
                        <a:cubicBezTo>
                          <a:pt x="659945" y="835985"/>
                          <a:pt x="296048" y="858486"/>
                          <a:pt x="0" y="846841"/>
                        </a:cubicBezTo>
                        <a:cubicBezTo>
                          <a:pt x="-15663" y="662492"/>
                          <a:pt x="-13152" y="599777"/>
                          <a:pt x="0" y="431889"/>
                        </a:cubicBezTo>
                        <a:cubicBezTo>
                          <a:pt x="13152" y="264001"/>
                          <a:pt x="2872" y="88209"/>
                          <a:pt x="0" y="0"/>
                        </a:cubicBezTo>
                        <a:close/>
                      </a:path>
                      <a:path w="3697307" h="846841" stroke="0" extrusionOk="0">
                        <a:moveTo>
                          <a:pt x="0" y="0"/>
                        </a:moveTo>
                        <a:cubicBezTo>
                          <a:pt x="303088" y="16249"/>
                          <a:pt x="423995" y="-7796"/>
                          <a:pt x="616218" y="0"/>
                        </a:cubicBezTo>
                        <a:cubicBezTo>
                          <a:pt x="808441" y="7796"/>
                          <a:pt x="1091769" y="-15570"/>
                          <a:pt x="1269409" y="0"/>
                        </a:cubicBezTo>
                        <a:cubicBezTo>
                          <a:pt x="1447049" y="15570"/>
                          <a:pt x="1632559" y="21646"/>
                          <a:pt x="1959573" y="0"/>
                        </a:cubicBezTo>
                        <a:cubicBezTo>
                          <a:pt x="2286587" y="-21646"/>
                          <a:pt x="2317530" y="-30443"/>
                          <a:pt x="2612764" y="0"/>
                        </a:cubicBezTo>
                        <a:cubicBezTo>
                          <a:pt x="2907998" y="30443"/>
                          <a:pt x="3361069" y="-8518"/>
                          <a:pt x="3697307" y="0"/>
                        </a:cubicBezTo>
                        <a:cubicBezTo>
                          <a:pt x="3682252" y="145449"/>
                          <a:pt x="3681549" y="251596"/>
                          <a:pt x="3697307" y="398015"/>
                        </a:cubicBezTo>
                        <a:cubicBezTo>
                          <a:pt x="3713065" y="544434"/>
                          <a:pt x="3708205" y="720267"/>
                          <a:pt x="3697307" y="846841"/>
                        </a:cubicBezTo>
                        <a:cubicBezTo>
                          <a:pt x="3535872" y="842404"/>
                          <a:pt x="3293335" y="857690"/>
                          <a:pt x="3007143" y="846841"/>
                        </a:cubicBezTo>
                        <a:cubicBezTo>
                          <a:pt x="2720951" y="835992"/>
                          <a:pt x="2525004" y="846909"/>
                          <a:pt x="2390925" y="846841"/>
                        </a:cubicBezTo>
                        <a:cubicBezTo>
                          <a:pt x="2256846" y="846773"/>
                          <a:pt x="1964570" y="858536"/>
                          <a:pt x="1737734" y="846841"/>
                        </a:cubicBezTo>
                        <a:cubicBezTo>
                          <a:pt x="1510898" y="835146"/>
                          <a:pt x="1315439" y="838205"/>
                          <a:pt x="1084543" y="846841"/>
                        </a:cubicBezTo>
                        <a:cubicBezTo>
                          <a:pt x="853647" y="855477"/>
                          <a:pt x="487716" y="834812"/>
                          <a:pt x="0" y="846841"/>
                        </a:cubicBezTo>
                        <a:cubicBezTo>
                          <a:pt x="9934" y="656298"/>
                          <a:pt x="4111" y="540364"/>
                          <a:pt x="0" y="440357"/>
                        </a:cubicBezTo>
                        <a:cubicBezTo>
                          <a:pt x="-4111" y="340350"/>
                          <a:pt x="-21670" y="126736"/>
                          <a:pt x="0" y="0"/>
                        </a:cubicBezTo>
                        <a:close/>
                      </a:path>
                    </a:pathLst>
                  </a:custGeom>
                  <ask:type>
                    <ask:lineSketchNone/>
                  </ask:type>
                </ask:lineSketchStyleProps>
              </a:ext>
            </a:extLst>
          </a:ln>
        </p:spPr>
        <p:txBody>
          <a:bodyPr/>
          <a:lstStyle/>
          <a:p>
            <a:pPr defTabSz="1219170"/>
            <a:endParaRPr lang="en-US" sz="2400">
              <a:solidFill>
                <a:schemeClr val="tx2">
                  <a:lumMod val="90000"/>
                  <a:lumOff val="10000"/>
                </a:schemeClr>
              </a:solidFill>
              <a:latin typeface="Calibri" panose="020F0502020204030204"/>
            </a:endParaRPr>
          </a:p>
        </p:txBody>
      </p:sp>
      <p:sp>
        <p:nvSpPr>
          <p:cNvPr id="15" name="Text 12"/>
          <p:cNvSpPr/>
          <p:nvPr/>
        </p:nvSpPr>
        <p:spPr>
          <a:xfrm>
            <a:off x="7713347" y="3518874"/>
            <a:ext cx="1676112" cy="495712"/>
          </a:xfrm>
          <a:prstGeom prst="rect">
            <a:avLst/>
          </a:prstGeom>
          <a:noFill/>
          <a:ln/>
        </p:spPr>
        <p:txBody>
          <a:bodyPr wrap="square" lIns="0" tIns="0" rIns="0" bIns="0" rtlCol="0" anchor="ctr"/>
          <a:lstStyle/>
          <a:p>
            <a:pPr defTabSz="1219170"/>
            <a:r>
              <a:rPr lang="en-US" sz="2933" b="1" dirty="0">
                <a:solidFill>
                  <a:schemeClr val="tx2">
                    <a:lumMod val="90000"/>
                    <a:lumOff val="10000"/>
                  </a:schemeClr>
                </a:solidFill>
                <a:latin typeface="Calibri" pitchFamily="34" charset="0"/>
                <a:ea typeface="Calibri" pitchFamily="34" charset="-122"/>
                <a:cs typeface="Calibri" pitchFamily="34" charset="-120"/>
              </a:rPr>
              <a:t>0.6µs</a:t>
            </a:r>
            <a:endParaRPr lang="en-US" sz="2933" dirty="0">
              <a:solidFill>
                <a:schemeClr val="tx2">
                  <a:lumMod val="90000"/>
                  <a:lumOff val="10000"/>
                </a:schemeClr>
              </a:solidFill>
              <a:latin typeface="Calibri" panose="020F0502020204030204"/>
            </a:endParaRPr>
          </a:p>
        </p:txBody>
      </p:sp>
      <p:sp>
        <p:nvSpPr>
          <p:cNvPr id="16" name="Text 13"/>
          <p:cNvSpPr/>
          <p:nvPr/>
        </p:nvSpPr>
        <p:spPr>
          <a:xfrm>
            <a:off x="7713347" y="4055609"/>
            <a:ext cx="1676112" cy="227201"/>
          </a:xfrm>
          <a:prstGeom prst="rect">
            <a:avLst/>
          </a:prstGeom>
          <a:noFill/>
          <a:ln/>
        </p:spPr>
        <p:txBody>
          <a:bodyPr wrap="square" lIns="0" tIns="0" rIns="0" bIns="0" rtlCol="0" anchor="ctr"/>
          <a:lstStyle/>
          <a:p>
            <a:pPr defTabSz="1219170"/>
            <a:r>
              <a:rPr lang="en-US" dirty="0">
                <a:solidFill>
                  <a:schemeClr val="tx2">
                    <a:lumMod val="90000"/>
                    <a:lumOff val="10000"/>
                  </a:schemeClr>
                </a:solidFill>
                <a:latin typeface="Calibri" pitchFamily="34" charset="0"/>
                <a:ea typeface="Calibri" pitchFamily="34" charset="-122"/>
                <a:cs typeface="Calibri" pitchFamily="34" charset="-120"/>
              </a:rPr>
              <a:t>overhead </a:t>
            </a:r>
            <a:endParaRPr lang="en-US" dirty="0">
              <a:solidFill>
                <a:schemeClr val="tx2">
                  <a:lumMod val="90000"/>
                  <a:lumOff val="10000"/>
                </a:schemeClr>
              </a:solidFill>
              <a:latin typeface="Calibri" panose="020F0502020204030204"/>
            </a:endParaRPr>
          </a:p>
        </p:txBody>
      </p:sp>
      <p:sp>
        <p:nvSpPr>
          <p:cNvPr id="17" name="Text 14"/>
          <p:cNvSpPr/>
          <p:nvPr/>
        </p:nvSpPr>
        <p:spPr>
          <a:xfrm>
            <a:off x="8941166" y="3691571"/>
            <a:ext cx="1873302" cy="371784"/>
          </a:xfrm>
          <a:prstGeom prst="rect">
            <a:avLst/>
          </a:prstGeom>
          <a:noFill/>
          <a:ln/>
        </p:spPr>
        <p:txBody>
          <a:bodyPr wrap="square" lIns="0" tIns="0" rIns="0" bIns="0" rtlCol="0" anchor="ctr"/>
          <a:lstStyle/>
          <a:p>
            <a:pPr defTabSz="1219170"/>
            <a:r>
              <a:rPr lang="en-US" dirty="0">
                <a:solidFill>
                  <a:schemeClr val="tx2">
                    <a:lumMod val="90000"/>
                    <a:lumOff val="10000"/>
                  </a:schemeClr>
                </a:solidFill>
                <a:latin typeface="Calibri" pitchFamily="34" charset="0"/>
                <a:ea typeface="Calibri" pitchFamily="34" charset="-122"/>
                <a:cs typeface="Calibri" pitchFamily="34" charset="-120"/>
              </a:rPr>
              <a:t>per packet (16B)</a:t>
            </a:r>
            <a:endParaRPr lang="en-US" dirty="0">
              <a:solidFill>
                <a:schemeClr val="tx2">
                  <a:lumMod val="90000"/>
                  <a:lumOff val="10000"/>
                </a:schemeClr>
              </a:solidFill>
              <a:latin typeface="Calibri" panose="020F0502020204030204"/>
            </a:endParaRPr>
          </a:p>
        </p:txBody>
      </p:sp>
      <p:sp>
        <p:nvSpPr>
          <p:cNvPr id="18" name="Shape 15"/>
          <p:cNvSpPr/>
          <p:nvPr/>
        </p:nvSpPr>
        <p:spPr>
          <a:xfrm>
            <a:off x="7239080" y="4499581"/>
            <a:ext cx="3697307" cy="846841"/>
          </a:xfrm>
          <a:prstGeom prst="rect">
            <a:avLst/>
          </a:prstGeom>
          <a:solidFill>
            <a:schemeClr val="bg1">
              <a:lumMod val="95000"/>
            </a:schemeClr>
          </a:solidFill>
          <a:ln w="28575">
            <a:solidFill>
              <a:srgbClr val="1B4F72"/>
            </a:solidFill>
            <a:prstDash val="solid"/>
            <a:extLst>
              <a:ext uri="{C807C97D-BFC1-408E-A445-0C87EB9F89A2}">
                <ask:lineSketchStyleProps xmlns:ask="http://schemas.microsoft.com/office/drawing/2018/sketchyshapes" sd="1592678000">
                  <a:custGeom>
                    <a:avLst/>
                    <a:gdLst>
                      <a:gd name="csX0" fmla="*/ 0 w 3697307"/>
                      <a:gd name="csY0" fmla="*/ 0 h 846841"/>
                      <a:gd name="csX1" fmla="*/ 653191 w 3697307"/>
                      <a:gd name="csY1" fmla="*/ 0 h 846841"/>
                      <a:gd name="csX2" fmla="*/ 1306382 w 3697307"/>
                      <a:gd name="csY2" fmla="*/ 0 h 846841"/>
                      <a:gd name="csX3" fmla="*/ 1848654 w 3697307"/>
                      <a:gd name="csY3" fmla="*/ 0 h 846841"/>
                      <a:gd name="csX4" fmla="*/ 2538817 w 3697307"/>
                      <a:gd name="csY4" fmla="*/ 0 h 846841"/>
                      <a:gd name="csX5" fmla="*/ 3697307 w 3697307"/>
                      <a:gd name="csY5" fmla="*/ 0 h 846841"/>
                      <a:gd name="csX6" fmla="*/ 3697307 w 3697307"/>
                      <a:gd name="csY6" fmla="*/ 440357 h 846841"/>
                      <a:gd name="csX7" fmla="*/ 3697307 w 3697307"/>
                      <a:gd name="csY7" fmla="*/ 846841 h 846841"/>
                      <a:gd name="csX8" fmla="*/ 3155035 w 3697307"/>
                      <a:gd name="csY8" fmla="*/ 846841 h 846841"/>
                      <a:gd name="csX9" fmla="*/ 2464871 w 3697307"/>
                      <a:gd name="csY9" fmla="*/ 846841 h 846841"/>
                      <a:gd name="csX10" fmla="*/ 1848654 w 3697307"/>
                      <a:gd name="csY10" fmla="*/ 846841 h 846841"/>
                      <a:gd name="csX11" fmla="*/ 1195463 w 3697307"/>
                      <a:gd name="csY11" fmla="*/ 846841 h 846841"/>
                      <a:gd name="csX12" fmla="*/ 542272 w 3697307"/>
                      <a:gd name="csY12" fmla="*/ 846841 h 846841"/>
                      <a:gd name="csX13" fmla="*/ 0 w 3697307"/>
                      <a:gd name="csY13" fmla="*/ 846841 h 846841"/>
                      <a:gd name="csX14" fmla="*/ 0 w 3697307"/>
                      <a:gd name="csY14" fmla="*/ 431889 h 846841"/>
                      <a:gd name="csX15" fmla="*/ 0 w 3697307"/>
                      <a:gd name="csY15" fmla="*/ 0 h 8468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697307" h="846841" fill="none" extrusionOk="0">
                        <a:moveTo>
                          <a:pt x="0" y="0"/>
                        </a:moveTo>
                        <a:cubicBezTo>
                          <a:pt x="275751" y="-21066"/>
                          <a:pt x="471060" y="-29759"/>
                          <a:pt x="653191" y="0"/>
                        </a:cubicBezTo>
                        <a:cubicBezTo>
                          <a:pt x="835322" y="29759"/>
                          <a:pt x="1090155" y="28821"/>
                          <a:pt x="1306382" y="0"/>
                        </a:cubicBezTo>
                        <a:cubicBezTo>
                          <a:pt x="1522609" y="-28821"/>
                          <a:pt x="1611381" y="-10971"/>
                          <a:pt x="1848654" y="0"/>
                        </a:cubicBezTo>
                        <a:cubicBezTo>
                          <a:pt x="2085927" y="10971"/>
                          <a:pt x="2279782" y="-16142"/>
                          <a:pt x="2538817" y="0"/>
                        </a:cubicBezTo>
                        <a:cubicBezTo>
                          <a:pt x="2797852" y="16142"/>
                          <a:pt x="3452477" y="14157"/>
                          <a:pt x="3697307" y="0"/>
                        </a:cubicBezTo>
                        <a:cubicBezTo>
                          <a:pt x="3696745" y="126486"/>
                          <a:pt x="3679589" y="259218"/>
                          <a:pt x="3697307" y="440357"/>
                        </a:cubicBezTo>
                        <a:cubicBezTo>
                          <a:pt x="3715025" y="621496"/>
                          <a:pt x="3688884" y="650414"/>
                          <a:pt x="3697307" y="846841"/>
                        </a:cubicBezTo>
                        <a:cubicBezTo>
                          <a:pt x="3502815" y="832534"/>
                          <a:pt x="3355419" y="853624"/>
                          <a:pt x="3155035" y="846841"/>
                        </a:cubicBezTo>
                        <a:cubicBezTo>
                          <a:pt x="2954651" y="840058"/>
                          <a:pt x="2807853" y="846673"/>
                          <a:pt x="2464871" y="846841"/>
                        </a:cubicBezTo>
                        <a:cubicBezTo>
                          <a:pt x="2121889" y="847009"/>
                          <a:pt x="2094228" y="823493"/>
                          <a:pt x="1848654" y="846841"/>
                        </a:cubicBezTo>
                        <a:cubicBezTo>
                          <a:pt x="1603080" y="870189"/>
                          <a:pt x="1464835" y="841720"/>
                          <a:pt x="1195463" y="846841"/>
                        </a:cubicBezTo>
                        <a:cubicBezTo>
                          <a:pt x="926091" y="851962"/>
                          <a:pt x="685170" y="826588"/>
                          <a:pt x="542272" y="846841"/>
                        </a:cubicBezTo>
                        <a:cubicBezTo>
                          <a:pt x="399374" y="867094"/>
                          <a:pt x="205726" y="851087"/>
                          <a:pt x="0" y="846841"/>
                        </a:cubicBezTo>
                        <a:cubicBezTo>
                          <a:pt x="-6472" y="662970"/>
                          <a:pt x="-8934" y="555466"/>
                          <a:pt x="0" y="431889"/>
                        </a:cubicBezTo>
                        <a:cubicBezTo>
                          <a:pt x="8934" y="308312"/>
                          <a:pt x="-2287" y="167275"/>
                          <a:pt x="0" y="0"/>
                        </a:cubicBezTo>
                        <a:close/>
                      </a:path>
                      <a:path w="3697307" h="846841" stroke="0" extrusionOk="0">
                        <a:moveTo>
                          <a:pt x="0" y="0"/>
                        </a:moveTo>
                        <a:cubicBezTo>
                          <a:pt x="129361" y="17233"/>
                          <a:pt x="353942" y="8954"/>
                          <a:pt x="505299" y="0"/>
                        </a:cubicBezTo>
                        <a:cubicBezTo>
                          <a:pt x="656656" y="-8954"/>
                          <a:pt x="767699" y="15966"/>
                          <a:pt x="1010597" y="0"/>
                        </a:cubicBezTo>
                        <a:cubicBezTo>
                          <a:pt x="1253495" y="-15966"/>
                          <a:pt x="1404226" y="24607"/>
                          <a:pt x="1552869" y="0"/>
                        </a:cubicBezTo>
                        <a:cubicBezTo>
                          <a:pt x="1701512" y="-24607"/>
                          <a:pt x="1807092" y="-20136"/>
                          <a:pt x="2058168" y="0"/>
                        </a:cubicBezTo>
                        <a:cubicBezTo>
                          <a:pt x="2309244" y="20136"/>
                          <a:pt x="2349337" y="-13709"/>
                          <a:pt x="2563466" y="0"/>
                        </a:cubicBezTo>
                        <a:cubicBezTo>
                          <a:pt x="2777595" y="13709"/>
                          <a:pt x="3268986" y="-29002"/>
                          <a:pt x="3697307" y="0"/>
                        </a:cubicBezTo>
                        <a:cubicBezTo>
                          <a:pt x="3703777" y="130348"/>
                          <a:pt x="3711702" y="262655"/>
                          <a:pt x="3697307" y="398015"/>
                        </a:cubicBezTo>
                        <a:cubicBezTo>
                          <a:pt x="3682912" y="533375"/>
                          <a:pt x="3686535" y="652382"/>
                          <a:pt x="3697307" y="846841"/>
                        </a:cubicBezTo>
                        <a:cubicBezTo>
                          <a:pt x="3464832" y="859581"/>
                          <a:pt x="3315417" y="843503"/>
                          <a:pt x="3192008" y="846841"/>
                        </a:cubicBezTo>
                        <a:cubicBezTo>
                          <a:pt x="3068599" y="850179"/>
                          <a:pt x="2861095" y="872798"/>
                          <a:pt x="2649737" y="846841"/>
                        </a:cubicBezTo>
                        <a:cubicBezTo>
                          <a:pt x="2438379" y="820884"/>
                          <a:pt x="2360345" y="834090"/>
                          <a:pt x="2107465" y="846841"/>
                        </a:cubicBezTo>
                        <a:cubicBezTo>
                          <a:pt x="1854585" y="859592"/>
                          <a:pt x="1693949" y="845190"/>
                          <a:pt x="1454274" y="846841"/>
                        </a:cubicBezTo>
                        <a:cubicBezTo>
                          <a:pt x="1214599" y="848492"/>
                          <a:pt x="1041137" y="844883"/>
                          <a:pt x="912002" y="846841"/>
                        </a:cubicBezTo>
                        <a:cubicBezTo>
                          <a:pt x="782867" y="848799"/>
                          <a:pt x="223452" y="806919"/>
                          <a:pt x="0" y="846841"/>
                        </a:cubicBezTo>
                        <a:cubicBezTo>
                          <a:pt x="9790" y="712909"/>
                          <a:pt x="21686" y="541178"/>
                          <a:pt x="0" y="406484"/>
                        </a:cubicBezTo>
                        <a:cubicBezTo>
                          <a:pt x="-21686" y="271790"/>
                          <a:pt x="11623" y="165684"/>
                          <a:pt x="0" y="0"/>
                        </a:cubicBezTo>
                        <a:close/>
                      </a:path>
                    </a:pathLst>
                  </a:custGeom>
                  <ask:type>
                    <ask:lineSketchNone/>
                  </ask:type>
                </ask:lineSketchStyleProps>
              </a:ext>
            </a:extLst>
          </a:ln>
        </p:spPr>
        <p:txBody>
          <a:bodyPr/>
          <a:lstStyle/>
          <a:p>
            <a:pPr defTabSz="1219170"/>
            <a:endParaRPr lang="en-US" sz="2400">
              <a:solidFill>
                <a:schemeClr val="tx2">
                  <a:lumMod val="90000"/>
                  <a:lumOff val="10000"/>
                </a:schemeClr>
              </a:solidFill>
              <a:latin typeface="Calibri" panose="020F0502020204030204"/>
            </a:endParaRPr>
          </a:p>
        </p:txBody>
      </p:sp>
      <p:sp>
        <p:nvSpPr>
          <p:cNvPr id="19" name="Text 16"/>
          <p:cNvSpPr/>
          <p:nvPr/>
        </p:nvSpPr>
        <p:spPr>
          <a:xfrm>
            <a:off x="7713347" y="4509334"/>
            <a:ext cx="1676112" cy="495712"/>
          </a:xfrm>
          <a:prstGeom prst="rect">
            <a:avLst/>
          </a:prstGeom>
          <a:noFill/>
          <a:ln/>
        </p:spPr>
        <p:txBody>
          <a:bodyPr wrap="square" lIns="0" tIns="0" rIns="0" bIns="0" rtlCol="0" anchor="ctr"/>
          <a:lstStyle/>
          <a:p>
            <a:pPr defTabSz="1219170"/>
            <a:r>
              <a:rPr lang="en-US" sz="2933" b="1" dirty="0">
                <a:solidFill>
                  <a:schemeClr val="tx2">
                    <a:lumMod val="90000"/>
                    <a:lumOff val="10000"/>
                  </a:schemeClr>
                </a:solidFill>
                <a:latin typeface="Calibri" pitchFamily="34" charset="0"/>
                <a:ea typeface="Calibri" pitchFamily="34" charset="-122"/>
                <a:cs typeface="Calibri" pitchFamily="34" charset="-120"/>
              </a:rPr>
              <a:t>1.4µs</a:t>
            </a:r>
            <a:endParaRPr lang="en-US" sz="2933" dirty="0">
              <a:solidFill>
                <a:schemeClr val="tx2">
                  <a:lumMod val="90000"/>
                  <a:lumOff val="10000"/>
                </a:schemeClr>
              </a:solidFill>
              <a:latin typeface="Calibri" panose="020F0502020204030204"/>
            </a:endParaRPr>
          </a:p>
        </p:txBody>
      </p:sp>
      <p:sp>
        <p:nvSpPr>
          <p:cNvPr id="20" name="Text 17"/>
          <p:cNvSpPr/>
          <p:nvPr/>
        </p:nvSpPr>
        <p:spPr>
          <a:xfrm>
            <a:off x="7713347" y="5046069"/>
            <a:ext cx="1676112" cy="227201"/>
          </a:xfrm>
          <a:prstGeom prst="rect">
            <a:avLst/>
          </a:prstGeom>
          <a:noFill/>
          <a:ln/>
        </p:spPr>
        <p:txBody>
          <a:bodyPr wrap="square" lIns="0" tIns="0" rIns="0" bIns="0" rtlCol="0" anchor="ctr"/>
          <a:lstStyle/>
          <a:p>
            <a:pPr defTabSz="1219170"/>
            <a:r>
              <a:rPr lang="en-US" dirty="0">
                <a:solidFill>
                  <a:schemeClr val="tx2">
                    <a:lumMod val="90000"/>
                    <a:lumOff val="10000"/>
                  </a:schemeClr>
                </a:solidFill>
                <a:latin typeface="Calibri" pitchFamily="34" charset="0"/>
                <a:ea typeface="Calibri" pitchFamily="34" charset="-122"/>
                <a:cs typeface="Calibri" pitchFamily="34" charset="-120"/>
              </a:rPr>
              <a:t>overhead</a:t>
            </a:r>
            <a:endParaRPr lang="en-US" sz="1200" dirty="0">
              <a:solidFill>
                <a:schemeClr val="tx2">
                  <a:lumMod val="90000"/>
                  <a:lumOff val="10000"/>
                </a:schemeClr>
              </a:solidFill>
              <a:latin typeface="Calibri" panose="020F0502020204030204"/>
            </a:endParaRPr>
          </a:p>
        </p:txBody>
      </p:sp>
      <p:sp>
        <p:nvSpPr>
          <p:cNvPr id="21" name="Text 18"/>
          <p:cNvSpPr/>
          <p:nvPr/>
        </p:nvSpPr>
        <p:spPr>
          <a:xfrm>
            <a:off x="8941166" y="4682031"/>
            <a:ext cx="1873302" cy="371784"/>
          </a:xfrm>
          <a:prstGeom prst="rect">
            <a:avLst/>
          </a:prstGeom>
          <a:noFill/>
          <a:ln/>
        </p:spPr>
        <p:txBody>
          <a:bodyPr wrap="square" lIns="0" tIns="0" rIns="0" bIns="0" rtlCol="0" anchor="ctr"/>
          <a:lstStyle/>
          <a:p>
            <a:pPr defTabSz="1219170"/>
            <a:r>
              <a:rPr lang="en-US" dirty="0">
                <a:solidFill>
                  <a:schemeClr val="tx2">
                    <a:lumMod val="90000"/>
                    <a:lumOff val="10000"/>
                  </a:schemeClr>
                </a:solidFill>
                <a:latin typeface="Calibri" pitchFamily="34" charset="0"/>
                <a:ea typeface="Calibri" pitchFamily="34" charset="-122"/>
                <a:cs typeface="Calibri" pitchFamily="34" charset="-120"/>
              </a:rPr>
              <a:t>per packet (300B)</a:t>
            </a:r>
            <a:endParaRPr lang="en-US" dirty="0">
              <a:solidFill>
                <a:schemeClr val="tx2">
                  <a:lumMod val="90000"/>
                  <a:lumOff val="10000"/>
                </a:schemeClr>
              </a:solidFill>
              <a:latin typeface="Calibri" panose="020F0502020204030204"/>
            </a:endParaRPr>
          </a:p>
        </p:txBody>
      </p:sp>
      <p:sp>
        <p:nvSpPr>
          <p:cNvPr id="22" name="Shape 19"/>
          <p:cNvSpPr/>
          <p:nvPr/>
        </p:nvSpPr>
        <p:spPr>
          <a:xfrm>
            <a:off x="7239080" y="5490041"/>
            <a:ext cx="3697307" cy="846841"/>
          </a:xfrm>
          <a:prstGeom prst="rect">
            <a:avLst/>
          </a:prstGeom>
          <a:solidFill>
            <a:schemeClr val="bg1">
              <a:lumMod val="95000"/>
            </a:schemeClr>
          </a:solidFill>
          <a:ln w="28575">
            <a:solidFill>
              <a:srgbClr val="1B4F72"/>
            </a:solidFill>
            <a:prstDash val="solid"/>
            <a:extLst>
              <a:ext uri="{C807C97D-BFC1-408E-A445-0C87EB9F89A2}">
                <ask:lineSketchStyleProps xmlns:ask="http://schemas.microsoft.com/office/drawing/2018/sketchyshapes" sd="477024798">
                  <a:custGeom>
                    <a:avLst/>
                    <a:gdLst>
                      <a:gd name="csX0" fmla="*/ 0 w 3697307"/>
                      <a:gd name="csY0" fmla="*/ 0 h 846841"/>
                      <a:gd name="csX1" fmla="*/ 542272 w 3697307"/>
                      <a:gd name="csY1" fmla="*/ 0 h 846841"/>
                      <a:gd name="csX2" fmla="*/ 1047570 w 3697307"/>
                      <a:gd name="csY2" fmla="*/ 0 h 846841"/>
                      <a:gd name="csX3" fmla="*/ 1700761 w 3697307"/>
                      <a:gd name="csY3" fmla="*/ 0 h 846841"/>
                      <a:gd name="csX4" fmla="*/ 2353952 w 3697307"/>
                      <a:gd name="csY4" fmla="*/ 0 h 846841"/>
                      <a:gd name="csX5" fmla="*/ 3044116 w 3697307"/>
                      <a:gd name="csY5" fmla="*/ 0 h 846841"/>
                      <a:gd name="csX6" fmla="*/ 3697307 w 3697307"/>
                      <a:gd name="csY6" fmla="*/ 0 h 846841"/>
                      <a:gd name="csX7" fmla="*/ 3697307 w 3697307"/>
                      <a:gd name="csY7" fmla="*/ 398015 h 846841"/>
                      <a:gd name="csX8" fmla="*/ 3697307 w 3697307"/>
                      <a:gd name="csY8" fmla="*/ 846841 h 846841"/>
                      <a:gd name="csX9" fmla="*/ 3118062 w 3697307"/>
                      <a:gd name="csY9" fmla="*/ 846841 h 846841"/>
                      <a:gd name="csX10" fmla="*/ 2464871 w 3697307"/>
                      <a:gd name="csY10" fmla="*/ 846841 h 846841"/>
                      <a:gd name="csX11" fmla="*/ 1811680 w 3697307"/>
                      <a:gd name="csY11" fmla="*/ 846841 h 846841"/>
                      <a:gd name="csX12" fmla="*/ 1232436 w 3697307"/>
                      <a:gd name="csY12" fmla="*/ 846841 h 846841"/>
                      <a:gd name="csX13" fmla="*/ 616218 w 3697307"/>
                      <a:gd name="csY13" fmla="*/ 846841 h 846841"/>
                      <a:gd name="csX14" fmla="*/ 0 w 3697307"/>
                      <a:gd name="csY14" fmla="*/ 846841 h 846841"/>
                      <a:gd name="csX15" fmla="*/ 0 w 3697307"/>
                      <a:gd name="csY15" fmla="*/ 440357 h 846841"/>
                      <a:gd name="csX16" fmla="*/ 0 w 3697307"/>
                      <a:gd name="csY16" fmla="*/ 0 h 8468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697307" h="846841" fill="none" extrusionOk="0">
                        <a:moveTo>
                          <a:pt x="0" y="0"/>
                        </a:moveTo>
                        <a:cubicBezTo>
                          <a:pt x="161837" y="22136"/>
                          <a:pt x="379257" y="22755"/>
                          <a:pt x="542272" y="0"/>
                        </a:cubicBezTo>
                        <a:cubicBezTo>
                          <a:pt x="705287" y="-22755"/>
                          <a:pt x="844864" y="-1979"/>
                          <a:pt x="1047570" y="0"/>
                        </a:cubicBezTo>
                        <a:cubicBezTo>
                          <a:pt x="1250276" y="1979"/>
                          <a:pt x="1527584" y="21552"/>
                          <a:pt x="1700761" y="0"/>
                        </a:cubicBezTo>
                        <a:cubicBezTo>
                          <a:pt x="1873938" y="-21552"/>
                          <a:pt x="2148929" y="-19623"/>
                          <a:pt x="2353952" y="0"/>
                        </a:cubicBezTo>
                        <a:cubicBezTo>
                          <a:pt x="2558975" y="19623"/>
                          <a:pt x="2844571" y="-31619"/>
                          <a:pt x="3044116" y="0"/>
                        </a:cubicBezTo>
                        <a:cubicBezTo>
                          <a:pt x="3243661" y="31619"/>
                          <a:pt x="3454941" y="6049"/>
                          <a:pt x="3697307" y="0"/>
                        </a:cubicBezTo>
                        <a:cubicBezTo>
                          <a:pt x="3678046" y="171579"/>
                          <a:pt x="3701512" y="258046"/>
                          <a:pt x="3697307" y="398015"/>
                        </a:cubicBezTo>
                        <a:cubicBezTo>
                          <a:pt x="3693102" y="537985"/>
                          <a:pt x="3702410" y="746922"/>
                          <a:pt x="3697307" y="846841"/>
                        </a:cubicBezTo>
                        <a:cubicBezTo>
                          <a:pt x="3561209" y="845838"/>
                          <a:pt x="3262742" y="826417"/>
                          <a:pt x="3118062" y="846841"/>
                        </a:cubicBezTo>
                        <a:cubicBezTo>
                          <a:pt x="2973382" y="867265"/>
                          <a:pt x="2646186" y="870627"/>
                          <a:pt x="2464871" y="846841"/>
                        </a:cubicBezTo>
                        <a:cubicBezTo>
                          <a:pt x="2283556" y="823055"/>
                          <a:pt x="2003879" y="856883"/>
                          <a:pt x="1811680" y="846841"/>
                        </a:cubicBezTo>
                        <a:cubicBezTo>
                          <a:pt x="1619481" y="836799"/>
                          <a:pt x="1462394" y="870789"/>
                          <a:pt x="1232436" y="846841"/>
                        </a:cubicBezTo>
                        <a:cubicBezTo>
                          <a:pt x="1002478" y="822893"/>
                          <a:pt x="801163" y="824332"/>
                          <a:pt x="616218" y="846841"/>
                        </a:cubicBezTo>
                        <a:cubicBezTo>
                          <a:pt x="431273" y="869350"/>
                          <a:pt x="148480" y="856658"/>
                          <a:pt x="0" y="846841"/>
                        </a:cubicBezTo>
                        <a:cubicBezTo>
                          <a:pt x="3256" y="683163"/>
                          <a:pt x="-6915" y="555215"/>
                          <a:pt x="0" y="440357"/>
                        </a:cubicBezTo>
                        <a:cubicBezTo>
                          <a:pt x="6915" y="325499"/>
                          <a:pt x="-19178" y="170692"/>
                          <a:pt x="0" y="0"/>
                        </a:cubicBezTo>
                        <a:close/>
                      </a:path>
                      <a:path w="3697307" h="846841" stroke="0" extrusionOk="0">
                        <a:moveTo>
                          <a:pt x="0" y="0"/>
                        </a:moveTo>
                        <a:cubicBezTo>
                          <a:pt x="304648" y="-12158"/>
                          <a:pt x="491469" y="-2054"/>
                          <a:pt x="616218" y="0"/>
                        </a:cubicBezTo>
                        <a:cubicBezTo>
                          <a:pt x="740967" y="2054"/>
                          <a:pt x="986003" y="-21345"/>
                          <a:pt x="1158490" y="0"/>
                        </a:cubicBezTo>
                        <a:cubicBezTo>
                          <a:pt x="1330977" y="21345"/>
                          <a:pt x="1608906" y="-22476"/>
                          <a:pt x="1774707" y="0"/>
                        </a:cubicBezTo>
                        <a:cubicBezTo>
                          <a:pt x="1940508" y="22476"/>
                          <a:pt x="2232553" y="9544"/>
                          <a:pt x="2353952" y="0"/>
                        </a:cubicBezTo>
                        <a:cubicBezTo>
                          <a:pt x="2475352" y="-9544"/>
                          <a:pt x="2765768" y="-4962"/>
                          <a:pt x="3044116" y="0"/>
                        </a:cubicBezTo>
                        <a:cubicBezTo>
                          <a:pt x="3322464" y="4962"/>
                          <a:pt x="3406053" y="-8304"/>
                          <a:pt x="3697307" y="0"/>
                        </a:cubicBezTo>
                        <a:cubicBezTo>
                          <a:pt x="3690150" y="135661"/>
                          <a:pt x="3697137" y="258768"/>
                          <a:pt x="3697307" y="406484"/>
                        </a:cubicBezTo>
                        <a:cubicBezTo>
                          <a:pt x="3697477" y="554200"/>
                          <a:pt x="3700597" y="628143"/>
                          <a:pt x="3697307" y="846841"/>
                        </a:cubicBezTo>
                        <a:cubicBezTo>
                          <a:pt x="3538386" y="819102"/>
                          <a:pt x="3289040" y="835946"/>
                          <a:pt x="3118062" y="846841"/>
                        </a:cubicBezTo>
                        <a:cubicBezTo>
                          <a:pt x="2947085" y="857736"/>
                          <a:pt x="2799709" y="837096"/>
                          <a:pt x="2538817" y="846841"/>
                        </a:cubicBezTo>
                        <a:cubicBezTo>
                          <a:pt x="2277926" y="856586"/>
                          <a:pt x="2227649" y="825418"/>
                          <a:pt x="1959573" y="846841"/>
                        </a:cubicBezTo>
                        <a:cubicBezTo>
                          <a:pt x="1691497" y="868264"/>
                          <a:pt x="1545447" y="846452"/>
                          <a:pt x="1269409" y="846841"/>
                        </a:cubicBezTo>
                        <a:cubicBezTo>
                          <a:pt x="993371" y="847230"/>
                          <a:pt x="972596" y="821728"/>
                          <a:pt x="690164" y="846841"/>
                        </a:cubicBezTo>
                        <a:cubicBezTo>
                          <a:pt x="407733" y="871954"/>
                          <a:pt x="233978" y="870386"/>
                          <a:pt x="0" y="846841"/>
                        </a:cubicBezTo>
                        <a:cubicBezTo>
                          <a:pt x="-11539" y="724286"/>
                          <a:pt x="-7681" y="616098"/>
                          <a:pt x="0" y="448826"/>
                        </a:cubicBezTo>
                        <a:cubicBezTo>
                          <a:pt x="7681" y="281555"/>
                          <a:pt x="-15963" y="159780"/>
                          <a:pt x="0" y="0"/>
                        </a:cubicBezTo>
                        <a:close/>
                      </a:path>
                    </a:pathLst>
                  </a:custGeom>
                  <ask:type>
                    <ask:lineSketchNone/>
                  </ask:type>
                </ask:lineSketchStyleProps>
              </a:ext>
            </a:extLst>
          </a:ln>
        </p:spPr>
        <p:txBody>
          <a:bodyPr/>
          <a:lstStyle/>
          <a:p>
            <a:pPr defTabSz="1219170"/>
            <a:endParaRPr lang="en-US" sz="2400">
              <a:solidFill>
                <a:schemeClr val="tx2">
                  <a:lumMod val="90000"/>
                  <a:lumOff val="10000"/>
                </a:schemeClr>
              </a:solidFill>
              <a:latin typeface="Calibri" panose="020F0502020204030204"/>
            </a:endParaRPr>
          </a:p>
        </p:txBody>
      </p:sp>
      <p:sp>
        <p:nvSpPr>
          <p:cNvPr id="23" name="Text 20"/>
          <p:cNvSpPr/>
          <p:nvPr/>
        </p:nvSpPr>
        <p:spPr>
          <a:xfrm>
            <a:off x="7713347" y="5499794"/>
            <a:ext cx="1676112" cy="495712"/>
          </a:xfrm>
          <a:prstGeom prst="rect">
            <a:avLst/>
          </a:prstGeom>
          <a:noFill/>
          <a:ln/>
        </p:spPr>
        <p:txBody>
          <a:bodyPr wrap="square" lIns="0" tIns="0" rIns="0" bIns="0" rtlCol="0" anchor="ctr"/>
          <a:lstStyle/>
          <a:p>
            <a:pPr defTabSz="1219170"/>
            <a:r>
              <a:rPr lang="en-US" sz="2933" b="1" dirty="0">
                <a:solidFill>
                  <a:schemeClr val="tx2">
                    <a:lumMod val="90000"/>
                    <a:lumOff val="10000"/>
                  </a:schemeClr>
                </a:solidFill>
                <a:latin typeface="Calibri" pitchFamily="34" charset="0"/>
                <a:ea typeface="Calibri" pitchFamily="34" charset="-122"/>
                <a:cs typeface="Calibri" pitchFamily="34" charset="-120"/>
              </a:rPr>
              <a:t>Linear</a:t>
            </a:r>
            <a:endParaRPr lang="en-US" sz="2933" dirty="0">
              <a:solidFill>
                <a:schemeClr val="tx2">
                  <a:lumMod val="90000"/>
                  <a:lumOff val="10000"/>
                </a:schemeClr>
              </a:solidFill>
              <a:latin typeface="Calibri" panose="020F0502020204030204"/>
            </a:endParaRPr>
          </a:p>
        </p:txBody>
      </p:sp>
      <p:sp>
        <p:nvSpPr>
          <p:cNvPr id="24" name="Text 21"/>
          <p:cNvSpPr/>
          <p:nvPr/>
        </p:nvSpPr>
        <p:spPr>
          <a:xfrm>
            <a:off x="7713347" y="6036529"/>
            <a:ext cx="1676112" cy="227201"/>
          </a:xfrm>
          <a:prstGeom prst="rect">
            <a:avLst/>
          </a:prstGeom>
          <a:noFill/>
          <a:ln/>
        </p:spPr>
        <p:txBody>
          <a:bodyPr wrap="square" lIns="0" tIns="0" rIns="0" bIns="0" rtlCol="0" anchor="ctr"/>
          <a:lstStyle/>
          <a:p>
            <a:pPr defTabSz="1219170"/>
            <a:r>
              <a:rPr lang="en-US" dirty="0">
                <a:solidFill>
                  <a:schemeClr val="tx2">
                    <a:lumMod val="90000"/>
                    <a:lumOff val="10000"/>
                  </a:schemeClr>
                </a:solidFill>
                <a:latin typeface="Calibri" pitchFamily="34" charset="0"/>
                <a:ea typeface="Calibri" pitchFamily="34" charset="-122"/>
                <a:cs typeface="Calibri" pitchFamily="34" charset="-120"/>
              </a:rPr>
              <a:t>scaling</a:t>
            </a:r>
            <a:endParaRPr lang="en-US" dirty="0">
              <a:solidFill>
                <a:schemeClr val="tx2">
                  <a:lumMod val="90000"/>
                  <a:lumOff val="10000"/>
                </a:schemeClr>
              </a:solidFill>
              <a:latin typeface="Calibri" panose="020F0502020204030204"/>
            </a:endParaRPr>
          </a:p>
        </p:txBody>
      </p:sp>
      <p:sp>
        <p:nvSpPr>
          <p:cNvPr id="25" name="Text 22"/>
          <p:cNvSpPr/>
          <p:nvPr/>
        </p:nvSpPr>
        <p:spPr>
          <a:xfrm>
            <a:off x="8941166" y="5672491"/>
            <a:ext cx="1873302" cy="371784"/>
          </a:xfrm>
          <a:prstGeom prst="rect">
            <a:avLst/>
          </a:prstGeom>
          <a:noFill/>
          <a:ln/>
        </p:spPr>
        <p:txBody>
          <a:bodyPr wrap="square" lIns="0" tIns="0" rIns="0" bIns="0" rtlCol="0" anchor="ctr"/>
          <a:lstStyle/>
          <a:p>
            <a:pPr defTabSz="1219170"/>
            <a:r>
              <a:rPr lang="en-US" dirty="0">
                <a:solidFill>
                  <a:schemeClr val="tx2">
                    <a:lumMod val="90000"/>
                    <a:lumOff val="10000"/>
                  </a:schemeClr>
                </a:solidFill>
                <a:latin typeface="Calibri" pitchFamily="34" charset="0"/>
                <a:ea typeface="Calibri" pitchFamily="34" charset="-122"/>
                <a:cs typeface="Calibri" pitchFamily="34" charset="-120"/>
              </a:rPr>
              <a:t>throughput ∝ cores</a:t>
            </a:r>
            <a:endParaRPr lang="en-US" dirty="0">
              <a:solidFill>
                <a:schemeClr val="tx2">
                  <a:lumMod val="90000"/>
                  <a:lumOff val="10000"/>
                </a:schemeClr>
              </a:solidFill>
              <a:latin typeface="Calibri" panose="020F0502020204030204"/>
            </a:endParaRPr>
          </a:p>
        </p:txBody>
      </p:sp>
      <p:sp>
        <p:nvSpPr>
          <p:cNvPr id="26" name="Text 23"/>
          <p:cNvSpPr/>
          <p:nvPr/>
        </p:nvSpPr>
        <p:spPr>
          <a:xfrm>
            <a:off x="449651" y="5961888"/>
            <a:ext cx="5693887" cy="402336"/>
          </a:xfrm>
          <a:prstGeom prst="rect">
            <a:avLst/>
          </a:prstGeom>
          <a:noFill/>
          <a:ln/>
        </p:spPr>
        <p:txBody>
          <a:bodyPr wrap="square" lIns="0" tIns="0" rIns="0" bIns="0" rtlCol="0" anchor="ctr"/>
          <a:lstStyle/>
          <a:p>
            <a:pPr algn="ctr" defTabSz="1219170"/>
            <a:r>
              <a:rPr lang="en-US" sz="1533" i="1" dirty="0">
                <a:solidFill>
                  <a:srgbClr val="0EA5E9"/>
                </a:solidFill>
                <a:latin typeface="Calibri" pitchFamily="34" charset="0"/>
                <a:ea typeface="Calibri" pitchFamily="34" charset="-122"/>
                <a:cs typeface="Calibri" pitchFamily="34" charset="-120"/>
              </a:rPr>
              <a:t>Proof generation (hashing + timestamping + HMAC-SHA2</a:t>
            </a:r>
            <a:endParaRPr lang="en-US" sz="1533" dirty="0">
              <a:solidFill>
                <a:prstClr val="black"/>
              </a:solidFill>
              <a:latin typeface="Calibri" panose="020F0502020204030204"/>
            </a:endParaRPr>
          </a:p>
        </p:txBody>
      </p:sp>
      <p:graphicFrame>
        <p:nvGraphicFramePr>
          <p:cNvPr id="27" name="Chart 0"/>
          <p:cNvGraphicFramePr/>
          <p:nvPr>
            <p:extLst>
              <p:ext uri="{D42A27DB-BD31-4B8C-83A1-F6EECF244321}">
                <p14:modId xmlns:p14="http://schemas.microsoft.com/office/powerpoint/2010/main" val="1939084379"/>
              </p:ext>
            </p:extLst>
          </p:nvPr>
        </p:nvGraphicFramePr>
        <p:xfrm>
          <a:off x="365760" y="1813560"/>
          <a:ext cx="6223233" cy="39319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2D5B1-CFC4-5697-F00C-13935B7ECC24}"/>
              </a:ext>
            </a:extLst>
          </p:cNvPr>
          <p:cNvSpPr>
            <a:spLocks noGrp="1"/>
          </p:cNvSpPr>
          <p:nvPr>
            <p:ph type="title"/>
          </p:nvPr>
        </p:nvSpPr>
        <p:spPr/>
        <p:txBody>
          <a:bodyPr>
            <a:normAutofit/>
          </a:bodyPr>
          <a:lstStyle/>
          <a:p>
            <a:r>
              <a:rPr lang="en-US" sz="3600" b="1" dirty="0">
                <a:latin typeface="Calibri"/>
                <a:ea typeface="Calibri"/>
                <a:cs typeface="Calibri"/>
              </a:rPr>
              <a:t>Evaluation: Smart Contract</a:t>
            </a:r>
          </a:p>
        </p:txBody>
      </p:sp>
      <p:sp>
        <p:nvSpPr>
          <p:cNvPr id="3" name="Content Placeholder 2">
            <a:extLst>
              <a:ext uri="{FF2B5EF4-FFF2-40B4-BE49-F238E27FC236}">
                <a16:creationId xmlns:a16="http://schemas.microsoft.com/office/drawing/2014/main" id="{9D697F90-E9EA-6006-5778-99FCCD29EF28}"/>
              </a:ext>
            </a:extLst>
          </p:cNvPr>
          <p:cNvSpPr>
            <a:spLocks noGrp="1"/>
          </p:cNvSpPr>
          <p:nvPr>
            <p:ph idx="1"/>
          </p:nvPr>
        </p:nvSpPr>
        <p:spPr/>
        <p:txBody>
          <a:bodyPr>
            <a:normAutofit/>
          </a:bodyPr>
          <a:lstStyle/>
          <a:p>
            <a:r>
              <a:rPr lang="en-US" sz="2200" dirty="0"/>
              <a:t>Implemented in Sui Move.*</a:t>
            </a:r>
          </a:p>
          <a:p>
            <a:r>
              <a:rPr lang="en-US" sz="2200" dirty="0"/>
              <a:t>Deployed on Sui </a:t>
            </a:r>
            <a:r>
              <a:rPr lang="en-US" sz="2200" dirty="0" err="1"/>
              <a:t>testnet</a:t>
            </a:r>
            <a:r>
              <a:rPr lang="en-US" sz="2200" dirty="0"/>
              <a:t>.</a:t>
            </a:r>
          </a:p>
          <a:p>
            <a:r>
              <a:rPr lang="en-US" sz="2200" dirty="0"/>
              <a:t>Each contract call costs less than 0.007 SUI (&lt;$0.03).</a:t>
            </a:r>
          </a:p>
        </p:txBody>
      </p:sp>
      <p:sp>
        <p:nvSpPr>
          <p:cNvPr id="5" name="TextBox 4">
            <a:extLst>
              <a:ext uri="{FF2B5EF4-FFF2-40B4-BE49-F238E27FC236}">
                <a16:creationId xmlns:a16="http://schemas.microsoft.com/office/drawing/2014/main" id="{AACC4C33-68ED-751A-F734-75B3B05CE834}"/>
              </a:ext>
            </a:extLst>
          </p:cNvPr>
          <p:cNvSpPr txBox="1"/>
          <p:nvPr/>
        </p:nvSpPr>
        <p:spPr>
          <a:xfrm>
            <a:off x="747170" y="5384163"/>
            <a:ext cx="6097022" cy="369332"/>
          </a:xfrm>
          <a:prstGeom prst="rect">
            <a:avLst/>
          </a:prstGeom>
          <a:noFill/>
        </p:spPr>
        <p:txBody>
          <a:bodyPr wrap="square">
            <a:spAutoFit/>
          </a:bodyPr>
          <a:lstStyle/>
          <a:p>
            <a:pPr defTabSz="1219170"/>
            <a:r>
              <a:rPr lang="en-US" sz="1800" dirty="0">
                <a:solidFill>
                  <a:schemeClr val="accent1">
                    <a:lumMod val="75000"/>
                  </a:schemeClr>
                </a:solidFill>
                <a:latin typeface="Calibri" pitchFamily="34" charset="0"/>
                <a:ea typeface="Calibri" pitchFamily="34" charset="-122"/>
                <a:cs typeface="Calibri" pitchFamily="34" charset="-120"/>
              </a:rPr>
              <a:t>* Open source: github.com/</a:t>
            </a:r>
            <a:r>
              <a:rPr lang="en-US" sz="1800" dirty="0" err="1">
                <a:solidFill>
                  <a:schemeClr val="accent1">
                    <a:lumMod val="75000"/>
                  </a:schemeClr>
                </a:solidFill>
                <a:latin typeface="Calibri" pitchFamily="34" charset="0"/>
                <a:ea typeface="Calibri" pitchFamily="34" charset="-122"/>
                <a:cs typeface="Calibri" pitchFamily="34" charset="-120"/>
              </a:rPr>
              <a:t>asonnino</a:t>
            </a:r>
            <a:r>
              <a:rPr lang="en-US" sz="1800" dirty="0">
                <a:solidFill>
                  <a:schemeClr val="accent1">
                    <a:lumMod val="75000"/>
                  </a:schemeClr>
                </a:solidFill>
                <a:latin typeface="Calibri" pitchFamily="34" charset="0"/>
                <a:ea typeface="Calibri" pitchFamily="34" charset="-122"/>
                <a:cs typeface="Calibri" pitchFamily="34" charset="-120"/>
              </a:rPr>
              <a:t>/signet-contract</a:t>
            </a:r>
            <a:endParaRPr lang="en-US" sz="1800" dirty="0">
              <a:solidFill>
                <a:schemeClr val="accent1">
                  <a:lumMod val="75000"/>
                </a:schemeClr>
              </a:solidFill>
              <a:latin typeface="Calibri" panose="020F0502020204030204"/>
            </a:endParaRPr>
          </a:p>
        </p:txBody>
      </p:sp>
    </p:spTree>
    <p:extLst>
      <p:ext uri="{BB962C8B-B14F-4D97-AF65-F5344CB8AC3E}">
        <p14:creationId xmlns:p14="http://schemas.microsoft.com/office/powerpoint/2010/main" val="2401352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D10D1-A9E0-E353-C29A-6C624872AEE3}"/>
              </a:ext>
            </a:extLst>
          </p:cNvPr>
          <p:cNvSpPr>
            <a:spLocks noGrp="1"/>
          </p:cNvSpPr>
          <p:nvPr>
            <p:ph type="title"/>
          </p:nvPr>
        </p:nvSpPr>
        <p:spPr/>
        <p:txBody>
          <a:bodyPr>
            <a:normAutofit/>
          </a:bodyPr>
          <a:lstStyle/>
          <a:p>
            <a:r>
              <a:rPr lang="en-US" sz="3600" b="1" dirty="0">
                <a:latin typeface="Calibri"/>
                <a:ea typeface="Calibri"/>
                <a:cs typeface="Calibri"/>
              </a:rPr>
              <a:t>Conclusion</a:t>
            </a:r>
          </a:p>
        </p:txBody>
      </p:sp>
      <p:sp>
        <p:nvSpPr>
          <p:cNvPr id="3" name="Content Placeholder 2">
            <a:extLst>
              <a:ext uri="{FF2B5EF4-FFF2-40B4-BE49-F238E27FC236}">
                <a16:creationId xmlns:a16="http://schemas.microsoft.com/office/drawing/2014/main" id="{B2CE77A1-A365-FA9A-2E2A-E3BF3DEF2BC4}"/>
              </a:ext>
            </a:extLst>
          </p:cNvPr>
          <p:cNvSpPr>
            <a:spLocks noGrp="1"/>
          </p:cNvSpPr>
          <p:nvPr>
            <p:ph idx="1"/>
          </p:nvPr>
        </p:nvSpPr>
        <p:spPr/>
        <p:txBody>
          <a:bodyPr>
            <a:normAutofit/>
          </a:bodyPr>
          <a:lstStyle/>
          <a:p>
            <a:r>
              <a:rPr lang="en-US" sz="2200" dirty="0">
                <a:latin typeface="Calibri" panose="020F0502020204030204" pitchFamily="34" charset="0"/>
                <a:ea typeface="Calibri" panose="020F0502020204030204" pitchFamily="34" charset="0"/>
                <a:cs typeface="Calibri" panose="020F0502020204030204" pitchFamily="34" charset="0"/>
              </a:rPr>
              <a:t>Signet, a novel protocol for verifiable proof of notification.</a:t>
            </a:r>
          </a:p>
          <a:p>
            <a:r>
              <a:rPr lang="en-US" sz="2200" dirty="0">
                <a:latin typeface="Calibri" panose="020F0502020204030204" pitchFamily="34" charset="0"/>
                <a:ea typeface="Calibri" panose="020F0502020204030204" pitchFamily="34" charset="0"/>
                <a:cs typeface="Calibri" panose="020F0502020204030204" pitchFamily="34" charset="0"/>
              </a:rPr>
              <a:t>Mutually trusted Transit ASes as impartial witnesses.</a:t>
            </a:r>
          </a:p>
          <a:p>
            <a:r>
              <a:rPr lang="LID4096" altLang="LID4096" sz="2200" dirty="0">
                <a:latin typeface="Calibri" panose="020F0502020204030204" pitchFamily="34" charset="0"/>
                <a:ea typeface="Calibri" panose="020F0502020204030204" pitchFamily="34" charset="0"/>
                <a:cs typeface="Calibri" panose="020F0502020204030204" pitchFamily="34" charset="0"/>
              </a:rPr>
              <a:t>Integrating TESLA with AS witnessing enables</a:t>
            </a:r>
            <a:r>
              <a:rPr lang="en-US" altLang="LID4096" sz="2200" dirty="0">
                <a:latin typeface="Calibri" panose="020F0502020204030204" pitchFamily="34" charset="0"/>
                <a:ea typeface="Calibri" panose="020F0502020204030204" pitchFamily="34" charset="0"/>
                <a:cs typeface="Calibri" panose="020F0502020204030204" pitchFamily="34" charset="0"/>
              </a:rPr>
              <a:t>:</a:t>
            </a:r>
          </a:p>
          <a:p>
            <a:pPr lvl="1">
              <a:buFont typeface="Wingdings" panose="05000000000000000000" pitchFamily="2" charset="2"/>
              <a:buChar char="ü"/>
            </a:pPr>
            <a:r>
              <a:rPr lang="LID4096" altLang="LID4096" sz="2000" dirty="0">
                <a:latin typeface="Calibri" panose="020F0502020204030204" pitchFamily="34" charset="0"/>
                <a:ea typeface="Calibri" panose="020F0502020204030204" pitchFamily="34" charset="0"/>
                <a:cs typeface="Calibri" panose="020F0502020204030204" pitchFamily="34" charset="0"/>
              </a:rPr>
              <a:t>Efficient proof generation by A</a:t>
            </a:r>
            <a:r>
              <a:rPr lang="en-US" altLang="LID4096" sz="2000" dirty="0">
                <a:latin typeface="Calibri" panose="020F0502020204030204" pitchFamily="34" charset="0"/>
                <a:ea typeface="Calibri" panose="020F0502020204030204" pitchFamily="34" charset="0"/>
                <a:cs typeface="Calibri" panose="020F0502020204030204" pitchFamily="34" charset="0"/>
              </a:rPr>
              <a:t>S</a:t>
            </a:r>
            <a:r>
              <a:rPr lang="LID4096" altLang="LID4096" sz="2000" dirty="0">
                <a:latin typeface="Calibri" panose="020F0502020204030204" pitchFamily="34" charset="0"/>
                <a:ea typeface="Calibri" panose="020F0502020204030204" pitchFamily="34" charset="0"/>
                <a:cs typeface="Calibri" panose="020F0502020204030204" pitchFamily="34" charset="0"/>
              </a:rPr>
              <a:t>es</a:t>
            </a:r>
            <a:r>
              <a:rPr lang="en-US" altLang="LID4096" sz="2000" dirty="0">
                <a:latin typeface="Calibri" panose="020F0502020204030204" pitchFamily="34" charset="0"/>
                <a:ea typeface="Calibri" panose="020F0502020204030204" pitchFamily="34" charset="0"/>
                <a:cs typeface="Calibri" panose="020F0502020204030204" pitchFamily="34" charset="0"/>
              </a:rPr>
              <a:t>.</a:t>
            </a:r>
          </a:p>
          <a:p>
            <a:pPr lvl="1">
              <a:buFont typeface="Wingdings" panose="05000000000000000000" pitchFamily="2" charset="2"/>
              <a:buChar char="ü"/>
            </a:pPr>
            <a:r>
              <a:rPr lang="LID4096" altLang="LID4096" sz="2000" dirty="0">
                <a:latin typeface="Calibri" panose="020F0502020204030204" pitchFamily="34" charset="0"/>
                <a:ea typeface="Calibri" panose="020F0502020204030204" pitchFamily="34" charset="0"/>
                <a:cs typeface="Calibri" panose="020F0502020204030204" pitchFamily="34" charset="0"/>
              </a:rPr>
              <a:t>Asynchronous on-chain verification</a:t>
            </a:r>
            <a:r>
              <a:rPr lang="en-US" altLang="LID4096" sz="2000" dirty="0">
                <a:latin typeface="Calibri" panose="020F0502020204030204" pitchFamily="34" charset="0"/>
                <a:ea typeface="Calibri" panose="020F0502020204030204" pitchFamily="34" charset="0"/>
                <a:cs typeface="Calibri" panose="020F0502020204030204" pitchFamily="34" charset="0"/>
              </a:rPr>
              <a:t>.</a:t>
            </a:r>
            <a:r>
              <a:rPr lang="LID4096" altLang="LID4096" sz="2000" dirty="0">
                <a:latin typeface="Calibri" panose="020F0502020204030204" pitchFamily="34" charset="0"/>
                <a:ea typeface="Calibri" panose="020F0502020204030204" pitchFamily="34" charset="0"/>
                <a:cs typeface="Calibri" panose="020F0502020204030204" pitchFamily="34" charset="0"/>
              </a:rPr>
              <a:t> </a:t>
            </a:r>
            <a:endParaRPr lang="en-US" altLang="LID4096" sz="2000" dirty="0">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ü"/>
            </a:pPr>
            <a:r>
              <a:rPr lang="LID4096" altLang="LID4096" sz="2000" dirty="0">
                <a:latin typeface="Calibri" panose="020F0502020204030204" pitchFamily="34" charset="0"/>
                <a:ea typeface="Calibri" panose="020F0502020204030204" pitchFamily="34" charset="0"/>
                <a:cs typeface="Calibri" panose="020F0502020204030204" pitchFamily="34" charset="0"/>
              </a:rPr>
              <a:t>Alignment with the trust assumptions of modern blockchain systems</a:t>
            </a:r>
            <a:r>
              <a:rPr lang="en-US" altLang="LID4096" sz="2000" dirty="0">
                <a:latin typeface="Calibri" panose="020F0502020204030204" pitchFamily="34" charset="0"/>
                <a:ea typeface="Calibri" panose="020F0502020204030204" pitchFamily="34" charset="0"/>
                <a:cs typeface="Calibri" panose="020F0502020204030204" pitchFamily="34" charset="0"/>
              </a:rPr>
              <a:t>.</a:t>
            </a:r>
            <a:r>
              <a:rPr lang="LID4096" altLang="LID4096" sz="2000" dirty="0">
                <a:latin typeface="Calibri" panose="020F0502020204030204" pitchFamily="34" charset="0"/>
                <a:ea typeface="Calibri" panose="020F0502020204030204" pitchFamily="34" charset="0"/>
                <a:cs typeface="Calibri" panose="020F0502020204030204" pitchFamily="34" charset="0"/>
              </a:rPr>
              <a:t> </a:t>
            </a:r>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200" dirty="0">
                <a:latin typeface="Calibri" panose="020F0502020204030204" pitchFamily="34" charset="0"/>
                <a:ea typeface="Calibri" panose="020F0502020204030204" pitchFamily="34" charset="0"/>
                <a:cs typeface="Calibri" panose="020F0502020204030204" pitchFamily="34" charset="0"/>
              </a:rPr>
              <a:t>Evaluation results:</a:t>
            </a:r>
          </a:p>
          <a:p>
            <a:pPr lvl="1">
              <a:buFont typeface="Wingdings" panose="05000000000000000000" pitchFamily="2" charset="2"/>
              <a:buChar char="ü"/>
            </a:pPr>
            <a:r>
              <a:rPr lang="en-US" sz="2000" dirty="0">
                <a:latin typeface="Calibri" panose="020F0502020204030204" pitchFamily="34" charset="0"/>
                <a:ea typeface="Calibri" panose="020F0502020204030204" pitchFamily="34" charset="0"/>
                <a:cs typeface="Calibri" panose="020F0502020204030204" pitchFamily="34" charset="0"/>
              </a:rPr>
              <a:t>negligible latency (</a:t>
            </a:r>
            <a:r>
              <a:rPr lang="el-GR" sz="2000" dirty="0">
                <a:latin typeface="Calibri" panose="020F0502020204030204" pitchFamily="34" charset="0"/>
                <a:ea typeface="Calibri" panose="020F0502020204030204" pitchFamily="34" charset="0"/>
                <a:cs typeface="Calibri" panose="020F0502020204030204" pitchFamily="34" charset="0"/>
              </a:rPr>
              <a:t>μ</a:t>
            </a:r>
            <a:r>
              <a:rPr lang="en-US" sz="2000" dirty="0">
                <a:latin typeface="Calibri" panose="020F0502020204030204" pitchFamily="34" charset="0"/>
                <a:ea typeface="Calibri" panose="020F0502020204030204" pitchFamily="34" charset="0"/>
                <a:cs typeface="Calibri" panose="020F0502020204030204" pitchFamily="34" charset="0"/>
              </a:rPr>
              <a:t>s). </a:t>
            </a:r>
          </a:p>
          <a:p>
            <a:pPr lvl="1">
              <a:buFont typeface="Wingdings" panose="05000000000000000000" pitchFamily="2" charset="2"/>
              <a:buChar char="ü"/>
            </a:pPr>
            <a:r>
              <a:rPr lang="en-US" sz="2000" dirty="0">
                <a:latin typeface="Calibri" panose="020F0502020204030204" pitchFamily="34" charset="0"/>
                <a:ea typeface="Calibri" panose="020F0502020204030204" pitchFamily="34" charset="0"/>
                <a:cs typeface="Calibri" panose="020F0502020204030204" pitchFamily="34" charset="0"/>
              </a:rPr>
              <a:t>&gt;1M packets/sec per core.</a:t>
            </a:r>
          </a:p>
          <a:p>
            <a:endParaRPr lang="en-US" dirty="0"/>
          </a:p>
          <a:p>
            <a:endParaRPr lang="en-US" dirty="0"/>
          </a:p>
        </p:txBody>
      </p:sp>
    </p:spTree>
    <p:extLst>
      <p:ext uri="{BB962C8B-B14F-4D97-AF65-F5344CB8AC3E}">
        <p14:creationId xmlns:p14="http://schemas.microsoft.com/office/powerpoint/2010/main" val="4189309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71FA8B-F117-6DD8-61FD-5AFCA1D844B8}"/>
              </a:ext>
            </a:extLst>
          </p:cNvPr>
          <p:cNvSpPr>
            <a:spLocks noGrp="1"/>
          </p:cNvSpPr>
          <p:nvPr>
            <p:ph type="ctrTitle"/>
          </p:nvPr>
        </p:nvSpPr>
        <p:spPr/>
        <p:txBody>
          <a:bodyPr>
            <a:normAutofit/>
          </a:bodyPr>
          <a:lstStyle/>
          <a:p>
            <a:r>
              <a:rPr lang="en-US" sz="3600" b="1" dirty="0">
                <a:latin typeface="Calibri"/>
                <a:ea typeface="Calibri"/>
                <a:cs typeface="Calibri"/>
              </a:rPr>
              <a:t>Thank you for your attention​!</a:t>
            </a:r>
          </a:p>
        </p:txBody>
      </p:sp>
      <p:sp>
        <p:nvSpPr>
          <p:cNvPr id="6" name="Subtitle 5">
            <a:extLst>
              <a:ext uri="{FF2B5EF4-FFF2-40B4-BE49-F238E27FC236}">
                <a16:creationId xmlns:a16="http://schemas.microsoft.com/office/drawing/2014/main" id="{3EEF9BB9-694C-051D-2DF9-3BC21D7B1E96}"/>
              </a:ext>
            </a:extLst>
          </p:cNvPr>
          <p:cNvSpPr>
            <a:spLocks noGrp="1"/>
          </p:cNvSpPr>
          <p:nvPr>
            <p:ph type="subTitle" idx="1"/>
          </p:nvPr>
        </p:nvSpPr>
        <p:spPr/>
        <p:txBody>
          <a:bodyPr>
            <a:normAutofit/>
          </a:bodyPr>
          <a:lstStyle/>
          <a:p>
            <a:r>
              <a:rPr lang="pt-BR" dirty="0"/>
              <a:t>Elham Ehsani, ETH Zurich, NetSec​</a:t>
            </a:r>
          </a:p>
          <a:p>
            <a:r>
              <a:rPr lang="pt-BR" dirty="0">
                <a:solidFill>
                  <a:schemeClr val="tx2">
                    <a:lumMod val="75000"/>
                    <a:lumOff val="25000"/>
                  </a:schemeClr>
                </a:solidFill>
              </a:rPr>
              <a:t>eehsani@ethz.ch</a:t>
            </a:r>
            <a:r>
              <a:rPr lang="pt-BR" dirty="0"/>
              <a:t>​</a:t>
            </a:r>
            <a:endParaRPr lang="en-US" dirty="0"/>
          </a:p>
        </p:txBody>
      </p:sp>
    </p:spTree>
    <p:extLst>
      <p:ext uri="{BB962C8B-B14F-4D97-AF65-F5344CB8AC3E}">
        <p14:creationId xmlns:p14="http://schemas.microsoft.com/office/powerpoint/2010/main" val="272083971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1780954672714]">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13"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4BCD7F4-BE8E-4121-9016-BACD7ADDF2B4}">
  <we:reference id="wa200010001" version="1.0.0.1" store="en-US" storeType="OMEX"/>
  <we:alternateReferences>
    <we:reference id="WA200010001" version="1.0.0.1" store="WA200010001" storeType="OMEX"/>
  </we:alternateReferences>
  <we:properties>
    <we:property name="claude.fileId" value="&quot;3a8ab979-b4bd-43dd-9022-9766d1a1872f&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8B99206B7DC69543AE34BCFBD34E33AE" ma:contentTypeVersion="16" ma:contentTypeDescription="Ein neues Dokument erstellen." ma:contentTypeScope="" ma:versionID="020bf26f3737e860ea4063c7b024b1fb">
  <xsd:schema xmlns:xsd="http://www.w3.org/2001/XMLSchema" xmlns:xs="http://www.w3.org/2001/XMLSchema" xmlns:p="http://schemas.microsoft.com/office/2006/metadata/properties" xmlns:ns3="9df43d4f-f25a-4c61-bbc2-7515b39020c0" xmlns:ns4="1a792051-33bb-4257-84eb-cd172666df1b" targetNamespace="http://schemas.microsoft.com/office/2006/metadata/properties" ma:root="true" ma:fieldsID="b5bb0d40d7dbb498364cf6caa9022d60" ns3:_="" ns4:_="">
    <xsd:import namespace="9df43d4f-f25a-4c61-bbc2-7515b39020c0"/>
    <xsd:import namespace="1a792051-33bb-4257-84eb-cd172666df1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element ref="ns4:SharedWithUsers" minOccurs="0"/>
                <xsd:element ref="ns4:SharedWithDetails" minOccurs="0"/>
                <xsd:element ref="ns4:SharingHintHash" minOccurs="0"/>
                <xsd:element ref="ns3:_activity" minOccurs="0"/>
                <xsd:element ref="ns3:MediaServiceObjectDetectorVersions" minOccurs="0"/>
                <xsd:element ref="ns3:MediaServiceSearchProperties"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f43d4f-f25a-4c61-bbc2-7515b39020c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SystemTags" ma:index="22" nillable="true" ma:displayName="MediaServiceSystemTags" ma:hidden="true" ma:internalName="MediaServiceSystemTag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a792051-33bb-4257-84eb-cd172666df1b" elementFormDefault="qualified">
    <xsd:import namespace="http://schemas.microsoft.com/office/2006/documentManagement/types"/>
    <xsd:import namespace="http://schemas.microsoft.com/office/infopath/2007/PartnerControls"/>
    <xsd:element name="SharedWithUsers" ma:index="16"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Freigegeben für - Details" ma:internalName="SharedWithDetails" ma:readOnly="true">
      <xsd:simpleType>
        <xsd:restriction base="dms:Note">
          <xsd:maxLength value="255"/>
        </xsd:restriction>
      </xsd:simpleType>
    </xsd:element>
    <xsd:element name="SharingHintHash" ma:index="18" nillable="true" ma:displayName="Freigabehinweis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df43d4f-f25a-4c61-bbc2-7515b39020c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2AE255-149B-4B9E-8851-EB96044F4B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f43d4f-f25a-4c61-bbc2-7515b39020c0"/>
    <ds:schemaRef ds:uri="1a792051-33bb-4257-84eb-cd172666df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3A5CE94-D87D-4544-B31C-1D55E8162D6F}">
  <ds:schemaRefs>
    <ds:schemaRef ds:uri="http://schemas.microsoft.com/office/2006/metadata/properties"/>
    <ds:schemaRef ds:uri="http://www.w3.org/XML/1998/namespace"/>
    <ds:schemaRef ds:uri="http://purl.org/dc/elements/1.1/"/>
    <ds:schemaRef ds:uri="http://schemas.microsoft.com/office/2006/documentManagement/types"/>
    <ds:schemaRef ds:uri="http://purl.org/dc/dcmitype/"/>
    <ds:schemaRef ds:uri="http://schemas.microsoft.com/office/infopath/2007/PartnerControls"/>
    <ds:schemaRef ds:uri="http://purl.org/dc/terms/"/>
    <ds:schemaRef ds:uri="http://schemas.openxmlformats.org/package/2006/metadata/core-properties"/>
    <ds:schemaRef ds:uri="1a792051-33bb-4257-84eb-cd172666df1b"/>
    <ds:schemaRef ds:uri="9df43d4f-f25a-4c61-bbc2-7515b39020c0"/>
  </ds:schemaRefs>
</ds:datastoreItem>
</file>

<file path=customXml/itemProps3.xml><?xml version="1.0" encoding="utf-8"?>
<ds:datastoreItem xmlns:ds="http://schemas.openxmlformats.org/officeDocument/2006/customXml" ds:itemID="{874B8428-576C-4EF5-8CA5-E2B79F3655B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2324</TotalTime>
  <Words>2169</Words>
  <Application>Microsoft Office PowerPoint</Application>
  <PresentationFormat>Widescreen</PresentationFormat>
  <Paragraphs>241</Paragraphs>
  <Slides>24</Slides>
  <Notes>23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24</vt:i4>
      </vt:variant>
    </vt:vector>
  </HeadingPairs>
  <TitlesOfParts>
    <vt:vector size="30" baseType="lpstr">
      <vt:lpstr>Aptos</vt:lpstr>
      <vt:lpstr>Arial</vt:lpstr>
      <vt:lpstr>Calibri</vt:lpstr>
      <vt:lpstr>Wingdings</vt:lpstr>
      <vt:lpstr>1_Office Theme</vt:lpstr>
      <vt:lpstr>Office Theme [1780954672714]</vt:lpstr>
      <vt:lpstr>Scalable Network-Driven Proof of Notification for Blockchain Systems</vt:lpstr>
      <vt:lpstr>Motivation: Blockchain Notification Ecosystem</vt:lpstr>
      <vt:lpstr>Motivation: use case</vt:lpstr>
      <vt:lpstr>Design Goals</vt:lpstr>
      <vt:lpstr>Key Insight: Network as the witness</vt:lpstr>
      <vt:lpstr>Key Building Blocks</vt:lpstr>
      <vt:lpstr>PowerPoint Presentation</vt:lpstr>
      <vt:lpstr>TESLA: Efficient Broadcast Authentication</vt:lpstr>
      <vt:lpstr>Protocol Flow</vt:lpstr>
      <vt:lpstr>Protocol Flow</vt:lpstr>
      <vt:lpstr>Protocol Flow</vt:lpstr>
      <vt:lpstr>Protocol Flow</vt:lpstr>
      <vt:lpstr>Protocol Flow</vt:lpstr>
      <vt:lpstr>Protocol Flow</vt:lpstr>
      <vt:lpstr>Protocol Flow</vt:lpstr>
      <vt:lpstr>PowerPoint Presentation</vt:lpstr>
      <vt:lpstr>Protocol Flow</vt:lpstr>
      <vt:lpstr>Protocol Flow</vt:lpstr>
      <vt:lpstr>Protocol Flow</vt:lpstr>
      <vt:lpstr>PowerPoint Presentation</vt:lpstr>
      <vt:lpstr>PowerPoint Presentation</vt:lpstr>
      <vt:lpstr>Evaluation: Smart Contract</vt:lpstr>
      <vt:lpstr>Conclusion</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Ehsani Moghadam  Elham</dc:creator>
  <cp:lastModifiedBy>Ehsani Moghadam  Elham</cp:lastModifiedBy>
  <cp:revision>11</cp:revision>
  <dcterms:created xsi:type="dcterms:W3CDTF">2026-06-08T09:28:57Z</dcterms:created>
  <dcterms:modified xsi:type="dcterms:W3CDTF">2026-06-18T09:14:59Z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0x0101008B99206B7DC69543AE34BCFBD34E33AE</vt:lpwstr>
  </property>
</Properties>
</file>